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5143500" cy="9144000"/>
  <p:embeddedFontLst>
    <p:embeddedFont>
      <p:font typeface="Inter"/>
      <p:regular r:id="rId24"/>
      <p:bold r:id="rId25"/>
      <p:italic r:id="rId26"/>
      <p:boldItalic r:id="rId27"/>
    </p:embeddedFont>
    <p:embeddedFont>
      <p:font typeface="Roboto Mon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jmYjzfita+2YrAYv9oja8FUMTl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Inter-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nter-italic.fntdata"/><Relationship Id="rId25" Type="http://schemas.openxmlformats.org/officeDocument/2006/relationships/font" Target="fonts/Inter-bold.fntdata"/><Relationship Id="rId28" Type="http://schemas.openxmlformats.org/officeDocument/2006/relationships/font" Target="fonts/RobotoMono-regular.fntdata"/><Relationship Id="rId27" Type="http://schemas.openxmlformats.org/officeDocument/2006/relationships/font" Target="fonts/Inter-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Mono-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everyone. Today, I'm excited to share the progress on my internship project: securing ECU communication using post-quantum cryptography. This project addresses a critical, emerging threat to automotive security. We're moving beyond theoretical discussions to real-time implementation on STM32 microcontrollers. This work is vital for the future of connected vehicles.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project brief initially explored simulating noisy quantum channels, but we quickly pivoted to a more pressing engineering challenge. We decided to focus on Post-Quantum Cryptography, or PQC, because it's the practical answer to the quantum threat for embedded systems. This means real CAN-FD communication, using NIST-standardized algorithms, with the ultimate goal of demonstrating a secure over-the-air firmware update. This shift ensures our work directly addresses current industry needs, moving from abstract simulation to tangible, secure solutions. We're building a demonstrator that will be directly applicable to ACTIA's product lines. Now, let's look at how we'll cover this journey today.</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a quick overview of what we'll cover today. We'll start by establishing the urgent threat posed by quantum computing. Then, we'll differentiate between quantum and post-quantum cryptography, explaining why PQC is our focus. We'll also dive into the specific PQC algorithms we've chosen and share our initial benchmark results on the STM32H7. Finally, I'll outline the next steps and the full project roadmap. This structure will provide a clear understanding of the problem, our solution, and the path forward. Let's begin by understanding the quantum threat itself.</a:t>
            </a:r>
            <a:endParaRPr/>
          </a:p>
        </p:txBody>
      </p:sp>
      <p:sp>
        <p:nvSpPr>
          <p:cNvPr id="55" name="Google Shape;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core message here is simple: today's encryption methods are fundamentally vulnerable to quantum computers. Our current security, like RSA and ECDSA, relies on mathematical problems that take classical computers billions of years to solve. However, quantum computers, with algorithms like Shor's, can break these in mere hours. Even symmetric keys, like AES-128, see their security cut in half by Grover's algorithm. This isn't a distant problem; a quantum computer with about 4,000 logical qubits could break RSA-2048 in just a few hours. This means our current cryptographic backbone is at risk. So, when does this become a real concern for us?</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60f894a74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960f894a74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g3960f894a74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timeline shows this threat is not theoretical; it's imminent. While IBM's current quantum computers are still in the research stage, error-corrected qubits are expected to emerge by 2027. By 2030, major security agencies like the NSA anticipate the risk window for sensitive systems will begin. Crucially for us, vehicles sold today will still be on the roads in 2035 and beyond, directly in this risk window. This is compounded by the 'Harvest Now, Decrypt Later' attack, where adversaries are already collecting encrypted data, waiting for quantum computers to decrypt it. The threat is here now, not in some distant future. This urgency drives our focus on practical solutions.</a:t>
            </a:r>
            <a:endParaRPr/>
          </a:p>
        </p:txBody>
      </p:sp>
      <p:sp>
        <p:nvSpPr>
          <p:cNvPr id="143" name="Google Shape;14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 we established the urgency of the quantum threat, we now look at the two main responses: Quantum Key Distribution and Post-Quantum Cryptography. QKD relies on quantum physics for security, using photons to share keys, but it is primarily a lab-based solution. PQC, on the other hand, uses complex mathematical problems that even quantum computers cannot solve efficiently. This allows it to run on classical hardware, like our STM32 microcontrollers. PQC is standardized by NIST and is ready for immediate deployment, making it the practical choice for embedded automotive systems. Let's dive deeper into how QKD works to understand its limitations.</a:t>
            </a:r>
            <a:endParaRPr/>
          </a:p>
        </p:txBody>
      </p:sp>
      <p:sp>
        <p:nvSpPr>
          <p:cNvPr id="168" name="Google Shape;16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fully appreciate why PQC is our focus, it helps to understand the elegance of QKD, specifically the BB84 protocol. Alice encodes bits as photon polarizations, using random bases. Bob then measures these photons, also choosing random bases. They then publicly compare their chosen bases, keeping only the bits where their bases matched. The brilliance here is that any attempt by an eavesdropper to measure the photons will disturb their quantum state, introducing detectable errors. This guarantees security through the laws of physics. However, this impressive theoretical security comes with significant practical challenges, especially for automotive applications.</a:t>
            </a:r>
            <a:endParaRPr/>
          </a:p>
        </p:txBody>
      </p:sp>
      <p:sp>
        <p:nvSpPr>
          <p:cNvPr id="204" name="Google Shape;20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While BB84 is brilliant, it is fundamentally incompatible with the automotive environment. First, QKD requires dedicated fiber optic or line-of-sight channels; our ECUs communicate over electrical CAN bus. Second, current QKD systems have distance limitations, and while ECUs are close, V2X or backend communication would require impractical quantum repeaters. Third, the hardware for QKD involves single-photon emitters and cryogenic components, which simply do not fit into an ECU. Finally, QKD key generation is slow, taking seconds to minutes, which violates the hard real-time constraints of automotive systems. These physical and economic barriers make QKD impossible for in-vehicle use. This is why Post-Quantum Cryptography is the only viable path forward.</a:t>
            </a:r>
            <a:endParaRPr/>
          </a:p>
        </p:txBody>
      </p:sp>
      <p:sp>
        <p:nvSpPr>
          <p:cNvPr id="258" name="Google Shape;25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Post-Quantum Cryptography, or PQC, offers the practical solution we need. It relies on mathematical problems so complex that even quantum computers cannot solve them efficiently. These algorithms run on standard classical hardware, like the STM32 microcontrollers we are using. NIST has recently completed its standardization process for several PQC algorithms, which fall into three main families. Lattice-based algorithms, like ML-KEM and ML-DSA, are based on the Learning With Errors problem. Hash-based algorithms, such as SPHINCS+, leverage one-way hash functions. And code-based algorithms, like HQC, use error-correcting codes. The NIST standardization means these algorithms are rigorously vetted and ready for deployment. We've selected specific algorithms from these families for this project.</a:t>
            </a:r>
            <a:endParaRPr/>
          </a:p>
        </p:txBody>
      </p:sp>
      <p:sp>
        <p:nvSpPr>
          <p:cNvPr id="292" name="Google Shape;29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this project, we've selected three NIST-standardized algorithms: ML-KEM, ML-DSA, and Falcon. ML-KEM, formerly Kyber, is our choice for key exchange. It's the fastest Key Encapsulation Mechanism in the NIST portfolio, offering compact keys and ciphertext, which is ideal for establishing session keys over CAN-FD. For digital signatures, we're using ML-DSA, formerly Dilithium, and Falcon. ML-DSA provides fast signing and verification with a good balance of signature size and performance. Falcon, on the other hand, stands out for its extremely small signatures and incredibly fast verification times, which is critical for applications like OTA firmware updates where the backend signs once, and the ECU verifies quickly. These selections provide a robust and efficient cryptographic suite for our secure communication prototype.</a:t>
            </a:r>
            <a:endParaRPr/>
          </a:p>
        </p:txBody>
      </p:sp>
      <p:sp>
        <p:nvSpPr>
          <p:cNvPr id="320" name="Google Shape;32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We've selected our algorithms, and now we're seeing the first concrete results from our benchmarks on the STM32H7. The key takeaway here is that the STM32H7 is performing exceptionally well, even exceeding published results from more specialized automotive MCUs. Our initial ML-KEM benchmarks show that the STM32H7, running at 280 MHz with just cache optimization, is faster than the AURIX TC397 at 300 MHz. For example, ML-KEM-768 key generation is 3.12 milliseconds on our setup, compared to 5.1 milliseconds in the IAV paper. This is a significant performance advantage, and it means we can achieve real-time PQC on a cost-effective platform. We're running with standard -O3 optimization and the PQCleanAutomotive library, proving the STM32H7's capability. This strong performance sets us up for the next phase of deep optimization.</a:t>
            </a:r>
            <a:endParaRPr/>
          </a:p>
        </p:txBody>
      </p:sp>
      <p:sp>
        <p:nvSpPr>
          <p:cNvPr id="381" name="Google Shape;38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960f894a74_1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g3960f894a74_1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g3960f894a74_1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960f894a74_1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g3960f894a74_1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g3960f894a74_1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960f894a74_1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g3960f894a74_1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g3960f894a74_1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Building on these promising initial benchmarks, our next phase focuses on deep algorithm theory and optimization. This isn't just about running code; it's about understanding the mathematical underpinnings to extract maximum performance. In Week 1, we'll dive into ML-KEM's polynomial ring mathematics and specifically target the Number Theoretic Transform, which accounts for 70-80% of the runtime. We'll also implement ITCM/DTCM memory placement, expecting a 2-3x speedup. Then, in Week 2, we'll tackle ML-DSA and Falcon, comparing their lattice structures and Falcon's unique FFT-based approach. We'll also analyze how signature size impacts CAN-FD frame counts. This detailed theoretical work will directly inform our optimization strategy, leading us to a complete benchmark matrix and final algorithm selection.</a:t>
            </a:r>
            <a:endParaRPr/>
          </a:p>
        </p:txBody>
      </p:sp>
      <p:sp>
        <p:nvSpPr>
          <p:cNvPr id="513" name="Google Shape;51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detailed optimization work fits into the larger project roadmap, providing a clear path from research to a deployable solution. We're currently in Phase 1, focused on benchmarking and optimization, which will culminate in a comprehensive benchmark report. Following this, Phase 2 will involve implementing the communication protocols, specifically CAN-FD between the STM32H7 and STM32G4, including ISO-TP fragmentation for larger PQC messages. Phase 3 is where we integrate PQC into a secure OTA firmware update application, using ML-KEM for key exchange and Falcon for signatures. Finally, Phase 4 will bring it all together with a TouchGFX GUI and the final thesis documentation. This structured approach ensures we deliver a robust and practical PQC solution for automotive ECUs.</a:t>
            </a:r>
            <a:endParaRPr/>
          </a:p>
        </p:txBody>
      </p:sp>
      <p:sp>
        <p:nvSpPr>
          <p:cNvPr id="557" name="Google Shape;55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summary, this project addresses a critical and urgent threat: quantum computers will break today's encryption, putting automotive systems at risk. Vehicles sold today will be on the road for 10-15 years, directly in the quantum risk window, and 'Harvest Now, Decrypt Later' attacks are already happening. Post-Quantum Cryptography is the only practical answer for embedded automotive systems. QKD is simply not feasible for CAN-bus connected ECUs due to its physical and cost limitations. Our initial benchmarks on the STM32H7 demonstrate its surprising performance, outperforming even dedicated automotive MCUs in published literature. This means we can achieve real-time PQC for critical functions like OTA updates on a standard, cost-effective platform. Our next milestone is to complete the optimization study and produce a detailed benchmark report, which will guide our final algorithm selection for the OTA application layer.</a:t>
            </a:r>
            <a:endParaRPr/>
          </a:p>
        </p:txBody>
      </p:sp>
      <p:sp>
        <p:nvSpPr>
          <p:cNvPr id="613" name="Google Shape;61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for your time and attention. I hope this presentation has clarified the urgency of the quantum threat and the practical steps we're taking to address it with PQC on STM32. I'm confident that our approach provides a robust and forward-looking solution for secure automotive communication. I'm happy to answer any questions you might have about the project, the algorithms, or our benchmark results.</a:t>
            </a:r>
            <a:endParaRPr/>
          </a:p>
        </p:txBody>
      </p:sp>
      <p:sp>
        <p:nvSpPr>
          <p:cNvPr id="640" name="Google Shape;64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6.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1" Type="http://schemas.openxmlformats.org/officeDocument/2006/relationships/image" Target="../media/image73.png"/><Relationship Id="rId10" Type="http://schemas.openxmlformats.org/officeDocument/2006/relationships/image" Target="../media/image11.png"/><Relationship Id="rId13" Type="http://schemas.openxmlformats.org/officeDocument/2006/relationships/image" Target="../media/image14.png"/><Relationship Id="rId12"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5.png"/><Relationship Id="rId4" Type="http://schemas.openxmlformats.org/officeDocument/2006/relationships/image" Target="../media/image2.png"/><Relationship Id="rId9"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41.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8.jpg"/><Relationship Id="rId4" Type="http://schemas.openxmlformats.org/officeDocument/2006/relationships/image" Target="../media/image6.png"/><Relationship Id="rId9"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3.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8.jp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2.png"/><Relationship Id="rId8" Type="http://schemas.openxmlformats.org/officeDocument/2006/relationships/image" Target="../media/image6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9.jpg"/><Relationship Id="rId4" Type="http://schemas.openxmlformats.org/officeDocument/2006/relationships/image" Target="../media/image24.png"/><Relationship Id="rId5" Type="http://schemas.openxmlformats.org/officeDocument/2006/relationships/image" Target="../media/image4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4.png"/><Relationship Id="rId4" Type="http://schemas.openxmlformats.org/officeDocument/2006/relationships/image" Target="../media/image25.png"/><Relationship Id="rId9" Type="http://schemas.openxmlformats.org/officeDocument/2006/relationships/image" Target="../media/image33.png"/><Relationship Id="rId5" Type="http://schemas.openxmlformats.org/officeDocument/2006/relationships/image" Target="../media/image29.png"/><Relationship Id="rId6" Type="http://schemas.openxmlformats.org/officeDocument/2006/relationships/image" Target="../media/image26.png"/><Relationship Id="rId7" Type="http://schemas.openxmlformats.org/officeDocument/2006/relationships/image" Target="../media/image34.png"/><Relationship Id="rId8"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5.jp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9.png"/><Relationship Id="rId7" Type="http://schemas.openxmlformats.org/officeDocument/2006/relationships/image" Target="../media/image64.png"/><Relationship Id="rId8"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0.jp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7.png"/><Relationship Id="rId8"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0.jpg"/><Relationship Id="rId4" Type="http://schemas.openxmlformats.org/officeDocument/2006/relationships/image" Target="../media/image50.png"/><Relationship Id="rId5" Type="http://schemas.openxmlformats.org/officeDocument/2006/relationships/image" Target="../media/image48.png"/><Relationship Id="rId6" Type="http://schemas.openxmlformats.org/officeDocument/2006/relationships/image" Target="../media/image5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6.jpg"/><Relationship Id="rId4" Type="http://schemas.openxmlformats.org/officeDocument/2006/relationships/image" Target="../media/image51.png"/><Relationship Id="rId5" Type="http://schemas.openxmlformats.org/officeDocument/2006/relationships/image" Target="../media/image53.png"/><Relationship Id="rId6" Type="http://schemas.openxmlformats.org/officeDocument/2006/relationships/image" Target="../media/image5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8.jpg"/><Relationship Id="rId4" Type="http://schemas.openxmlformats.org/officeDocument/2006/relationships/image" Target="../media/image67.png"/><Relationship Id="rId5" Type="http://schemas.openxmlformats.org/officeDocument/2006/relationships/image" Target="../media/image54.png"/><Relationship Id="rId6" Type="http://schemas.openxmlformats.org/officeDocument/2006/relationships/image" Target="../media/image5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5.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3.png"/><Relationship Id="rId4" Type="http://schemas.openxmlformats.org/officeDocument/2006/relationships/image" Target="../media/image6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1.png"/></Relationships>
</file>

<file path=ppt/slides/_rels/slide16.xml.rels><?xml version="1.0" encoding="UTF-8" standalone="yes"?><Relationships xmlns="http://schemas.openxmlformats.org/package/2006/relationships"><Relationship Id="rId11" Type="http://schemas.openxmlformats.org/officeDocument/2006/relationships/image" Target="../media/image83.png"/><Relationship Id="rId10" Type="http://schemas.openxmlformats.org/officeDocument/2006/relationships/image" Target="../media/image82.png"/><Relationship Id="rId13" Type="http://schemas.openxmlformats.org/officeDocument/2006/relationships/image" Target="../media/image88.png"/><Relationship Id="rId12" Type="http://schemas.openxmlformats.org/officeDocument/2006/relationships/image" Target="../media/image86.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2.jpg"/><Relationship Id="rId4" Type="http://schemas.openxmlformats.org/officeDocument/2006/relationships/image" Target="../media/image120.png"/><Relationship Id="rId9" Type="http://schemas.openxmlformats.org/officeDocument/2006/relationships/image" Target="../media/image80.png"/><Relationship Id="rId15" Type="http://schemas.openxmlformats.org/officeDocument/2006/relationships/image" Target="../media/image84.png"/><Relationship Id="rId14" Type="http://schemas.openxmlformats.org/officeDocument/2006/relationships/image" Target="../media/image112.png"/><Relationship Id="rId16" Type="http://schemas.openxmlformats.org/officeDocument/2006/relationships/image" Target="../media/image46.png"/><Relationship Id="rId5" Type="http://schemas.openxmlformats.org/officeDocument/2006/relationships/image" Target="../media/image77.png"/><Relationship Id="rId6" Type="http://schemas.openxmlformats.org/officeDocument/2006/relationships/image" Target="../media/image79.png"/><Relationship Id="rId7" Type="http://schemas.openxmlformats.org/officeDocument/2006/relationships/image" Target="../media/image76.png"/><Relationship Id="rId8" Type="http://schemas.openxmlformats.org/officeDocument/2006/relationships/image" Target="../media/image78.png"/></Relationships>
</file>

<file path=ppt/slides/_rels/slide17.xml.rels><?xml version="1.0" encoding="UTF-8" standalone="yes"?><Relationships xmlns="http://schemas.openxmlformats.org/package/2006/relationships"><Relationship Id="rId11" Type="http://schemas.openxmlformats.org/officeDocument/2006/relationships/image" Target="../media/image98.png"/><Relationship Id="rId10" Type="http://schemas.openxmlformats.org/officeDocument/2006/relationships/image" Target="../media/image97.png"/><Relationship Id="rId13" Type="http://schemas.openxmlformats.org/officeDocument/2006/relationships/image" Target="../media/image119.png"/><Relationship Id="rId12" Type="http://schemas.openxmlformats.org/officeDocument/2006/relationships/image" Target="../media/image99.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0.jpg"/><Relationship Id="rId4" Type="http://schemas.openxmlformats.org/officeDocument/2006/relationships/image" Target="../media/image87.png"/><Relationship Id="rId9" Type="http://schemas.openxmlformats.org/officeDocument/2006/relationships/image" Target="../media/image116.png"/><Relationship Id="rId15" Type="http://schemas.openxmlformats.org/officeDocument/2006/relationships/image" Target="../media/image104.png"/><Relationship Id="rId14" Type="http://schemas.openxmlformats.org/officeDocument/2006/relationships/image" Target="../media/image102.png"/><Relationship Id="rId5" Type="http://schemas.openxmlformats.org/officeDocument/2006/relationships/image" Target="../media/image95.png"/><Relationship Id="rId6" Type="http://schemas.openxmlformats.org/officeDocument/2006/relationships/image" Target="../media/image91.png"/><Relationship Id="rId7" Type="http://schemas.openxmlformats.org/officeDocument/2006/relationships/image" Target="../media/image89.png"/><Relationship Id="rId8" Type="http://schemas.openxmlformats.org/officeDocument/2006/relationships/image" Target="../media/image9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0.jpg"/><Relationship Id="rId4" Type="http://schemas.openxmlformats.org/officeDocument/2006/relationships/image" Target="../media/image109.png"/><Relationship Id="rId5" Type="http://schemas.openxmlformats.org/officeDocument/2006/relationships/image" Target="../media/image110.png"/><Relationship Id="rId6" Type="http://schemas.openxmlformats.org/officeDocument/2006/relationships/image" Target="../media/image113.png"/><Relationship Id="rId7"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6.png"/><Relationship Id="rId4" Type="http://schemas.openxmlformats.org/officeDocument/2006/relationships/image" Target="../media/image115.png"/><Relationship Id="rId5" Type="http://schemas.openxmlformats.org/officeDocument/2006/relationships/image" Target="../media/image117.png"/><Relationship Id="rId6" Type="http://schemas.openxmlformats.org/officeDocument/2006/relationships/image" Target="../media/image114.png"/><Relationship Id="rId7" Type="http://schemas.openxmlformats.org/officeDocument/2006/relationships/image" Target="../media/image1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6F4EA"/>
        </a:solidFill>
      </p:bgPr>
    </p:bg>
    <p:spTree>
      <p:nvGrpSpPr>
        <p:cNvPr id="15" name="Shape 15"/>
        <p:cNvGrpSpPr/>
        <p:nvPr/>
      </p:nvGrpSpPr>
      <p:grpSpPr>
        <a:xfrm>
          <a:off x="0" y="0"/>
          <a:ext cx="0" cy="0"/>
          <a:chOff x="0" y="0"/>
          <a:chExt cx="0" cy="0"/>
        </a:xfrm>
      </p:grpSpPr>
      <p:sp>
        <p:nvSpPr>
          <p:cNvPr id="16" name="Google Shape;16;p1"/>
          <p:cNvSpPr/>
          <p:nvPr/>
        </p:nvSpPr>
        <p:spPr>
          <a:xfrm>
            <a:off x="382299" y="1170125"/>
            <a:ext cx="4960800" cy="822900"/>
          </a:xfrm>
          <a:prstGeom prst="rect">
            <a:avLst/>
          </a:prstGeom>
          <a:noFill/>
          <a:ln cap="flat" cmpd="sng" w="9525">
            <a:solidFill>
              <a:srgbClr val="E6F4EA"/>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31362"/>
              </a:lnSpc>
              <a:spcBef>
                <a:spcPts val="0"/>
              </a:spcBef>
              <a:spcAft>
                <a:spcPts val="0"/>
              </a:spcAft>
              <a:buClr>
                <a:srgbClr val="FFFFFF"/>
              </a:buClr>
              <a:buSzPts val="2436"/>
              <a:buFont typeface="Calibri"/>
              <a:buNone/>
            </a:pPr>
            <a:r>
              <a:rPr b="1" i="0" lang="en-US" sz="2436" u="none" cap="none" strike="noStrike">
                <a:solidFill>
                  <a:schemeClr val="dk1"/>
                </a:solidFill>
                <a:latin typeface="Calibri"/>
                <a:ea typeface="Calibri"/>
                <a:cs typeface="Calibri"/>
                <a:sym typeface="Calibri"/>
              </a:rPr>
              <a:t>Secure ECU Communication Using</a:t>
            </a:r>
            <a:br>
              <a:rPr b="1" i="0" lang="en-US" sz="2436" u="none" cap="none" strike="noStrike">
                <a:solidFill>
                  <a:schemeClr val="dk1"/>
                </a:solidFill>
                <a:latin typeface="Calibri"/>
                <a:ea typeface="Calibri"/>
                <a:cs typeface="Calibri"/>
                <a:sym typeface="Calibri"/>
              </a:rPr>
            </a:br>
            <a:r>
              <a:rPr b="1" i="0" lang="en-US" sz="2436" u="none" cap="none" strike="noStrike">
                <a:solidFill>
                  <a:schemeClr val="dk1"/>
                </a:solidFill>
                <a:latin typeface="Calibri"/>
                <a:ea typeface="Calibri"/>
                <a:cs typeface="Calibri"/>
                <a:sym typeface="Calibri"/>
              </a:rPr>
              <a:t>Post-Quantum Cryptography</a:t>
            </a:r>
            <a:endParaRPr b="0" i="0" sz="2436" u="none" cap="none" strike="noStrike">
              <a:solidFill>
                <a:schemeClr val="dk1"/>
              </a:solidFill>
              <a:latin typeface="Calibri"/>
              <a:ea typeface="Calibri"/>
              <a:cs typeface="Calibri"/>
              <a:sym typeface="Calibri"/>
            </a:endParaRPr>
          </a:p>
        </p:txBody>
      </p:sp>
      <p:sp>
        <p:nvSpPr>
          <p:cNvPr id="17" name="Google Shape;17;p1"/>
          <p:cNvSpPr/>
          <p:nvPr/>
        </p:nvSpPr>
        <p:spPr>
          <a:xfrm>
            <a:off x="382294" y="2443067"/>
            <a:ext cx="6479400" cy="279900"/>
          </a:xfrm>
          <a:prstGeom prst="rect">
            <a:avLst/>
          </a:prstGeom>
          <a:noFill/>
          <a:ln>
            <a:noFill/>
          </a:ln>
        </p:spPr>
        <p:txBody>
          <a:bodyPr anchorCtr="0" anchor="t" bIns="0" lIns="0" spcFirstLastPara="1" rIns="0" wrap="square" tIns="0">
            <a:spAutoFit/>
          </a:bodyPr>
          <a:lstStyle/>
          <a:p>
            <a:pPr indent="0" lvl="0" marL="0" marR="0" rtl="0" algn="l">
              <a:lnSpc>
                <a:spcPct val="148048"/>
              </a:lnSpc>
              <a:spcBef>
                <a:spcPts val="0"/>
              </a:spcBef>
              <a:spcAft>
                <a:spcPts val="0"/>
              </a:spcAft>
              <a:buClr>
                <a:srgbClr val="B5D333"/>
              </a:buClr>
              <a:buSzPts val="1486"/>
              <a:buFont typeface="Calibri"/>
              <a:buNone/>
            </a:pPr>
            <a:r>
              <a:rPr b="0" i="0" lang="en-US" sz="1486" u="none" cap="none" strike="noStrike">
                <a:solidFill>
                  <a:srgbClr val="00A651"/>
                </a:solidFill>
                <a:latin typeface="Calibri"/>
                <a:ea typeface="Calibri"/>
                <a:cs typeface="Calibri"/>
                <a:sym typeface="Calibri"/>
              </a:rPr>
              <a:t>From the Quantum Threat to Real-Time Implementation on STM32</a:t>
            </a:r>
            <a:endParaRPr b="0" i="0" sz="1486" u="none" cap="none" strike="noStrike">
              <a:solidFill>
                <a:srgbClr val="00A651"/>
              </a:solidFill>
              <a:latin typeface="Calibri"/>
              <a:ea typeface="Calibri"/>
              <a:cs typeface="Calibri"/>
              <a:sym typeface="Calibri"/>
            </a:endParaRPr>
          </a:p>
        </p:txBody>
      </p:sp>
      <p:sp>
        <p:nvSpPr>
          <p:cNvPr id="18" name="Google Shape;18;p1"/>
          <p:cNvSpPr/>
          <p:nvPr/>
        </p:nvSpPr>
        <p:spPr>
          <a:xfrm>
            <a:off x="382307" y="3064808"/>
            <a:ext cx="6479400" cy="1947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Clr>
                <a:srgbClr val="E0E0E0"/>
              </a:buClr>
              <a:buSzPts val="987"/>
              <a:buFont typeface="Calibri"/>
              <a:buNone/>
            </a:pPr>
            <a:r>
              <a:rPr b="1" i="0" lang="en-US" sz="987" u="none" cap="none" strike="noStrike">
                <a:solidFill>
                  <a:srgbClr val="666666"/>
                </a:solidFill>
                <a:latin typeface="Calibri"/>
                <a:ea typeface="Calibri"/>
                <a:cs typeface="Calibri"/>
                <a:sym typeface="Calibri"/>
              </a:rPr>
              <a:t>Author:</a:t>
            </a:r>
            <a:r>
              <a:rPr b="0" i="0" lang="en-US" sz="1050" u="none" cap="none" strike="noStrike">
                <a:solidFill>
                  <a:srgbClr val="666666"/>
                </a:solidFill>
                <a:latin typeface="Calibri"/>
                <a:ea typeface="Calibri"/>
                <a:cs typeface="Calibri"/>
                <a:sym typeface="Calibri"/>
              </a:rPr>
              <a:t> </a:t>
            </a:r>
            <a:r>
              <a:rPr lang="en-US" sz="1050">
                <a:solidFill>
                  <a:srgbClr val="666666"/>
                </a:solidFill>
                <a:latin typeface="Calibri"/>
                <a:ea typeface="Calibri"/>
                <a:cs typeface="Calibri"/>
                <a:sym typeface="Calibri"/>
              </a:rPr>
              <a:t>Ghaith Ben Brahim </a:t>
            </a:r>
            <a:endParaRPr b="0" i="0" sz="987" u="none" cap="none" strike="noStrike">
              <a:solidFill>
                <a:srgbClr val="666666"/>
              </a:solidFill>
              <a:latin typeface="Calibri"/>
              <a:ea typeface="Calibri"/>
              <a:cs typeface="Calibri"/>
              <a:sym typeface="Calibri"/>
            </a:endParaRPr>
          </a:p>
        </p:txBody>
      </p:sp>
      <p:sp>
        <p:nvSpPr>
          <p:cNvPr id="19" name="Google Shape;19;p1"/>
          <p:cNvSpPr/>
          <p:nvPr/>
        </p:nvSpPr>
        <p:spPr>
          <a:xfrm>
            <a:off x="382307" y="3402363"/>
            <a:ext cx="6479400" cy="1947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Clr>
                <a:srgbClr val="E0E0E0"/>
              </a:buClr>
              <a:buSzPts val="987"/>
              <a:buFont typeface="Calibri"/>
              <a:buNone/>
            </a:pPr>
            <a:r>
              <a:rPr b="1" i="0" lang="en-US" sz="987" u="none" cap="none" strike="noStrike">
                <a:solidFill>
                  <a:srgbClr val="666666"/>
                </a:solidFill>
                <a:latin typeface="Calibri"/>
                <a:ea typeface="Calibri"/>
                <a:cs typeface="Calibri"/>
                <a:sym typeface="Calibri"/>
              </a:rPr>
              <a:t>Context:</a:t>
            </a:r>
            <a:r>
              <a:rPr b="0" i="0" lang="en-US" sz="1050" u="none" cap="none" strike="noStrike">
                <a:solidFill>
                  <a:srgbClr val="666666"/>
                </a:solidFill>
                <a:latin typeface="Calibri"/>
                <a:ea typeface="Calibri"/>
                <a:cs typeface="Calibri"/>
                <a:sym typeface="Calibri"/>
              </a:rPr>
              <a:t> Engineering End-of-Study Internship</a:t>
            </a:r>
            <a:endParaRPr b="0" i="0" sz="987" u="none" cap="none" strike="noStrike">
              <a:solidFill>
                <a:srgbClr val="666666"/>
              </a:solidFill>
              <a:latin typeface="Calibri"/>
              <a:ea typeface="Calibri"/>
              <a:cs typeface="Calibri"/>
              <a:sym typeface="Calibri"/>
            </a:endParaRPr>
          </a:p>
        </p:txBody>
      </p:sp>
      <p:sp>
        <p:nvSpPr>
          <p:cNvPr id="20" name="Google Shape;20;p1"/>
          <p:cNvSpPr/>
          <p:nvPr/>
        </p:nvSpPr>
        <p:spPr>
          <a:xfrm>
            <a:off x="382307" y="3739943"/>
            <a:ext cx="6479400" cy="1947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Clr>
                <a:srgbClr val="E0E0E0"/>
              </a:buClr>
              <a:buSzPts val="987"/>
              <a:buFont typeface="Calibri"/>
              <a:buNone/>
            </a:pPr>
            <a:r>
              <a:rPr b="1" i="0" lang="en-US" sz="987" cap="none" strike="noStrike">
                <a:solidFill>
                  <a:srgbClr val="666666"/>
                </a:solidFill>
                <a:latin typeface="Calibri"/>
                <a:ea typeface="Calibri"/>
                <a:cs typeface="Calibri"/>
                <a:sym typeface="Calibri"/>
              </a:rPr>
              <a:t>Date:</a:t>
            </a:r>
            <a:r>
              <a:rPr b="0" i="0" lang="en-US" sz="1050" cap="none" strike="noStrike">
                <a:solidFill>
                  <a:srgbClr val="666666"/>
                </a:solidFill>
                <a:latin typeface="Calibri"/>
                <a:ea typeface="Calibri"/>
                <a:cs typeface="Calibri"/>
                <a:sym typeface="Calibri"/>
              </a:rPr>
              <a:t> February 2026</a:t>
            </a:r>
            <a:endParaRPr b="0" i="0" sz="987" cap="none" strike="noStrike">
              <a:solidFill>
                <a:srgbClr val="666666"/>
              </a:solidFill>
              <a:latin typeface="Calibri"/>
              <a:ea typeface="Calibri"/>
              <a:cs typeface="Calibri"/>
              <a:sym typeface="Calibri"/>
            </a:endParaRPr>
          </a:p>
        </p:txBody>
      </p:sp>
      <p:sp>
        <p:nvSpPr>
          <p:cNvPr id="21" name="Google Shape;21;p1"/>
          <p:cNvSpPr/>
          <p:nvPr/>
        </p:nvSpPr>
        <p:spPr>
          <a:xfrm>
            <a:off x="7678387" y="4480917"/>
            <a:ext cx="1036988" cy="376833"/>
          </a:xfrm>
          <a:prstGeom prst="rect">
            <a:avLst/>
          </a:prstGeom>
          <a:solidFill>
            <a:srgbClr val="FFFFFF">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7821262" y="4552355"/>
            <a:ext cx="508350"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4D5259"/>
              </a:buClr>
              <a:buSzPts val="1193"/>
              <a:buFont typeface="Calibri"/>
              <a:buNone/>
            </a:pPr>
            <a:r>
              <a:rPr b="1" i="0" lang="en-US" sz="1193" u="none" cap="none" strike="noStrike">
                <a:solidFill>
                  <a:srgbClr val="4D5259"/>
                </a:solidFill>
                <a:latin typeface="Calibri"/>
                <a:ea typeface="Calibri"/>
                <a:cs typeface="Calibri"/>
                <a:sym typeface="Calibri"/>
              </a:rPr>
              <a:t>ACTIA</a:t>
            </a:r>
            <a:endParaRPr b="0" i="0" sz="1193" u="none" cap="none" strike="noStrike">
              <a:solidFill>
                <a:schemeClr val="dk1"/>
              </a:solidFill>
              <a:latin typeface="Calibri"/>
              <a:ea typeface="Calibri"/>
              <a:cs typeface="Calibri"/>
              <a:sym typeface="Calibri"/>
            </a:endParaRPr>
          </a:p>
        </p:txBody>
      </p:sp>
      <p:pic>
        <p:nvPicPr>
          <p:cNvPr descr="preencoded.png" id="23" name="Google Shape;23;p1"/>
          <p:cNvPicPr preferRelativeResize="0"/>
          <p:nvPr/>
        </p:nvPicPr>
        <p:blipFill rotWithShape="1">
          <a:blip r:embed="rId3">
            <a:alphaModFix/>
          </a:blip>
          <a:srcRect b="0" l="0" r="0" t="0"/>
          <a:stretch/>
        </p:blipFill>
        <p:spPr>
          <a:xfrm>
            <a:off x="8401050" y="4583609"/>
            <a:ext cx="171450" cy="171450"/>
          </a:xfrm>
          <a:prstGeom prst="rect">
            <a:avLst/>
          </a:prstGeom>
          <a:noFill/>
          <a:ln>
            <a:noFill/>
          </a:ln>
        </p:spPr>
      </p:pic>
      <p:pic>
        <p:nvPicPr>
          <p:cNvPr id="24" name="Google Shape;24;p1"/>
          <p:cNvPicPr preferRelativeResize="0"/>
          <p:nvPr/>
        </p:nvPicPr>
        <p:blipFill>
          <a:blip r:embed="rId4">
            <a:alphaModFix/>
          </a:blip>
          <a:stretch>
            <a:fillRect/>
          </a:stretch>
        </p:blipFill>
        <p:spPr>
          <a:xfrm>
            <a:off x="5020427" y="0"/>
            <a:ext cx="4180425" cy="51208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pic>
        <p:nvPicPr>
          <p:cNvPr descr="preencoded.png" id="30" name="Google Shape;30;p2"/>
          <p:cNvPicPr preferRelativeResize="0"/>
          <p:nvPr/>
        </p:nvPicPr>
        <p:blipFill rotWithShape="1">
          <a:blip r:embed="rId3">
            <a:alphaModFix/>
          </a:blip>
          <a:srcRect b="0" l="0" r="0" t="0"/>
          <a:stretch/>
        </p:blipFill>
        <p:spPr>
          <a:xfrm>
            <a:off x="0" y="-7144"/>
            <a:ext cx="9144000" cy="5143500"/>
          </a:xfrm>
          <a:prstGeom prst="rect">
            <a:avLst/>
          </a:prstGeom>
          <a:noFill/>
          <a:ln>
            <a:noFill/>
          </a:ln>
        </p:spPr>
      </p:pic>
      <p:sp>
        <p:nvSpPr>
          <p:cNvPr id="31" name="Google Shape;31;p2"/>
          <p:cNvSpPr/>
          <p:nvPr/>
        </p:nvSpPr>
        <p:spPr>
          <a:xfrm>
            <a:off x="821531" y="431750"/>
            <a:ext cx="1664438"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Project Brief</a:t>
            </a:r>
            <a:endParaRPr b="0" i="0" sz="1602" u="none" cap="none" strike="noStrike">
              <a:solidFill>
                <a:schemeClr val="dk1"/>
              </a:solidFill>
              <a:latin typeface="Calibri"/>
              <a:ea typeface="Calibri"/>
              <a:cs typeface="Calibri"/>
              <a:sym typeface="Calibri"/>
            </a:endParaRPr>
          </a:p>
        </p:txBody>
      </p:sp>
      <p:pic>
        <p:nvPicPr>
          <p:cNvPr descr="preencoded.png" id="32" name="Google Shape;32;p2"/>
          <p:cNvPicPr preferRelativeResize="0"/>
          <p:nvPr/>
        </p:nvPicPr>
        <p:blipFill rotWithShape="1">
          <a:blip r:embed="rId4">
            <a:alphaModFix/>
          </a:blip>
          <a:srcRect b="0" l="0" r="0" t="0"/>
          <a:stretch/>
        </p:blipFill>
        <p:spPr>
          <a:xfrm>
            <a:off x="576858" y="1478170"/>
            <a:ext cx="160734" cy="214313"/>
          </a:xfrm>
          <a:prstGeom prst="rect">
            <a:avLst/>
          </a:prstGeom>
          <a:noFill/>
          <a:ln>
            <a:noFill/>
          </a:ln>
        </p:spPr>
      </p:pic>
      <p:sp>
        <p:nvSpPr>
          <p:cNvPr id="33" name="Google Shape;33;p2"/>
          <p:cNvSpPr/>
          <p:nvPr/>
        </p:nvSpPr>
        <p:spPr>
          <a:xfrm>
            <a:off x="1028700" y="1468348"/>
            <a:ext cx="1384632"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4D5259"/>
              </a:buClr>
              <a:buSzPts val="1193"/>
              <a:buFont typeface="Calibri"/>
              <a:buNone/>
            </a:pPr>
            <a:r>
              <a:rPr b="1" i="0" lang="en-US" sz="1193" u="none" cap="none" strike="noStrike">
                <a:solidFill>
                  <a:srgbClr val="4D5259"/>
                </a:solidFill>
                <a:latin typeface="Calibri"/>
                <a:ea typeface="Calibri"/>
                <a:cs typeface="Calibri"/>
                <a:sym typeface="Calibri"/>
              </a:rPr>
              <a:t>What Was Given</a:t>
            </a:r>
            <a:endParaRPr b="0" i="0" sz="1193" u="none" cap="none" strike="noStrike">
              <a:solidFill>
                <a:schemeClr val="dk1"/>
              </a:solidFill>
              <a:latin typeface="Calibri"/>
              <a:ea typeface="Calibri"/>
              <a:cs typeface="Calibri"/>
              <a:sym typeface="Calibri"/>
            </a:endParaRPr>
          </a:p>
        </p:txBody>
      </p:sp>
      <p:pic>
        <p:nvPicPr>
          <p:cNvPr descr="preencoded.png" id="34" name="Google Shape;34;p2"/>
          <p:cNvPicPr preferRelativeResize="0"/>
          <p:nvPr/>
        </p:nvPicPr>
        <p:blipFill rotWithShape="1">
          <a:blip r:embed="rId5">
            <a:alphaModFix/>
          </a:blip>
          <a:srcRect b="0" l="0" r="0" t="0"/>
          <a:stretch/>
        </p:blipFill>
        <p:spPr>
          <a:xfrm>
            <a:off x="428625" y="2094626"/>
            <a:ext cx="100013" cy="360034"/>
          </a:xfrm>
          <a:prstGeom prst="rect">
            <a:avLst/>
          </a:prstGeom>
          <a:noFill/>
          <a:ln>
            <a:noFill/>
          </a:ln>
        </p:spPr>
      </p:pic>
      <p:sp>
        <p:nvSpPr>
          <p:cNvPr id="35" name="Google Shape;35;p2"/>
          <p:cNvSpPr/>
          <p:nvPr/>
        </p:nvSpPr>
        <p:spPr>
          <a:xfrm>
            <a:off x="635794" y="2094626"/>
            <a:ext cx="3650456"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Implement UART and CAN communication between ECUs (STM32H7 and STM32G4)</a:t>
            </a:r>
            <a:endParaRPr b="0" i="0" sz="942" u="none" cap="none" strike="noStrike">
              <a:solidFill>
                <a:schemeClr val="dk1"/>
              </a:solidFill>
              <a:latin typeface="Calibri"/>
              <a:ea typeface="Calibri"/>
              <a:cs typeface="Calibri"/>
              <a:sym typeface="Calibri"/>
            </a:endParaRPr>
          </a:p>
        </p:txBody>
      </p:sp>
      <p:pic>
        <p:nvPicPr>
          <p:cNvPr descr="preencoded.png" id="36" name="Google Shape;36;p2"/>
          <p:cNvPicPr preferRelativeResize="0"/>
          <p:nvPr/>
        </p:nvPicPr>
        <p:blipFill rotWithShape="1">
          <a:blip r:embed="rId6">
            <a:alphaModFix/>
          </a:blip>
          <a:srcRect b="0" l="0" r="0" t="0"/>
          <a:stretch/>
        </p:blipFill>
        <p:spPr>
          <a:xfrm>
            <a:off x="428625" y="2561816"/>
            <a:ext cx="100013" cy="360034"/>
          </a:xfrm>
          <a:prstGeom prst="rect">
            <a:avLst/>
          </a:prstGeom>
          <a:noFill/>
          <a:ln>
            <a:noFill/>
          </a:ln>
        </p:spPr>
      </p:pic>
      <p:sp>
        <p:nvSpPr>
          <p:cNvPr id="37" name="Google Shape;37;p2"/>
          <p:cNvSpPr/>
          <p:nvPr/>
        </p:nvSpPr>
        <p:spPr>
          <a:xfrm>
            <a:off x="635794" y="2561816"/>
            <a:ext cx="3650456"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Simulate noisy transmission channels to mimic quantum errors</a:t>
            </a:r>
            <a:endParaRPr b="0" i="0" sz="942" u="none" cap="none" strike="noStrike">
              <a:solidFill>
                <a:schemeClr val="dk1"/>
              </a:solidFill>
              <a:latin typeface="Calibri"/>
              <a:ea typeface="Calibri"/>
              <a:cs typeface="Calibri"/>
              <a:sym typeface="Calibri"/>
            </a:endParaRPr>
          </a:p>
        </p:txBody>
      </p:sp>
      <p:pic>
        <p:nvPicPr>
          <p:cNvPr descr="preencoded.png" id="38" name="Google Shape;38;p2"/>
          <p:cNvPicPr preferRelativeResize="0"/>
          <p:nvPr/>
        </p:nvPicPr>
        <p:blipFill rotWithShape="1">
          <a:blip r:embed="rId7">
            <a:alphaModFix/>
          </a:blip>
          <a:srcRect b="0" l="0" r="0" t="0"/>
          <a:stretch/>
        </p:blipFill>
        <p:spPr>
          <a:xfrm>
            <a:off x="428625" y="3029006"/>
            <a:ext cx="100013" cy="180017"/>
          </a:xfrm>
          <a:prstGeom prst="rect">
            <a:avLst/>
          </a:prstGeom>
          <a:noFill/>
          <a:ln>
            <a:noFill/>
          </a:ln>
        </p:spPr>
      </p:pic>
      <p:sp>
        <p:nvSpPr>
          <p:cNvPr id="39" name="Google Shape;39;p2"/>
          <p:cNvSpPr/>
          <p:nvPr/>
        </p:nvSpPr>
        <p:spPr>
          <a:xfrm>
            <a:off x="635794" y="3029006"/>
            <a:ext cx="2396254"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Integrate STM32 cryptographic libraries</a:t>
            </a:r>
            <a:endParaRPr b="0" i="0" sz="942" u="none" cap="none" strike="noStrike">
              <a:solidFill>
                <a:schemeClr val="dk1"/>
              </a:solidFill>
              <a:latin typeface="Calibri"/>
              <a:ea typeface="Calibri"/>
              <a:cs typeface="Calibri"/>
              <a:sym typeface="Calibri"/>
            </a:endParaRPr>
          </a:p>
        </p:txBody>
      </p:sp>
      <p:pic>
        <p:nvPicPr>
          <p:cNvPr descr="preencoded.png" id="40" name="Google Shape;40;p2"/>
          <p:cNvPicPr preferRelativeResize="0"/>
          <p:nvPr/>
        </p:nvPicPr>
        <p:blipFill rotWithShape="1">
          <a:blip r:embed="rId8">
            <a:alphaModFix/>
          </a:blip>
          <a:srcRect b="0" l="0" r="0" t="0"/>
          <a:stretch/>
        </p:blipFill>
        <p:spPr>
          <a:xfrm>
            <a:off x="428625" y="3316179"/>
            <a:ext cx="100013" cy="180017"/>
          </a:xfrm>
          <a:prstGeom prst="rect">
            <a:avLst/>
          </a:prstGeom>
          <a:noFill/>
          <a:ln>
            <a:noFill/>
          </a:ln>
        </p:spPr>
      </p:pic>
      <p:sp>
        <p:nvSpPr>
          <p:cNvPr id="41" name="Google Shape;41;p2"/>
          <p:cNvSpPr/>
          <p:nvPr/>
        </p:nvSpPr>
        <p:spPr>
          <a:xfrm>
            <a:off x="635794" y="3316179"/>
            <a:ext cx="2980423"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Explore quantum-inspired secure communication</a:t>
            </a:r>
            <a:endParaRPr b="0" i="0" sz="942" u="none" cap="none" strike="noStrike">
              <a:solidFill>
                <a:schemeClr val="dk1"/>
              </a:solidFill>
              <a:latin typeface="Calibri"/>
              <a:ea typeface="Calibri"/>
              <a:cs typeface="Calibri"/>
              <a:sym typeface="Calibri"/>
            </a:endParaRPr>
          </a:p>
        </p:txBody>
      </p:sp>
      <p:pic>
        <p:nvPicPr>
          <p:cNvPr descr="preencoded.png" id="42" name="Google Shape;42;p2"/>
          <p:cNvPicPr preferRelativeResize="0"/>
          <p:nvPr/>
        </p:nvPicPr>
        <p:blipFill rotWithShape="1">
          <a:blip r:embed="rId9">
            <a:alphaModFix/>
          </a:blip>
          <a:srcRect b="0" l="0" r="0" t="0"/>
          <a:stretch/>
        </p:blipFill>
        <p:spPr>
          <a:xfrm>
            <a:off x="5005983" y="1478170"/>
            <a:ext cx="160734" cy="214313"/>
          </a:xfrm>
          <a:prstGeom prst="rect">
            <a:avLst/>
          </a:prstGeom>
          <a:noFill/>
          <a:ln>
            <a:noFill/>
          </a:ln>
        </p:spPr>
      </p:pic>
      <p:sp>
        <p:nvSpPr>
          <p:cNvPr id="43" name="Google Shape;43;p2"/>
          <p:cNvSpPr/>
          <p:nvPr/>
        </p:nvSpPr>
        <p:spPr>
          <a:xfrm>
            <a:off x="5457825" y="1468348"/>
            <a:ext cx="1583708"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4D5259"/>
              </a:buClr>
              <a:buSzPts val="1193"/>
              <a:buFont typeface="Calibri"/>
              <a:buNone/>
            </a:pPr>
            <a:r>
              <a:rPr b="1" i="0" lang="en-US" sz="1193" u="none" cap="none" strike="noStrike">
                <a:solidFill>
                  <a:srgbClr val="4D5259"/>
                </a:solidFill>
                <a:latin typeface="Calibri"/>
                <a:ea typeface="Calibri"/>
                <a:cs typeface="Calibri"/>
                <a:sym typeface="Calibri"/>
              </a:rPr>
              <a:t>What Was Decided</a:t>
            </a:r>
            <a:endParaRPr b="0" i="0" sz="1193" u="none" cap="none" strike="noStrike">
              <a:solidFill>
                <a:schemeClr val="dk1"/>
              </a:solidFill>
              <a:latin typeface="Calibri"/>
              <a:ea typeface="Calibri"/>
              <a:cs typeface="Calibri"/>
              <a:sym typeface="Calibri"/>
            </a:endParaRPr>
          </a:p>
        </p:txBody>
      </p:sp>
      <p:pic>
        <p:nvPicPr>
          <p:cNvPr descr="preencoded.png" id="44" name="Google Shape;44;p2"/>
          <p:cNvPicPr preferRelativeResize="0"/>
          <p:nvPr/>
        </p:nvPicPr>
        <p:blipFill rotWithShape="1">
          <a:blip r:embed="rId10">
            <a:alphaModFix/>
          </a:blip>
          <a:srcRect b="0" l="0" r="0" t="0"/>
          <a:stretch/>
        </p:blipFill>
        <p:spPr>
          <a:xfrm>
            <a:off x="4857750" y="2094626"/>
            <a:ext cx="100013" cy="360034"/>
          </a:xfrm>
          <a:prstGeom prst="rect">
            <a:avLst/>
          </a:prstGeom>
          <a:noFill/>
          <a:ln>
            <a:noFill/>
          </a:ln>
        </p:spPr>
      </p:pic>
      <p:sp>
        <p:nvSpPr>
          <p:cNvPr id="45" name="Google Shape;45;p2"/>
          <p:cNvSpPr/>
          <p:nvPr/>
        </p:nvSpPr>
        <p:spPr>
          <a:xfrm>
            <a:off x="5064919" y="2094626"/>
            <a:ext cx="3650456"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885"/>
              <a:buFont typeface="Calibri"/>
              <a:buNone/>
            </a:pPr>
            <a:r>
              <a:rPr b="1" i="0" lang="en-US" sz="885" u="none" cap="none" strike="noStrike">
                <a:solidFill>
                  <a:srgbClr val="5A6069"/>
                </a:solidFill>
                <a:latin typeface="Calibri"/>
                <a:ea typeface="Calibri"/>
                <a:cs typeface="Calibri"/>
                <a:sym typeface="Calibri"/>
              </a:rPr>
              <a:t>Focus on Post-Quantum Cryptography (PQC)</a:t>
            </a:r>
            <a:r>
              <a:rPr b="0" i="0" lang="en-US" sz="942" u="none" cap="none" strike="noStrike">
                <a:solidFill>
                  <a:srgbClr val="5A6069"/>
                </a:solidFill>
                <a:latin typeface="Calibri"/>
                <a:ea typeface="Calibri"/>
                <a:cs typeface="Calibri"/>
                <a:sym typeface="Calibri"/>
              </a:rPr>
              <a:t> — the practical answer to the quantum threat</a:t>
            </a:r>
            <a:endParaRPr b="0" i="0" sz="885" u="none" cap="none" strike="noStrike">
              <a:solidFill>
                <a:schemeClr val="dk1"/>
              </a:solidFill>
              <a:latin typeface="Calibri"/>
              <a:ea typeface="Calibri"/>
              <a:cs typeface="Calibri"/>
              <a:sym typeface="Calibri"/>
            </a:endParaRPr>
          </a:p>
        </p:txBody>
      </p:sp>
      <p:pic>
        <p:nvPicPr>
          <p:cNvPr descr="preencoded.png" id="46" name="Google Shape;46;p2"/>
          <p:cNvPicPr preferRelativeResize="0"/>
          <p:nvPr/>
        </p:nvPicPr>
        <p:blipFill rotWithShape="1">
          <a:blip r:embed="rId11">
            <a:alphaModFix/>
          </a:blip>
          <a:srcRect b="0" l="0" r="0" t="0"/>
          <a:stretch/>
        </p:blipFill>
        <p:spPr>
          <a:xfrm>
            <a:off x="4857750" y="2561816"/>
            <a:ext cx="100013" cy="180017"/>
          </a:xfrm>
          <a:prstGeom prst="rect">
            <a:avLst/>
          </a:prstGeom>
          <a:noFill/>
          <a:ln>
            <a:noFill/>
          </a:ln>
        </p:spPr>
      </p:pic>
      <p:sp>
        <p:nvSpPr>
          <p:cNvPr id="47" name="Google Shape;47;p2"/>
          <p:cNvSpPr/>
          <p:nvPr/>
        </p:nvSpPr>
        <p:spPr>
          <a:xfrm>
            <a:off x="5064919" y="2561816"/>
            <a:ext cx="2969093"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Real CAN-FD communication (not just simulation)</a:t>
            </a:r>
            <a:endParaRPr b="0" i="0" sz="942" u="none" cap="none" strike="noStrike">
              <a:solidFill>
                <a:schemeClr val="dk1"/>
              </a:solidFill>
              <a:latin typeface="Calibri"/>
              <a:ea typeface="Calibri"/>
              <a:cs typeface="Calibri"/>
              <a:sym typeface="Calibri"/>
            </a:endParaRPr>
          </a:p>
        </p:txBody>
      </p:sp>
      <p:pic>
        <p:nvPicPr>
          <p:cNvPr descr="preencoded.png" id="48" name="Google Shape;48;p2"/>
          <p:cNvPicPr preferRelativeResize="0"/>
          <p:nvPr/>
        </p:nvPicPr>
        <p:blipFill rotWithShape="1">
          <a:blip r:embed="rId12">
            <a:alphaModFix/>
          </a:blip>
          <a:srcRect b="0" l="0" r="0" t="0"/>
          <a:stretch/>
        </p:blipFill>
        <p:spPr>
          <a:xfrm>
            <a:off x="4857750" y="2848989"/>
            <a:ext cx="100013" cy="180017"/>
          </a:xfrm>
          <a:prstGeom prst="rect">
            <a:avLst/>
          </a:prstGeom>
          <a:noFill/>
          <a:ln>
            <a:noFill/>
          </a:ln>
        </p:spPr>
      </p:pic>
      <p:sp>
        <p:nvSpPr>
          <p:cNvPr id="49" name="Google Shape;49;p2"/>
          <p:cNvSpPr/>
          <p:nvPr/>
        </p:nvSpPr>
        <p:spPr>
          <a:xfrm>
            <a:off x="5064919" y="2848989"/>
            <a:ext cx="3416331"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NIST-standardized algorithms: ML-KEM, ML-DSA, FN-DSA</a:t>
            </a:r>
            <a:endParaRPr b="0" i="0" sz="942" u="none" cap="none" strike="noStrike">
              <a:solidFill>
                <a:schemeClr val="dk1"/>
              </a:solidFill>
              <a:latin typeface="Calibri"/>
              <a:ea typeface="Calibri"/>
              <a:cs typeface="Calibri"/>
              <a:sym typeface="Calibri"/>
            </a:endParaRPr>
          </a:p>
        </p:txBody>
      </p:sp>
      <p:pic>
        <p:nvPicPr>
          <p:cNvPr descr="preencoded.png" id="50" name="Google Shape;50;p2"/>
          <p:cNvPicPr preferRelativeResize="0"/>
          <p:nvPr/>
        </p:nvPicPr>
        <p:blipFill rotWithShape="1">
          <a:blip r:embed="rId13">
            <a:alphaModFix/>
          </a:blip>
          <a:srcRect b="0" l="0" r="0" t="0"/>
          <a:stretch/>
        </p:blipFill>
        <p:spPr>
          <a:xfrm>
            <a:off x="4857750" y="3136162"/>
            <a:ext cx="100013" cy="180017"/>
          </a:xfrm>
          <a:prstGeom prst="rect">
            <a:avLst/>
          </a:prstGeom>
          <a:noFill/>
          <a:ln>
            <a:noFill/>
          </a:ln>
        </p:spPr>
      </p:pic>
      <p:sp>
        <p:nvSpPr>
          <p:cNvPr id="51" name="Google Shape;51;p2"/>
          <p:cNvSpPr/>
          <p:nvPr/>
        </p:nvSpPr>
        <p:spPr>
          <a:xfrm>
            <a:off x="5064919" y="3136162"/>
            <a:ext cx="3188736" cy="180017"/>
          </a:xfrm>
          <a:prstGeom prst="rect">
            <a:avLst/>
          </a:prstGeom>
          <a:noFill/>
          <a:ln>
            <a:noFill/>
          </a:ln>
        </p:spPr>
        <p:txBody>
          <a:bodyPr anchorCtr="0" anchor="t" bIns="0" lIns="0" spcFirstLastPara="1" rIns="0" wrap="square" tIns="0">
            <a:spAutoFit/>
          </a:bodyPr>
          <a:lstStyle/>
          <a:p>
            <a:pPr indent="0" lvl="0" marL="0" marR="0" rtl="0" algn="l">
              <a:lnSpc>
                <a:spcPct val="148620"/>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End goal: </a:t>
            </a:r>
            <a:r>
              <a:rPr lang="en-US" sz="942">
                <a:solidFill>
                  <a:srgbClr val="5A6069"/>
                </a:solidFill>
                <a:latin typeface="Calibri"/>
                <a:ea typeface="Calibri"/>
                <a:cs typeface="Calibri"/>
                <a:sym typeface="Calibri"/>
              </a:rPr>
              <a:t>UDS 0x29 Authentication Flow</a:t>
            </a:r>
            <a:endParaRPr sz="942">
              <a:solidFill>
                <a:srgbClr val="5A6069"/>
              </a:solidFill>
              <a:latin typeface="Calibri"/>
              <a:ea typeface="Calibri"/>
              <a:cs typeface="Calibri"/>
              <a:sym typeface="Calibri"/>
            </a:endParaRPr>
          </a:p>
          <a:p>
            <a:pPr indent="0" lvl="0" marL="0" marR="0" rtl="0" algn="l">
              <a:lnSpc>
                <a:spcPct val="148619"/>
              </a:lnSpc>
              <a:spcBef>
                <a:spcPts val="0"/>
              </a:spcBef>
              <a:spcAft>
                <a:spcPts val="0"/>
              </a:spcAft>
              <a:buClr>
                <a:srgbClr val="5A6069"/>
              </a:buClr>
              <a:buSzPts val="942"/>
              <a:buFont typeface="Calibri"/>
              <a:buNone/>
            </a:pPr>
            <a:r>
              <a:t/>
            </a:r>
            <a:endParaRPr sz="942">
              <a:solidFill>
                <a:srgbClr val="5A6069"/>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pic>
        <p:nvPicPr>
          <p:cNvPr descr="preencoded.png" id="57" name="Google Shape;57;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8" name="Google Shape;58;p3"/>
          <p:cNvSpPr/>
          <p:nvPr/>
        </p:nvSpPr>
        <p:spPr>
          <a:xfrm>
            <a:off x="821531" y="438894"/>
            <a:ext cx="2788016"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Presentation Outline</a:t>
            </a:r>
            <a:endParaRPr b="0" i="0" sz="1602" u="none" cap="none" strike="noStrike">
              <a:solidFill>
                <a:schemeClr val="dk1"/>
              </a:solidFill>
              <a:latin typeface="Calibri"/>
              <a:ea typeface="Calibri"/>
              <a:cs typeface="Calibri"/>
              <a:sym typeface="Calibri"/>
            </a:endParaRPr>
          </a:p>
        </p:txBody>
      </p:sp>
      <p:sp>
        <p:nvSpPr>
          <p:cNvPr id="59" name="Google Shape;59;p3"/>
          <p:cNvSpPr/>
          <p:nvPr/>
        </p:nvSpPr>
        <p:spPr>
          <a:xfrm>
            <a:off x="428625" y="1340346"/>
            <a:ext cx="428625" cy="466130"/>
          </a:xfrm>
          <a:prstGeom prst="rect">
            <a:avLst/>
          </a:prstGeom>
          <a:noFill/>
          <a:ln>
            <a:noFill/>
          </a:ln>
        </p:spPr>
        <p:txBody>
          <a:bodyPr anchorCtr="0" anchor="t" bIns="0" lIns="0" spcFirstLastPara="1" rIns="0" wrap="square" tIns="0">
            <a:spAutoFit/>
          </a:bodyPr>
          <a:lstStyle/>
          <a:p>
            <a:pPr indent="0" lvl="0" marL="0" marR="0" rtl="0" algn="l">
              <a:lnSpc>
                <a:spcPct val="131362"/>
              </a:lnSpc>
              <a:spcBef>
                <a:spcPts val="0"/>
              </a:spcBef>
              <a:spcAft>
                <a:spcPts val="0"/>
              </a:spcAft>
              <a:buClr>
                <a:srgbClr val="00A651"/>
              </a:buClr>
              <a:buSzPts val="2436"/>
              <a:buFont typeface="Calibri"/>
              <a:buNone/>
            </a:pPr>
            <a:r>
              <a:rPr b="1" i="0" lang="en-US" sz="2436" u="none" cap="none" strike="noStrike">
                <a:solidFill>
                  <a:srgbClr val="00A651"/>
                </a:solidFill>
                <a:latin typeface="Calibri"/>
                <a:ea typeface="Calibri"/>
                <a:cs typeface="Calibri"/>
                <a:sym typeface="Calibri"/>
              </a:rPr>
              <a:t>01</a:t>
            </a:r>
            <a:endParaRPr b="0" i="0" sz="2436" u="none" cap="none" strike="noStrike">
              <a:solidFill>
                <a:schemeClr val="dk1"/>
              </a:solidFill>
              <a:latin typeface="Calibri"/>
              <a:ea typeface="Calibri"/>
              <a:cs typeface="Calibri"/>
              <a:sym typeface="Calibri"/>
            </a:endParaRPr>
          </a:p>
        </p:txBody>
      </p:sp>
      <p:sp>
        <p:nvSpPr>
          <p:cNvPr id="60" name="Google Shape;60;p3"/>
          <p:cNvSpPr/>
          <p:nvPr/>
        </p:nvSpPr>
        <p:spPr>
          <a:xfrm>
            <a:off x="1000125" y="1394817"/>
            <a:ext cx="357188" cy="35718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 name="Google Shape;61;p3"/>
          <p:cNvPicPr preferRelativeResize="0"/>
          <p:nvPr/>
        </p:nvPicPr>
        <p:blipFill rotWithShape="1">
          <a:blip r:embed="rId4">
            <a:alphaModFix/>
          </a:blip>
          <a:srcRect b="0" l="0" r="0" t="0"/>
          <a:stretch/>
        </p:blipFill>
        <p:spPr>
          <a:xfrm>
            <a:off x="1092994" y="1487686"/>
            <a:ext cx="171450" cy="171450"/>
          </a:xfrm>
          <a:prstGeom prst="rect">
            <a:avLst/>
          </a:prstGeom>
          <a:noFill/>
          <a:ln>
            <a:noFill/>
          </a:ln>
        </p:spPr>
      </p:pic>
      <p:sp>
        <p:nvSpPr>
          <p:cNvPr id="62" name="Google Shape;62;p3"/>
          <p:cNvSpPr/>
          <p:nvPr/>
        </p:nvSpPr>
        <p:spPr>
          <a:xfrm>
            <a:off x="1500188" y="1466255"/>
            <a:ext cx="2553919" cy="214313"/>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The Quantum Computing Threat</a:t>
            </a:r>
            <a:endParaRPr b="0" i="0" sz="1090" u="none" cap="none" strike="noStrike">
              <a:solidFill>
                <a:schemeClr val="dk1"/>
              </a:solidFill>
              <a:latin typeface="Calibri"/>
              <a:ea typeface="Calibri"/>
              <a:cs typeface="Calibri"/>
              <a:sym typeface="Calibri"/>
            </a:endParaRPr>
          </a:p>
        </p:txBody>
      </p:sp>
      <p:sp>
        <p:nvSpPr>
          <p:cNvPr id="63" name="Google Shape;63;p3"/>
          <p:cNvSpPr/>
          <p:nvPr/>
        </p:nvSpPr>
        <p:spPr>
          <a:xfrm>
            <a:off x="4643438" y="1340346"/>
            <a:ext cx="400301" cy="466130"/>
          </a:xfrm>
          <a:prstGeom prst="rect">
            <a:avLst/>
          </a:prstGeom>
          <a:noFill/>
          <a:ln>
            <a:noFill/>
          </a:ln>
        </p:spPr>
        <p:txBody>
          <a:bodyPr anchorCtr="0" anchor="t" bIns="0" lIns="0" spcFirstLastPara="1" rIns="0" wrap="square" tIns="0">
            <a:spAutoFit/>
          </a:bodyPr>
          <a:lstStyle/>
          <a:p>
            <a:pPr indent="0" lvl="0" marL="0" marR="0" rtl="0" algn="l">
              <a:lnSpc>
                <a:spcPct val="131362"/>
              </a:lnSpc>
              <a:spcBef>
                <a:spcPts val="0"/>
              </a:spcBef>
              <a:spcAft>
                <a:spcPts val="0"/>
              </a:spcAft>
              <a:buClr>
                <a:srgbClr val="00A651"/>
              </a:buClr>
              <a:buSzPts val="2436"/>
              <a:buFont typeface="Calibri"/>
              <a:buNone/>
            </a:pPr>
            <a:r>
              <a:rPr b="1" i="0" lang="en-US" sz="2436" u="none" cap="none" strike="noStrike">
                <a:solidFill>
                  <a:srgbClr val="00A651"/>
                </a:solidFill>
                <a:latin typeface="Calibri"/>
                <a:ea typeface="Calibri"/>
                <a:cs typeface="Calibri"/>
                <a:sym typeface="Calibri"/>
              </a:rPr>
              <a:t>02</a:t>
            </a:r>
            <a:endParaRPr b="0" i="0" sz="2436" u="none" cap="none" strike="noStrike">
              <a:solidFill>
                <a:schemeClr val="dk1"/>
              </a:solidFill>
              <a:latin typeface="Calibri"/>
              <a:ea typeface="Calibri"/>
              <a:cs typeface="Calibri"/>
              <a:sym typeface="Calibri"/>
            </a:endParaRPr>
          </a:p>
        </p:txBody>
      </p:sp>
      <p:sp>
        <p:nvSpPr>
          <p:cNvPr id="64" name="Google Shape;64;p3"/>
          <p:cNvSpPr/>
          <p:nvPr/>
        </p:nvSpPr>
        <p:spPr>
          <a:xfrm>
            <a:off x="5186614" y="1394817"/>
            <a:ext cx="333580" cy="35718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3"/>
          <p:cNvPicPr preferRelativeResize="0"/>
          <p:nvPr/>
        </p:nvPicPr>
        <p:blipFill rotWithShape="1">
          <a:blip r:embed="rId5">
            <a:alphaModFix/>
          </a:blip>
          <a:srcRect b="0" l="0" r="0" t="0"/>
          <a:stretch/>
        </p:blipFill>
        <p:spPr>
          <a:xfrm>
            <a:off x="5267678" y="1487686"/>
            <a:ext cx="171450" cy="171450"/>
          </a:xfrm>
          <a:prstGeom prst="rect">
            <a:avLst/>
          </a:prstGeom>
          <a:noFill/>
          <a:ln>
            <a:noFill/>
          </a:ln>
        </p:spPr>
      </p:pic>
      <p:sp>
        <p:nvSpPr>
          <p:cNvPr id="66" name="Google Shape;66;p3"/>
          <p:cNvSpPr/>
          <p:nvPr/>
        </p:nvSpPr>
        <p:spPr>
          <a:xfrm>
            <a:off x="5663068" y="1359098"/>
            <a:ext cx="3052335" cy="428625"/>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Quantum vs Post-Quantum Cryptography</a:t>
            </a:r>
            <a:endParaRPr b="0" i="0" sz="1090" u="none" cap="none" strike="noStrike">
              <a:solidFill>
                <a:schemeClr val="dk1"/>
              </a:solidFill>
              <a:latin typeface="Calibri"/>
              <a:ea typeface="Calibri"/>
              <a:cs typeface="Calibri"/>
              <a:sym typeface="Calibri"/>
            </a:endParaRPr>
          </a:p>
        </p:txBody>
      </p:sp>
      <p:sp>
        <p:nvSpPr>
          <p:cNvPr id="67" name="Google Shape;67;p3"/>
          <p:cNvSpPr/>
          <p:nvPr/>
        </p:nvSpPr>
        <p:spPr>
          <a:xfrm>
            <a:off x="428625" y="2042220"/>
            <a:ext cx="392292" cy="466130"/>
          </a:xfrm>
          <a:prstGeom prst="rect">
            <a:avLst/>
          </a:prstGeom>
          <a:noFill/>
          <a:ln>
            <a:noFill/>
          </a:ln>
        </p:spPr>
        <p:txBody>
          <a:bodyPr anchorCtr="0" anchor="t" bIns="0" lIns="0" spcFirstLastPara="1" rIns="0" wrap="square" tIns="0">
            <a:spAutoFit/>
          </a:bodyPr>
          <a:lstStyle/>
          <a:p>
            <a:pPr indent="0" lvl="0" marL="0" marR="0" rtl="0" algn="l">
              <a:lnSpc>
                <a:spcPct val="131362"/>
              </a:lnSpc>
              <a:spcBef>
                <a:spcPts val="0"/>
              </a:spcBef>
              <a:spcAft>
                <a:spcPts val="0"/>
              </a:spcAft>
              <a:buClr>
                <a:srgbClr val="00A651"/>
              </a:buClr>
              <a:buSzPts val="2436"/>
              <a:buFont typeface="Calibri"/>
              <a:buNone/>
            </a:pPr>
            <a:r>
              <a:rPr b="1" i="0" lang="en-US" sz="2436" u="none" cap="none" strike="noStrike">
                <a:solidFill>
                  <a:srgbClr val="00A651"/>
                </a:solidFill>
                <a:latin typeface="Calibri"/>
                <a:ea typeface="Calibri"/>
                <a:cs typeface="Calibri"/>
                <a:sym typeface="Calibri"/>
              </a:rPr>
              <a:t>03</a:t>
            </a:r>
            <a:endParaRPr b="0" i="0" sz="2436" u="none" cap="none" strike="noStrike">
              <a:solidFill>
                <a:schemeClr val="dk1"/>
              </a:solidFill>
              <a:latin typeface="Calibri"/>
              <a:ea typeface="Calibri"/>
              <a:cs typeface="Calibri"/>
              <a:sym typeface="Calibri"/>
            </a:endParaRPr>
          </a:p>
        </p:txBody>
      </p:sp>
      <p:sp>
        <p:nvSpPr>
          <p:cNvPr id="68" name="Google Shape;68;p3"/>
          <p:cNvSpPr/>
          <p:nvPr/>
        </p:nvSpPr>
        <p:spPr>
          <a:xfrm>
            <a:off x="963792" y="2096691"/>
            <a:ext cx="298252" cy="35718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3"/>
          <p:cNvPicPr preferRelativeResize="0"/>
          <p:nvPr/>
        </p:nvPicPr>
        <p:blipFill rotWithShape="1">
          <a:blip r:embed="rId6">
            <a:alphaModFix/>
          </a:blip>
          <a:srcRect b="0" l="0" r="0" t="0"/>
          <a:stretch/>
        </p:blipFill>
        <p:spPr>
          <a:xfrm>
            <a:off x="1027193" y="2189559"/>
            <a:ext cx="171450" cy="171450"/>
          </a:xfrm>
          <a:prstGeom prst="rect">
            <a:avLst/>
          </a:prstGeom>
          <a:noFill/>
          <a:ln>
            <a:noFill/>
          </a:ln>
        </p:spPr>
      </p:pic>
      <p:sp>
        <p:nvSpPr>
          <p:cNvPr id="70" name="Google Shape;70;p3"/>
          <p:cNvSpPr/>
          <p:nvPr/>
        </p:nvSpPr>
        <p:spPr>
          <a:xfrm>
            <a:off x="1404919" y="2060972"/>
            <a:ext cx="3095644" cy="428625"/>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Why QKD (BB84) Cannot Be Used in Automotive</a:t>
            </a:r>
            <a:endParaRPr b="0" i="0" sz="1090" u="none" cap="none" strike="noStrike">
              <a:solidFill>
                <a:schemeClr val="dk1"/>
              </a:solidFill>
              <a:latin typeface="Calibri"/>
              <a:ea typeface="Calibri"/>
              <a:cs typeface="Calibri"/>
              <a:sym typeface="Calibri"/>
            </a:endParaRPr>
          </a:p>
        </p:txBody>
      </p:sp>
      <p:sp>
        <p:nvSpPr>
          <p:cNvPr id="71" name="Google Shape;71;p3"/>
          <p:cNvSpPr/>
          <p:nvPr/>
        </p:nvSpPr>
        <p:spPr>
          <a:xfrm>
            <a:off x="4643438" y="2042220"/>
            <a:ext cx="428625" cy="466130"/>
          </a:xfrm>
          <a:prstGeom prst="rect">
            <a:avLst/>
          </a:prstGeom>
          <a:noFill/>
          <a:ln>
            <a:noFill/>
          </a:ln>
        </p:spPr>
        <p:txBody>
          <a:bodyPr anchorCtr="0" anchor="t" bIns="0" lIns="0" spcFirstLastPara="1" rIns="0" wrap="square" tIns="0">
            <a:spAutoFit/>
          </a:bodyPr>
          <a:lstStyle/>
          <a:p>
            <a:pPr indent="0" lvl="0" marL="0" marR="0" rtl="0" algn="l">
              <a:lnSpc>
                <a:spcPct val="131362"/>
              </a:lnSpc>
              <a:spcBef>
                <a:spcPts val="0"/>
              </a:spcBef>
              <a:spcAft>
                <a:spcPts val="0"/>
              </a:spcAft>
              <a:buClr>
                <a:srgbClr val="00A651"/>
              </a:buClr>
              <a:buSzPts val="2436"/>
              <a:buFont typeface="Calibri"/>
              <a:buNone/>
            </a:pPr>
            <a:r>
              <a:rPr b="1" i="0" lang="en-US" sz="2436" u="none" cap="none" strike="noStrike">
                <a:solidFill>
                  <a:srgbClr val="00A651"/>
                </a:solidFill>
                <a:latin typeface="Calibri"/>
                <a:ea typeface="Calibri"/>
                <a:cs typeface="Calibri"/>
                <a:sym typeface="Calibri"/>
              </a:rPr>
              <a:t>04</a:t>
            </a:r>
            <a:endParaRPr b="0" i="0" sz="2436" u="none" cap="none" strike="noStrike">
              <a:solidFill>
                <a:schemeClr val="dk1"/>
              </a:solidFill>
              <a:latin typeface="Calibri"/>
              <a:ea typeface="Calibri"/>
              <a:cs typeface="Calibri"/>
              <a:sym typeface="Calibri"/>
            </a:endParaRPr>
          </a:p>
        </p:txBody>
      </p:sp>
      <p:sp>
        <p:nvSpPr>
          <p:cNvPr id="72" name="Google Shape;72;p3"/>
          <p:cNvSpPr/>
          <p:nvPr/>
        </p:nvSpPr>
        <p:spPr>
          <a:xfrm>
            <a:off x="5214938" y="2096691"/>
            <a:ext cx="357188" cy="35718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 name="Google Shape;73;p3"/>
          <p:cNvPicPr preferRelativeResize="0"/>
          <p:nvPr/>
        </p:nvPicPr>
        <p:blipFill rotWithShape="1">
          <a:blip r:embed="rId7">
            <a:alphaModFix/>
          </a:blip>
          <a:srcRect b="0" l="0" r="0" t="0"/>
          <a:stretch/>
        </p:blipFill>
        <p:spPr>
          <a:xfrm>
            <a:off x="5307806" y="2189559"/>
            <a:ext cx="171450" cy="171450"/>
          </a:xfrm>
          <a:prstGeom prst="rect">
            <a:avLst/>
          </a:prstGeom>
          <a:noFill/>
          <a:ln>
            <a:noFill/>
          </a:ln>
        </p:spPr>
      </p:pic>
      <p:sp>
        <p:nvSpPr>
          <p:cNvPr id="74" name="Google Shape;74;p3"/>
          <p:cNvSpPr/>
          <p:nvPr/>
        </p:nvSpPr>
        <p:spPr>
          <a:xfrm>
            <a:off x="5715000" y="2168128"/>
            <a:ext cx="2184899" cy="214313"/>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The PQC Algorithms Chosen</a:t>
            </a:r>
            <a:endParaRPr b="0" i="0" sz="1090" u="none" cap="none" strike="noStrike">
              <a:solidFill>
                <a:schemeClr val="dk1"/>
              </a:solidFill>
              <a:latin typeface="Calibri"/>
              <a:ea typeface="Calibri"/>
              <a:cs typeface="Calibri"/>
              <a:sym typeface="Calibri"/>
            </a:endParaRPr>
          </a:p>
        </p:txBody>
      </p:sp>
      <p:sp>
        <p:nvSpPr>
          <p:cNvPr id="75" name="Google Shape;75;p3"/>
          <p:cNvSpPr/>
          <p:nvPr/>
        </p:nvSpPr>
        <p:spPr>
          <a:xfrm>
            <a:off x="428625" y="2744093"/>
            <a:ext cx="392292" cy="466130"/>
          </a:xfrm>
          <a:prstGeom prst="rect">
            <a:avLst/>
          </a:prstGeom>
          <a:noFill/>
          <a:ln>
            <a:noFill/>
          </a:ln>
        </p:spPr>
        <p:txBody>
          <a:bodyPr anchorCtr="0" anchor="t" bIns="0" lIns="0" spcFirstLastPara="1" rIns="0" wrap="square" tIns="0">
            <a:spAutoFit/>
          </a:bodyPr>
          <a:lstStyle/>
          <a:p>
            <a:pPr indent="0" lvl="0" marL="0" marR="0" rtl="0" algn="l">
              <a:lnSpc>
                <a:spcPct val="131362"/>
              </a:lnSpc>
              <a:spcBef>
                <a:spcPts val="0"/>
              </a:spcBef>
              <a:spcAft>
                <a:spcPts val="0"/>
              </a:spcAft>
              <a:buClr>
                <a:srgbClr val="00A651"/>
              </a:buClr>
              <a:buSzPts val="2436"/>
              <a:buFont typeface="Calibri"/>
              <a:buNone/>
            </a:pPr>
            <a:r>
              <a:rPr b="1" i="0" lang="en-US" sz="2436" u="none" cap="none" strike="noStrike">
                <a:solidFill>
                  <a:srgbClr val="00A651"/>
                </a:solidFill>
                <a:latin typeface="Calibri"/>
                <a:ea typeface="Calibri"/>
                <a:cs typeface="Calibri"/>
                <a:sym typeface="Calibri"/>
              </a:rPr>
              <a:t>05</a:t>
            </a:r>
            <a:endParaRPr b="0" i="0" sz="2436" u="none" cap="none" strike="noStrike">
              <a:solidFill>
                <a:schemeClr val="dk1"/>
              </a:solidFill>
              <a:latin typeface="Calibri"/>
              <a:ea typeface="Calibri"/>
              <a:cs typeface="Calibri"/>
              <a:sym typeface="Calibri"/>
            </a:endParaRPr>
          </a:p>
        </p:txBody>
      </p:sp>
      <p:sp>
        <p:nvSpPr>
          <p:cNvPr id="76" name="Google Shape;76;p3"/>
          <p:cNvSpPr/>
          <p:nvPr/>
        </p:nvSpPr>
        <p:spPr>
          <a:xfrm>
            <a:off x="963792" y="2798564"/>
            <a:ext cx="324566" cy="35718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 name="Google Shape;77;p3"/>
          <p:cNvPicPr preferRelativeResize="0"/>
          <p:nvPr/>
        </p:nvPicPr>
        <p:blipFill rotWithShape="1">
          <a:blip r:embed="rId8">
            <a:alphaModFix/>
          </a:blip>
          <a:srcRect b="0" l="0" r="0" t="0"/>
          <a:stretch/>
        </p:blipFill>
        <p:spPr>
          <a:xfrm>
            <a:off x="1040336" y="2891433"/>
            <a:ext cx="171450" cy="171450"/>
          </a:xfrm>
          <a:prstGeom prst="rect">
            <a:avLst/>
          </a:prstGeom>
          <a:noFill/>
          <a:ln>
            <a:noFill/>
          </a:ln>
        </p:spPr>
      </p:pic>
      <p:sp>
        <p:nvSpPr>
          <p:cNvPr id="78" name="Google Shape;78;p3"/>
          <p:cNvSpPr/>
          <p:nvPr/>
        </p:nvSpPr>
        <p:spPr>
          <a:xfrm>
            <a:off x="1431234" y="2762845"/>
            <a:ext cx="3069329" cy="428625"/>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Current Progress: First Results on STM32H7</a:t>
            </a:r>
            <a:endParaRPr b="0" i="0" sz="1090" u="none" cap="none" strike="noStrike">
              <a:solidFill>
                <a:schemeClr val="dk1"/>
              </a:solidFill>
              <a:latin typeface="Calibri"/>
              <a:ea typeface="Calibri"/>
              <a:cs typeface="Calibri"/>
              <a:sym typeface="Calibri"/>
            </a:endParaRPr>
          </a:p>
        </p:txBody>
      </p:sp>
      <p:sp>
        <p:nvSpPr>
          <p:cNvPr id="79" name="Google Shape;79;p3"/>
          <p:cNvSpPr/>
          <p:nvPr/>
        </p:nvSpPr>
        <p:spPr>
          <a:xfrm>
            <a:off x="4643438" y="2744093"/>
            <a:ext cx="428625" cy="466130"/>
          </a:xfrm>
          <a:prstGeom prst="rect">
            <a:avLst/>
          </a:prstGeom>
          <a:noFill/>
          <a:ln>
            <a:noFill/>
          </a:ln>
        </p:spPr>
        <p:txBody>
          <a:bodyPr anchorCtr="0" anchor="t" bIns="0" lIns="0" spcFirstLastPara="1" rIns="0" wrap="square" tIns="0">
            <a:spAutoFit/>
          </a:bodyPr>
          <a:lstStyle/>
          <a:p>
            <a:pPr indent="0" lvl="0" marL="0" marR="0" rtl="0" algn="l">
              <a:lnSpc>
                <a:spcPct val="131362"/>
              </a:lnSpc>
              <a:spcBef>
                <a:spcPts val="0"/>
              </a:spcBef>
              <a:spcAft>
                <a:spcPts val="0"/>
              </a:spcAft>
              <a:buClr>
                <a:srgbClr val="00A651"/>
              </a:buClr>
              <a:buSzPts val="2436"/>
              <a:buFont typeface="Calibri"/>
              <a:buNone/>
            </a:pPr>
            <a:r>
              <a:rPr b="1" i="0" lang="en-US" sz="2436" u="none" cap="none" strike="noStrike">
                <a:solidFill>
                  <a:srgbClr val="00A651"/>
                </a:solidFill>
                <a:latin typeface="Calibri"/>
                <a:ea typeface="Calibri"/>
                <a:cs typeface="Calibri"/>
                <a:sym typeface="Calibri"/>
              </a:rPr>
              <a:t>06</a:t>
            </a:r>
            <a:endParaRPr b="0" i="0" sz="2436" u="none" cap="none" strike="noStrike">
              <a:solidFill>
                <a:schemeClr val="dk1"/>
              </a:solidFill>
              <a:latin typeface="Calibri"/>
              <a:ea typeface="Calibri"/>
              <a:cs typeface="Calibri"/>
              <a:sym typeface="Calibri"/>
            </a:endParaRPr>
          </a:p>
        </p:txBody>
      </p:sp>
      <p:sp>
        <p:nvSpPr>
          <p:cNvPr id="80" name="Google Shape;80;p3"/>
          <p:cNvSpPr/>
          <p:nvPr/>
        </p:nvSpPr>
        <p:spPr>
          <a:xfrm>
            <a:off x="5214938" y="2798564"/>
            <a:ext cx="357188" cy="35718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1" name="Google Shape;81;p3"/>
          <p:cNvPicPr preferRelativeResize="0"/>
          <p:nvPr/>
        </p:nvPicPr>
        <p:blipFill rotWithShape="1">
          <a:blip r:embed="rId9">
            <a:alphaModFix/>
          </a:blip>
          <a:srcRect b="0" l="0" r="0" t="0"/>
          <a:stretch/>
        </p:blipFill>
        <p:spPr>
          <a:xfrm>
            <a:off x="5307806" y="2891433"/>
            <a:ext cx="171450" cy="171450"/>
          </a:xfrm>
          <a:prstGeom prst="rect">
            <a:avLst/>
          </a:prstGeom>
          <a:noFill/>
          <a:ln>
            <a:noFill/>
          </a:ln>
        </p:spPr>
      </p:pic>
      <p:sp>
        <p:nvSpPr>
          <p:cNvPr id="82" name="Google Shape;82;p3"/>
          <p:cNvSpPr/>
          <p:nvPr/>
        </p:nvSpPr>
        <p:spPr>
          <a:xfrm>
            <a:off x="5715000" y="2870002"/>
            <a:ext cx="2707621" cy="214313"/>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Next Steps &amp; Full Project Roadmap</a:t>
            </a:r>
            <a:endParaRPr b="0" i="0" sz="109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preencoded.png" id="88" name="Google Shape;88;p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9" name="Google Shape;89;p4"/>
          <p:cNvSpPr/>
          <p:nvPr/>
        </p:nvSpPr>
        <p:spPr>
          <a:xfrm>
            <a:off x="821531" y="438894"/>
            <a:ext cx="6221816"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Why Quantum Computers Break Today's Security</a:t>
            </a:r>
            <a:endParaRPr b="0" i="0" sz="1602" u="none" cap="none" strike="noStrike">
              <a:solidFill>
                <a:schemeClr val="dk1"/>
              </a:solidFill>
              <a:latin typeface="Calibri"/>
              <a:ea typeface="Calibri"/>
              <a:cs typeface="Calibri"/>
              <a:sym typeface="Calibri"/>
            </a:endParaRPr>
          </a:p>
        </p:txBody>
      </p:sp>
      <p:sp>
        <p:nvSpPr>
          <p:cNvPr id="90" name="Google Shape;90;p4"/>
          <p:cNvSpPr/>
          <p:nvPr/>
        </p:nvSpPr>
        <p:spPr>
          <a:xfrm>
            <a:off x="428625" y="1332616"/>
            <a:ext cx="3857625"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4D5259"/>
              </a:buClr>
              <a:buSzPts val="1193"/>
              <a:buFont typeface="Calibri"/>
              <a:buNone/>
            </a:pPr>
            <a:r>
              <a:rPr b="1" i="0" lang="en-US" sz="1193" u="none" cap="none" strike="noStrike">
                <a:solidFill>
                  <a:srgbClr val="4D5259"/>
                </a:solidFill>
                <a:latin typeface="Calibri"/>
                <a:ea typeface="Calibri"/>
                <a:cs typeface="Calibri"/>
                <a:sym typeface="Calibri"/>
              </a:rPr>
              <a:t>Today's Classical Security</a:t>
            </a:r>
            <a:endParaRPr b="0" i="0" sz="1193" u="none" cap="none" strike="noStrike">
              <a:solidFill>
                <a:schemeClr val="dk1"/>
              </a:solidFill>
              <a:latin typeface="Calibri"/>
              <a:ea typeface="Calibri"/>
              <a:cs typeface="Calibri"/>
              <a:sym typeface="Calibri"/>
            </a:endParaRPr>
          </a:p>
        </p:txBody>
      </p:sp>
      <p:sp>
        <p:nvSpPr>
          <p:cNvPr id="91" name="Google Shape;91;p4"/>
          <p:cNvSpPr/>
          <p:nvPr/>
        </p:nvSpPr>
        <p:spPr>
          <a:xfrm>
            <a:off x="428625" y="1795174"/>
            <a:ext cx="3857625" cy="317897"/>
          </a:xfrm>
          <a:prstGeom prst="rect">
            <a:avLst/>
          </a:prstGeom>
          <a:noFill/>
          <a:ln>
            <a:noFill/>
          </a:ln>
        </p:spPr>
        <p:txBody>
          <a:bodyPr anchorCtr="0" anchor="t" bIns="0" lIns="0" spcFirstLastPara="1" rIns="0" wrap="square" tIns="170050">
            <a:spAutoFit/>
          </a:bodyPr>
          <a:lstStyle/>
          <a:p>
            <a:pPr indent="0" lvl="0" marL="0" marR="0" rtl="0" algn="l">
              <a:lnSpc>
                <a:spcPct val="135593"/>
              </a:lnSpc>
              <a:spcBef>
                <a:spcPts val="0"/>
              </a:spcBef>
              <a:spcAft>
                <a:spcPts val="0"/>
              </a:spcAft>
              <a:buClr>
                <a:srgbClr val="00A651"/>
              </a:buClr>
              <a:buSzPts val="885"/>
              <a:buFont typeface="Calibri"/>
              <a:buNone/>
            </a:pPr>
            <a:r>
              <a:rPr b="1" i="0" lang="en-US" sz="885" u="none" cap="none" strike="noStrike">
                <a:solidFill>
                  <a:srgbClr val="00A651"/>
                </a:solidFill>
                <a:latin typeface="Calibri"/>
                <a:ea typeface="Calibri"/>
                <a:cs typeface="Calibri"/>
                <a:sym typeface="Calibri"/>
              </a:rPr>
              <a:t>Mathematical Foundations</a:t>
            </a:r>
            <a:endParaRPr b="0" i="0" sz="885" u="none" cap="none" strike="noStrike">
              <a:solidFill>
                <a:schemeClr val="dk1"/>
              </a:solidFill>
              <a:latin typeface="Calibri"/>
              <a:ea typeface="Calibri"/>
              <a:cs typeface="Calibri"/>
              <a:sym typeface="Calibri"/>
            </a:endParaRPr>
          </a:p>
        </p:txBody>
      </p:sp>
      <p:pic>
        <p:nvPicPr>
          <p:cNvPr descr="preencoded.png" id="92" name="Google Shape;92;p4"/>
          <p:cNvPicPr preferRelativeResize="0"/>
          <p:nvPr/>
        </p:nvPicPr>
        <p:blipFill rotWithShape="1">
          <a:blip r:embed="rId4">
            <a:alphaModFix/>
          </a:blip>
          <a:srcRect b="0" l="0" r="0" t="0"/>
          <a:stretch/>
        </p:blipFill>
        <p:spPr>
          <a:xfrm>
            <a:off x="428625" y="2270234"/>
            <a:ext cx="87511" cy="180017"/>
          </a:xfrm>
          <a:prstGeom prst="rect">
            <a:avLst/>
          </a:prstGeom>
          <a:noFill/>
          <a:ln>
            <a:noFill/>
          </a:ln>
        </p:spPr>
      </p:pic>
      <p:sp>
        <p:nvSpPr>
          <p:cNvPr id="93" name="Google Shape;93;p4"/>
          <p:cNvSpPr/>
          <p:nvPr/>
        </p:nvSpPr>
        <p:spPr>
          <a:xfrm>
            <a:off x="623292" y="2270234"/>
            <a:ext cx="3229896"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885"/>
              <a:buFont typeface="Calibri"/>
              <a:buNone/>
            </a:pPr>
            <a:r>
              <a:rPr b="1" i="0" lang="en-US" sz="885" u="none" cap="none" strike="noStrike">
                <a:solidFill>
                  <a:srgbClr val="5A6069"/>
                </a:solidFill>
                <a:latin typeface="Calibri"/>
                <a:ea typeface="Calibri"/>
                <a:cs typeface="Calibri"/>
                <a:sym typeface="Calibri"/>
              </a:rPr>
              <a:t>RSA:</a:t>
            </a:r>
            <a:r>
              <a:rPr b="0" i="0" lang="en-US" sz="942" u="none" cap="none" strike="noStrike">
                <a:solidFill>
                  <a:srgbClr val="5A6069"/>
                </a:solidFill>
                <a:latin typeface="Calibri"/>
                <a:ea typeface="Calibri"/>
                <a:cs typeface="Calibri"/>
                <a:sym typeface="Calibri"/>
              </a:rPr>
              <a:t> Factoring large integers (e.g., 2048-bit numbers)</a:t>
            </a:r>
            <a:endParaRPr b="0" i="0" sz="885" u="none" cap="none" strike="noStrike">
              <a:solidFill>
                <a:schemeClr val="dk1"/>
              </a:solidFill>
              <a:latin typeface="Calibri"/>
              <a:ea typeface="Calibri"/>
              <a:cs typeface="Calibri"/>
              <a:sym typeface="Calibri"/>
            </a:endParaRPr>
          </a:p>
        </p:txBody>
      </p:sp>
      <p:pic>
        <p:nvPicPr>
          <p:cNvPr descr="preencoded.png" id="94" name="Google Shape;94;p4"/>
          <p:cNvPicPr preferRelativeResize="0"/>
          <p:nvPr/>
        </p:nvPicPr>
        <p:blipFill rotWithShape="1">
          <a:blip r:embed="rId5">
            <a:alphaModFix/>
          </a:blip>
          <a:srcRect b="0" l="0" r="0" t="0"/>
          <a:stretch/>
        </p:blipFill>
        <p:spPr>
          <a:xfrm>
            <a:off x="428625" y="2535975"/>
            <a:ext cx="87511" cy="180017"/>
          </a:xfrm>
          <a:prstGeom prst="rect">
            <a:avLst/>
          </a:prstGeom>
          <a:noFill/>
          <a:ln>
            <a:noFill/>
          </a:ln>
        </p:spPr>
      </p:pic>
      <p:sp>
        <p:nvSpPr>
          <p:cNvPr id="95" name="Google Shape;95;p4"/>
          <p:cNvSpPr/>
          <p:nvPr/>
        </p:nvSpPr>
        <p:spPr>
          <a:xfrm>
            <a:off x="623292" y="2535975"/>
            <a:ext cx="2920650"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885"/>
              <a:buFont typeface="Calibri"/>
              <a:buNone/>
            </a:pPr>
            <a:r>
              <a:rPr b="1" i="0" lang="en-US" sz="885" u="none" cap="none" strike="noStrike">
                <a:solidFill>
                  <a:srgbClr val="5A6069"/>
                </a:solidFill>
                <a:latin typeface="Calibri"/>
                <a:ea typeface="Calibri"/>
                <a:cs typeface="Calibri"/>
                <a:sym typeface="Calibri"/>
              </a:rPr>
              <a:t>ECDSA:</a:t>
            </a:r>
            <a:r>
              <a:rPr b="0" i="0" lang="en-US" sz="942" u="none" cap="none" strike="noStrike">
                <a:solidFill>
                  <a:srgbClr val="5A6069"/>
                </a:solidFill>
                <a:latin typeface="Calibri"/>
                <a:ea typeface="Calibri"/>
                <a:cs typeface="Calibri"/>
                <a:sym typeface="Calibri"/>
              </a:rPr>
              <a:t> Elliptic curve discrete logarithm problem</a:t>
            </a:r>
            <a:endParaRPr b="0" i="0" sz="885" u="none" cap="none" strike="noStrike">
              <a:solidFill>
                <a:schemeClr val="dk1"/>
              </a:solidFill>
              <a:latin typeface="Calibri"/>
              <a:ea typeface="Calibri"/>
              <a:cs typeface="Calibri"/>
              <a:sym typeface="Calibri"/>
            </a:endParaRPr>
          </a:p>
        </p:txBody>
      </p:sp>
      <p:sp>
        <p:nvSpPr>
          <p:cNvPr id="96" name="Google Shape;96;p4"/>
          <p:cNvSpPr/>
          <p:nvPr/>
        </p:nvSpPr>
        <p:spPr>
          <a:xfrm>
            <a:off x="428625" y="2715992"/>
            <a:ext cx="3857625" cy="317897"/>
          </a:xfrm>
          <a:prstGeom prst="rect">
            <a:avLst/>
          </a:prstGeom>
          <a:noFill/>
          <a:ln>
            <a:noFill/>
          </a:ln>
        </p:spPr>
        <p:txBody>
          <a:bodyPr anchorCtr="0" anchor="t" bIns="0" lIns="0" spcFirstLastPara="1" rIns="0" wrap="square" tIns="170050">
            <a:spAutoFit/>
          </a:bodyPr>
          <a:lstStyle/>
          <a:p>
            <a:pPr indent="0" lvl="0" marL="0" marR="0" rtl="0" algn="l">
              <a:lnSpc>
                <a:spcPct val="135593"/>
              </a:lnSpc>
              <a:spcBef>
                <a:spcPts val="0"/>
              </a:spcBef>
              <a:spcAft>
                <a:spcPts val="0"/>
              </a:spcAft>
              <a:buClr>
                <a:srgbClr val="00A651"/>
              </a:buClr>
              <a:buSzPts val="885"/>
              <a:buFont typeface="Calibri"/>
              <a:buNone/>
            </a:pPr>
            <a:r>
              <a:rPr b="1" i="0" lang="en-US" sz="885" u="none" cap="none" strike="noStrike">
                <a:solidFill>
                  <a:srgbClr val="00A651"/>
                </a:solidFill>
                <a:latin typeface="Calibri"/>
                <a:ea typeface="Calibri"/>
                <a:cs typeface="Calibri"/>
                <a:sym typeface="Calibri"/>
              </a:rPr>
              <a:t>Complexity</a:t>
            </a:r>
            <a:endParaRPr b="0" i="0" sz="885" u="none" cap="none" strike="noStrike">
              <a:solidFill>
                <a:schemeClr val="dk1"/>
              </a:solidFill>
              <a:latin typeface="Calibri"/>
              <a:ea typeface="Calibri"/>
              <a:cs typeface="Calibri"/>
              <a:sym typeface="Calibri"/>
            </a:endParaRPr>
          </a:p>
        </p:txBody>
      </p:sp>
      <p:pic>
        <p:nvPicPr>
          <p:cNvPr descr="preencoded.png" id="97" name="Google Shape;97;p4"/>
          <p:cNvPicPr preferRelativeResize="0"/>
          <p:nvPr/>
        </p:nvPicPr>
        <p:blipFill rotWithShape="1">
          <a:blip r:embed="rId6">
            <a:alphaModFix/>
          </a:blip>
          <a:srcRect b="0" l="0" r="0" t="0"/>
          <a:stretch/>
        </p:blipFill>
        <p:spPr>
          <a:xfrm>
            <a:off x="428625" y="3191052"/>
            <a:ext cx="100013" cy="360034"/>
          </a:xfrm>
          <a:prstGeom prst="rect">
            <a:avLst/>
          </a:prstGeom>
          <a:noFill/>
          <a:ln>
            <a:noFill/>
          </a:ln>
        </p:spPr>
      </p:pic>
      <p:sp>
        <p:nvSpPr>
          <p:cNvPr id="98" name="Google Shape;98;p4"/>
          <p:cNvSpPr/>
          <p:nvPr/>
        </p:nvSpPr>
        <p:spPr>
          <a:xfrm>
            <a:off x="635794" y="3191052"/>
            <a:ext cx="3650456"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Requires </a:t>
            </a:r>
            <a:r>
              <a:rPr b="1" i="0" lang="en-US" sz="885" u="none" cap="none" strike="noStrike">
                <a:solidFill>
                  <a:srgbClr val="5A6069"/>
                </a:solidFill>
                <a:latin typeface="Calibri"/>
                <a:ea typeface="Calibri"/>
                <a:cs typeface="Calibri"/>
                <a:sym typeface="Calibri"/>
              </a:rPr>
              <a:t>billions of years</a:t>
            </a:r>
            <a:r>
              <a:rPr b="0" i="0" lang="en-US" sz="942" u="none" cap="none" strike="noStrike">
                <a:solidFill>
                  <a:srgbClr val="5A6069"/>
                </a:solidFill>
                <a:latin typeface="Calibri"/>
                <a:ea typeface="Calibri"/>
                <a:cs typeface="Calibri"/>
                <a:sym typeface="Calibri"/>
              </a:rPr>
              <a:t> for classical supercomputers to solve via brute force or known attacks.</a:t>
            </a:r>
            <a:endParaRPr b="0" i="0" sz="942" u="none" cap="none" strike="noStrike">
              <a:solidFill>
                <a:schemeClr val="dk1"/>
              </a:solidFill>
              <a:latin typeface="Calibri"/>
              <a:ea typeface="Calibri"/>
              <a:cs typeface="Calibri"/>
              <a:sym typeface="Calibri"/>
            </a:endParaRPr>
          </a:p>
        </p:txBody>
      </p:sp>
      <p:sp>
        <p:nvSpPr>
          <p:cNvPr id="99" name="Google Shape;99;p4"/>
          <p:cNvSpPr/>
          <p:nvPr/>
        </p:nvSpPr>
        <p:spPr>
          <a:xfrm>
            <a:off x="4857750" y="1332616"/>
            <a:ext cx="3857625"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4D5259"/>
              </a:buClr>
              <a:buSzPts val="1193"/>
              <a:buFont typeface="Calibri"/>
              <a:buNone/>
            </a:pPr>
            <a:r>
              <a:rPr b="1" i="0" lang="en-US" sz="1193" u="none" cap="none" strike="noStrike">
                <a:solidFill>
                  <a:srgbClr val="4D5259"/>
                </a:solidFill>
                <a:latin typeface="Calibri"/>
                <a:ea typeface="Calibri"/>
                <a:cs typeface="Calibri"/>
                <a:sym typeface="Calibri"/>
              </a:rPr>
              <a:t>The Quantum Threat</a:t>
            </a:r>
            <a:endParaRPr b="0" i="0" sz="1193" u="none" cap="none" strike="noStrike">
              <a:solidFill>
                <a:schemeClr val="dk1"/>
              </a:solidFill>
              <a:latin typeface="Calibri"/>
              <a:ea typeface="Calibri"/>
              <a:cs typeface="Calibri"/>
              <a:sym typeface="Calibri"/>
            </a:endParaRPr>
          </a:p>
        </p:txBody>
      </p:sp>
      <p:sp>
        <p:nvSpPr>
          <p:cNvPr id="100" name="Google Shape;100;p4"/>
          <p:cNvSpPr/>
          <p:nvPr/>
        </p:nvSpPr>
        <p:spPr>
          <a:xfrm>
            <a:off x="4857750" y="1795174"/>
            <a:ext cx="3857625" cy="317897"/>
          </a:xfrm>
          <a:prstGeom prst="rect">
            <a:avLst/>
          </a:prstGeom>
          <a:noFill/>
          <a:ln>
            <a:noFill/>
          </a:ln>
        </p:spPr>
        <p:txBody>
          <a:bodyPr anchorCtr="0" anchor="t" bIns="0" lIns="0" spcFirstLastPara="1" rIns="0" wrap="square" tIns="170050">
            <a:spAutoFit/>
          </a:bodyPr>
          <a:lstStyle/>
          <a:p>
            <a:pPr indent="0" lvl="0" marL="0" marR="0" rtl="0" algn="l">
              <a:lnSpc>
                <a:spcPct val="135593"/>
              </a:lnSpc>
              <a:spcBef>
                <a:spcPts val="0"/>
              </a:spcBef>
              <a:spcAft>
                <a:spcPts val="0"/>
              </a:spcAft>
              <a:buClr>
                <a:srgbClr val="00A651"/>
              </a:buClr>
              <a:buSzPts val="885"/>
              <a:buFont typeface="Calibri"/>
              <a:buNone/>
            </a:pPr>
            <a:r>
              <a:rPr b="1" i="0" lang="en-US" sz="885" u="none" cap="none" strike="noStrike">
                <a:solidFill>
                  <a:srgbClr val="00A651"/>
                </a:solidFill>
                <a:latin typeface="Calibri"/>
                <a:ea typeface="Calibri"/>
                <a:cs typeface="Calibri"/>
                <a:sym typeface="Calibri"/>
              </a:rPr>
              <a:t>Destructive Algorithms</a:t>
            </a:r>
            <a:endParaRPr b="0" i="0" sz="885" u="none" cap="none" strike="noStrike">
              <a:solidFill>
                <a:schemeClr val="dk1"/>
              </a:solidFill>
              <a:latin typeface="Calibri"/>
              <a:ea typeface="Calibri"/>
              <a:cs typeface="Calibri"/>
              <a:sym typeface="Calibri"/>
            </a:endParaRPr>
          </a:p>
        </p:txBody>
      </p:sp>
      <p:pic>
        <p:nvPicPr>
          <p:cNvPr descr="preencoded.png" id="101" name="Google Shape;101;p4"/>
          <p:cNvPicPr preferRelativeResize="0"/>
          <p:nvPr/>
        </p:nvPicPr>
        <p:blipFill rotWithShape="1">
          <a:blip r:embed="rId7">
            <a:alphaModFix/>
          </a:blip>
          <a:srcRect b="0" l="0" r="0" t="0"/>
          <a:stretch/>
        </p:blipFill>
        <p:spPr>
          <a:xfrm>
            <a:off x="4857750" y="2270234"/>
            <a:ext cx="75009" cy="360034"/>
          </a:xfrm>
          <a:prstGeom prst="rect">
            <a:avLst/>
          </a:prstGeom>
          <a:noFill/>
          <a:ln>
            <a:noFill/>
          </a:ln>
        </p:spPr>
      </p:pic>
      <p:sp>
        <p:nvSpPr>
          <p:cNvPr id="102" name="Google Shape;102;p4"/>
          <p:cNvSpPr/>
          <p:nvPr/>
        </p:nvSpPr>
        <p:spPr>
          <a:xfrm>
            <a:off x="5039916" y="2270234"/>
            <a:ext cx="3675459"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885"/>
              <a:buFont typeface="Calibri"/>
              <a:buNone/>
            </a:pPr>
            <a:r>
              <a:rPr b="1" i="0" lang="en-US" sz="885" u="none" cap="none" strike="noStrike">
                <a:solidFill>
                  <a:srgbClr val="5A6069"/>
                </a:solidFill>
                <a:latin typeface="Calibri"/>
                <a:ea typeface="Calibri"/>
                <a:cs typeface="Calibri"/>
                <a:sym typeface="Calibri"/>
              </a:rPr>
              <a:t>Shor's Algorithm (1994):</a:t>
            </a:r>
            <a:r>
              <a:rPr b="0" i="0" lang="en-US" sz="942" u="none" cap="none" strike="noStrike">
                <a:solidFill>
                  <a:srgbClr val="5A6069"/>
                </a:solidFill>
                <a:latin typeface="Calibri"/>
                <a:ea typeface="Calibri"/>
                <a:cs typeface="Calibri"/>
                <a:sym typeface="Calibri"/>
              </a:rPr>
              <a:t> Breaks RSA and ECDSA in </a:t>
            </a:r>
            <a:r>
              <a:rPr b="1" i="0" lang="en-US" sz="885" u="none" cap="none" strike="noStrike">
                <a:solidFill>
                  <a:srgbClr val="5A6069"/>
                </a:solidFill>
                <a:latin typeface="Calibri"/>
                <a:ea typeface="Calibri"/>
                <a:cs typeface="Calibri"/>
                <a:sym typeface="Calibri"/>
              </a:rPr>
              <a:t>polynomial time</a:t>
            </a:r>
            <a:r>
              <a:rPr b="0" i="0" lang="en-US" sz="942" u="none" cap="none" strike="noStrike">
                <a:solidFill>
                  <a:srgbClr val="5A6069"/>
                </a:solidFill>
                <a:latin typeface="Calibri"/>
                <a:ea typeface="Calibri"/>
                <a:cs typeface="Calibri"/>
                <a:sym typeface="Calibri"/>
              </a:rPr>
              <a:t> — from billions of years to hours.</a:t>
            </a:r>
            <a:endParaRPr b="0" i="0" sz="885" u="none" cap="none" strike="noStrike">
              <a:solidFill>
                <a:schemeClr val="dk1"/>
              </a:solidFill>
              <a:latin typeface="Calibri"/>
              <a:ea typeface="Calibri"/>
              <a:cs typeface="Calibri"/>
              <a:sym typeface="Calibri"/>
            </a:endParaRPr>
          </a:p>
        </p:txBody>
      </p:sp>
      <p:pic>
        <p:nvPicPr>
          <p:cNvPr descr="preencoded.png" id="103" name="Google Shape;103;p4"/>
          <p:cNvPicPr preferRelativeResize="0"/>
          <p:nvPr/>
        </p:nvPicPr>
        <p:blipFill rotWithShape="1">
          <a:blip r:embed="rId8">
            <a:alphaModFix/>
          </a:blip>
          <a:srcRect b="0" l="0" r="0" t="0"/>
          <a:stretch/>
        </p:blipFill>
        <p:spPr>
          <a:xfrm>
            <a:off x="4857750" y="2715992"/>
            <a:ext cx="75009" cy="360034"/>
          </a:xfrm>
          <a:prstGeom prst="rect">
            <a:avLst/>
          </a:prstGeom>
          <a:noFill/>
          <a:ln>
            <a:noFill/>
          </a:ln>
        </p:spPr>
      </p:pic>
      <p:sp>
        <p:nvSpPr>
          <p:cNvPr id="104" name="Google Shape;104;p4"/>
          <p:cNvSpPr/>
          <p:nvPr/>
        </p:nvSpPr>
        <p:spPr>
          <a:xfrm>
            <a:off x="5039916" y="2715992"/>
            <a:ext cx="3675459" cy="360034"/>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885"/>
              <a:buFont typeface="Calibri"/>
              <a:buNone/>
            </a:pPr>
            <a:r>
              <a:rPr b="1" i="0" lang="en-US" sz="885" u="none" cap="none" strike="noStrike">
                <a:solidFill>
                  <a:srgbClr val="5A6069"/>
                </a:solidFill>
                <a:latin typeface="Calibri"/>
                <a:ea typeface="Calibri"/>
                <a:cs typeface="Calibri"/>
                <a:sym typeface="Calibri"/>
              </a:rPr>
              <a:t>Grover's Algorithm (1996):</a:t>
            </a:r>
            <a:r>
              <a:rPr b="0" i="0" lang="en-US" sz="942" u="none" cap="none" strike="noStrike">
                <a:solidFill>
                  <a:srgbClr val="5A6069"/>
                </a:solidFill>
                <a:latin typeface="Calibri"/>
                <a:ea typeface="Calibri"/>
                <a:cs typeface="Calibri"/>
                <a:sym typeface="Calibri"/>
              </a:rPr>
              <a:t> Cuts symmetric key security in half (AES-128 becomes effectively AES-64).</a:t>
            </a:r>
            <a:endParaRPr b="0" i="0" sz="885" u="none" cap="none" strike="noStrike">
              <a:solidFill>
                <a:schemeClr val="dk1"/>
              </a:solidFill>
              <a:latin typeface="Calibri"/>
              <a:ea typeface="Calibri"/>
              <a:cs typeface="Calibri"/>
              <a:sym typeface="Calibri"/>
            </a:endParaRPr>
          </a:p>
        </p:txBody>
      </p:sp>
      <p:sp>
        <p:nvSpPr>
          <p:cNvPr id="105" name="Google Shape;105;p4"/>
          <p:cNvSpPr/>
          <p:nvPr/>
        </p:nvSpPr>
        <p:spPr>
          <a:xfrm>
            <a:off x="4857750" y="3361776"/>
            <a:ext cx="3857625" cy="1214438"/>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5072063" y="3670743"/>
            <a:ext cx="3429000" cy="350044"/>
          </a:xfrm>
          <a:prstGeom prst="rect">
            <a:avLst/>
          </a:prstGeom>
          <a:noFill/>
          <a:ln>
            <a:noFill/>
          </a:ln>
        </p:spPr>
        <p:txBody>
          <a:bodyPr anchorCtr="0" anchor="t" bIns="0" lIns="0" spcFirstLastPara="1" rIns="0" wrap="square" tIns="0">
            <a:spAutoFit/>
          </a:bodyPr>
          <a:lstStyle/>
          <a:p>
            <a:pPr indent="0" lvl="0" marL="0" marR="0" rtl="0" algn="l">
              <a:lnSpc>
                <a:spcPct val="132743"/>
              </a:lnSpc>
              <a:spcBef>
                <a:spcPts val="0"/>
              </a:spcBef>
              <a:spcAft>
                <a:spcPts val="0"/>
              </a:spcAft>
              <a:buClr>
                <a:srgbClr val="B5D333"/>
              </a:buClr>
              <a:buSzPts val="1808"/>
              <a:buFont typeface="Calibri"/>
              <a:buNone/>
            </a:pPr>
            <a:r>
              <a:rPr b="1" i="0" lang="en-US" sz="1808" u="none" cap="none" strike="noStrike">
                <a:solidFill>
                  <a:srgbClr val="B5D333"/>
                </a:solidFill>
                <a:latin typeface="Calibri"/>
                <a:ea typeface="Calibri"/>
                <a:cs typeface="Calibri"/>
                <a:sym typeface="Calibri"/>
              </a:rPr>
              <a:t>~4,000 Logical Qubits</a:t>
            </a:r>
            <a:endParaRPr b="0" i="0" sz="1808" u="none" cap="none" strike="noStrike">
              <a:solidFill>
                <a:schemeClr val="dk1"/>
              </a:solidFill>
              <a:latin typeface="Calibri"/>
              <a:ea typeface="Calibri"/>
              <a:cs typeface="Calibri"/>
              <a:sym typeface="Calibri"/>
            </a:endParaRPr>
          </a:p>
        </p:txBody>
      </p:sp>
      <p:sp>
        <p:nvSpPr>
          <p:cNvPr id="107" name="Google Shape;107;p4"/>
          <p:cNvSpPr/>
          <p:nvPr/>
        </p:nvSpPr>
        <p:spPr>
          <a:xfrm>
            <a:off x="5072063" y="4092225"/>
            <a:ext cx="3429000" cy="389334"/>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The threshold to break RSA-2048 in just a few hours.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960f894a74_1_0"/>
          <p:cNvSpPr/>
          <p:nvPr/>
        </p:nvSpPr>
        <p:spPr>
          <a:xfrm>
            <a:off x="628650" y="675503"/>
            <a:ext cx="8001000" cy="603600"/>
          </a:xfrm>
          <a:prstGeom prst="rect">
            <a:avLst/>
          </a:prstGeom>
          <a:noFill/>
          <a:ln>
            <a:noFill/>
          </a:ln>
        </p:spPr>
        <p:txBody>
          <a:bodyPr anchorCtr="0" anchor="t" bIns="0" lIns="170050" spcFirstLastPara="1" rIns="0" wrap="square" tIns="0">
            <a:noAutofit/>
          </a:bodyPr>
          <a:lstStyle/>
          <a:p>
            <a:pPr indent="0" lvl="0" marL="0" marR="0" rtl="0" algn="l">
              <a:lnSpc>
                <a:spcPct val="137328"/>
              </a:lnSpc>
              <a:spcBef>
                <a:spcPts val="0"/>
              </a:spcBef>
              <a:spcAft>
                <a:spcPts val="0"/>
              </a:spcAft>
              <a:buClr>
                <a:srgbClr val="E2E8F0"/>
              </a:buClr>
              <a:buSzPts val="1602"/>
              <a:buFont typeface="Roboto Mono"/>
              <a:buNone/>
            </a:pPr>
            <a:r>
              <a:rPr b="1" lang="en-US" sz="1602">
                <a:solidFill>
                  <a:srgbClr val="4D5259"/>
                </a:solidFill>
                <a:latin typeface="Calibri"/>
                <a:ea typeface="Calibri"/>
                <a:cs typeface="Calibri"/>
                <a:sym typeface="Calibri"/>
              </a:rPr>
              <a:t>DEEPER DIVE: HOW QUANTUM ALGORITHMS THREATEN CLASSICAL CRYPTOGRAPHY</a:t>
            </a:r>
            <a:endParaRPr b="0" i="0" sz="1602" u="none" cap="none" strike="noStrike">
              <a:solidFill>
                <a:schemeClr val="dk1"/>
              </a:solidFill>
              <a:latin typeface="Calibri"/>
              <a:ea typeface="Calibri"/>
              <a:cs typeface="Calibri"/>
              <a:sym typeface="Calibri"/>
            </a:endParaRPr>
          </a:p>
        </p:txBody>
      </p:sp>
      <p:pic>
        <p:nvPicPr>
          <p:cNvPr descr="preencoded.png" id="114" name="Google Shape;114;g3960f894a74_1_0"/>
          <p:cNvPicPr preferRelativeResize="0"/>
          <p:nvPr/>
        </p:nvPicPr>
        <p:blipFill rotWithShape="1">
          <a:blip r:embed="rId3">
            <a:alphaModFix/>
          </a:blip>
          <a:srcRect b="0" l="0" r="0" t="0"/>
          <a:stretch/>
        </p:blipFill>
        <p:spPr>
          <a:xfrm>
            <a:off x="814388" y="1996622"/>
            <a:ext cx="128588" cy="128588"/>
          </a:xfrm>
          <a:prstGeom prst="rect">
            <a:avLst/>
          </a:prstGeom>
          <a:noFill/>
          <a:ln>
            <a:noFill/>
          </a:ln>
        </p:spPr>
      </p:pic>
      <p:sp>
        <p:nvSpPr>
          <p:cNvPr id="115" name="Google Shape;115;g3960f894a74_1_0"/>
          <p:cNvSpPr/>
          <p:nvPr/>
        </p:nvSpPr>
        <p:spPr>
          <a:xfrm>
            <a:off x="1014413" y="1976084"/>
            <a:ext cx="1228800" cy="169800"/>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06B6D4"/>
              </a:buClr>
              <a:buSzPts val="942"/>
              <a:buFont typeface="Roboto Mono"/>
              <a:buNone/>
            </a:pPr>
            <a:r>
              <a:rPr b="1" lang="en-US" sz="885">
                <a:solidFill>
                  <a:srgbClr val="00A651"/>
                </a:solidFill>
                <a:latin typeface="Calibri"/>
                <a:ea typeface="Calibri"/>
                <a:cs typeface="Calibri"/>
                <a:sym typeface="Calibri"/>
              </a:rPr>
              <a:t>SHOR'S</a:t>
            </a:r>
            <a:r>
              <a:rPr b="0" i="0" lang="en-US" sz="942" u="none" cap="none" strike="noStrike">
                <a:solidFill>
                  <a:srgbClr val="06B6D4"/>
                </a:solidFill>
                <a:latin typeface="Roboto Mono"/>
                <a:ea typeface="Roboto Mono"/>
                <a:cs typeface="Roboto Mono"/>
                <a:sym typeface="Roboto Mono"/>
              </a:rPr>
              <a:t> </a:t>
            </a:r>
            <a:r>
              <a:rPr b="1" lang="en-US" sz="885">
                <a:solidFill>
                  <a:srgbClr val="00A651"/>
                </a:solidFill>
                <a:latin typeface="Calibri"/>
                <a:ea typeface="Calibri"/>
                <a:cs typeface="Calibri"/>
                <a:sym typeface="Calibri"/>
              </a:rPr>
              <a:t>ALGORITHM</a:t>
            </a:r>
            <a:endParaRPr b="0" i="0" sz="942" u="none" cap="none" strike="noStrike">
              <a:solidFill>
                <a:schemeClr val="dk1"/>
              </a:solidFill>
              <a:latin typeface="Calibri"/>
              <a:ea typeface="Calibri"/>
              <a:cs typeface="Calibri"/>
              <a:sym typeface="Calibri"/>
            </a:endParaRPr>
          </a:p>
        </p:txBody>
      </p:sp>
      <p:sp>
        <p:nvSpPr>
          <p:cNvPr id="116" name="Google Shape;116;g3960f894a74_1_0"/>
          <p:cNvSpPr/>
          <p:nvPr/>
        </p:nvSpPr>
        <p:spPr>
          <a:xfrm>
            <a:off x="814388" y="2288623"/>
            <a:ext cx="21525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b="1" lang="en-US" sz="885">
                <a:solidFill>
                  <a:srgbClr val="5A6069"/>
                </a:solidFill>
                <a:latin typeface="Calibri"/>
                <a:ea typeface="Calibri"/>
                <a:cs typeface="Calibri"/>
                <a:sym typeface="Calibri"/>
              </a:rPr>
              <a:t>Asymmetric Vulnerability</a:t>
            </a:r>
            <a:endParaRPr b="0" i="0" sz="834" u="none" cap="none" strike="noStrike">
              <a:solidFill>
                <a:schemeClr val="dk1"/>
              </a:solidFill>
              <a:latin typeface="Calibri"/>
              <a:ea typeface="Calibri"/>
              <a:cs typeface="Calibri"/>
              <a:sym typeface="Calibri"/>
            </a:endParaRPr>
          </a:p>
        </p:txBody>
      </p:sp>
      <p:sp>
        <p:nvSpPr>
          <p:cNvPr id="117" name="Google Shape;117;g3960f894a74_1_0"/>
          <p:cNvSpPr/>
          <p:nvPr/>
        </p:nvSpPr>
        <p:spPr>
          <a:xfrm>
            <a:off x="814388" y="2538654"/>
            <a:ext cx="2152500" cy="3201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lang="en-US" sz="942">
                <a:solidFill>
                  <a:srgbClr val="5A6069"/>
                </a:solidFill>
                <a:latin typeface="Calibri"/>
                <a:ea typeface="Calibri"/>
                <a:cs typeface="Calibri"/>
                <a:sym typeface="Calibri"/>
              </a:rPr>
              <a:t>Efficiently solves integer factorization and discrete logarithms in polynomial time</a:t>
            </a:r>
            <a:r>
              <a:rPr b="0" i="0" lang="en-US" sz="727" u="none" cap="none" strike="noStrike">
                <a:solidFill>
                  <a:srgbClr val="94A3B8"/>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118" name="Google Shape;118;g3960f894a74_1_0"/>
          <p:cNvSpPr/>
          <p:nvPr/>
        </p:nvSpPr>
        <p:spPr>
          <a:xfrm>
            <a:off x="814388" y="3037266"/>
            <a:ext cx="21525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lang="en-US" sz="834">
                <a:solidFill>
                  <a:schemeClr val="dk1"/>
                </a:solidFill>
                <a:latin typeface="Calibri"/>
                <a:ea typeface="Calibri"/>
                <a:cs typeface="Calibri"/>
                <a:sym typeface="Calibri"/>
              </a:rPr>
              <a:t>RSA (Factoring)</a:t>
            </a:r>
            <a:endParaRPr b="0" i="0" sz="834" u="none" cap="none" strike="noStrike">
              <a:solidFill>
                <a:schemeClr val="dk1"/>
              </a:solidFill>
              <a:latin typeface="Calibri"/>
              <a:ea typeface="Calibri"/>
              <a:cs typeface="Calibri"/>
              <a:sym typeface="Calibri"/>
            </a:endParaRPr>
          </a:p>
        </p:txBody>
      </p:sp>
      <p:sp>
        <p:nvSpPr>
          <p:cNvPr id="119" name="Google Shape;119;g3960f894a74_1_0"/>
          <p:cNvSpPr/>
          <p:nvPr/>
        </p:nvSpPr>
        <p:spPr>
          <a:xfrm>
            <a:off x="814388" y="3287297"/>
            <a:ext cx="2152500" cy="4836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0" i="0" lang="en-US" sz="727" u="none" cap="none" strike="noStrike">
                <a:solidFill>
                  <a:srgbClr val="94A3B8"/>
                </a:solidFill>
                <a:latin typeface="Inter"/>
                <a:ea typeface="Inter"/>
                <a:cs typeface="Inter"/>
                <a:sym typeface="Inter"/>
              </a:rPr>
              <a:t>Public keys can derive private keys, rendering RSA encryption and signatures </a:t>
            </a:r>
            <a:r>
              <a:rPr b="1" i="0" lang="en-US" sz="683" u="none" cap="none" strike="noStrike">
                <a:solidFill>
                  <a:srgbClr val="06B6D4"/>
                </a:solidFill>
                <a:latin typeface="Roboto Mono"/>
                <a:ea typeface="Roboto Mono"/>
                <a:cs typeface="Roboto Mono"/>
                <a:sym typeface="Roboto Mono"/>
              </a:rPr>
              <a:t>OBSOLETE</a:t>
            </a:r>
            <a:r>
              <a:rPr b="0" i="0" lang="en-US" sz="727" u="none" cap="none" strike="noStrike">
                <a:solidFill>
                  <a:srgbClr val="94A3B8"/>
                </a:solidFill>
                <a:latin typeface="Inter"/>
                <a:ea typeface="Inter"/>
                <a:cs typeface="Inter"/>
                <a:sym typeface="Inter"/>
              </a:rPr>
              <a:t>.</a:t>
            </a:r>
            <a:endParaRPr b="0" i="0" sz="727" u="none" cap="none" strike="noStrike">
              <a:solidFill>
                <a:schemeClr val="dk1"/>
              </a:solidFill>
              <a:latin typeface="Calibri"/>
              <a:ea typeface="Calibri"/>
              <a:cs typeface="Calibri"/>
              <a:sym typeface="Calibri"/>
            </a:endParaRPr>
          </a:p>
        </p:txBody>
      </p:sp>
      <p:sp>
        <p:nvSpPr>
          <p:cNvPr id="120" name="Google Shape;120;g3960f894a74_1_0"/>
          <p:cNvSpPr/>
          <p:nvPr/>
        </p:nvSpPr>
        <p:spPr>
          <a:xfrm>
            <a:off x="814388" y="3949489"/>
            <a:ext cx="21525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lang="en-US" sz="834">
                <a:solidFill>
                  <a:schemeClr val="dk1"/>
                </a:solidFill>
                <a:latin typeface="Calibri"/>
                <a:ea typeface="Calibri"/>
                <a:cs typeface="Calibri"/>
                <a:sym typeface="Calibri"/>
              </a:rPr>
              <a:t>ECC / ECDSA</a:t>
            </a:r>
            <a:endParaRPr sz="834">
              <a:solidFill>
                <a:schemeClr val="dk1"/>
              </a:solidFill>
              <a:latin typeface="Calibri"/>
              <a:ea typeface="Calibri"/>
              <a:cs typeface="Calibri"/>
              <a:sym typeface="Calibri"/>
            </a:endParaRPr>
          </a:p>
        </p:txBody>
      </p:sp>
      <p:sp>
        <p:nvSpPr>
          <p:cNvPr id="121" name="Google Shape;121;g3960f894a74_1_0"/>
          <p:cNvSpPr/>
          <p:nvPr/>
        </p:nvSpPr>
        <p:spPr>
          <a:xfrm>
            <a:off x="814388" y="4199520"/>
            <a:ext cx="2152500" cy="4800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0" i="0" lang="en-US" sz="727" u="none" cap="none" strike="noStrike">
                <a:solidFill>
                  <a:srgbClr val="94A3B8"/>
                </a:solidFill>
                <a:latin typeface="Inter"/>
                <a:ea typeface="Inter"/>
                <a:cs typeface="Inter"/>
                <a:sym typeface="Inter"/>
              </a:rPr>
              <a:t>Breaks the elliptic curve discrete logarithm problem (ECDLP), compromising modern PKI.</a:t>
            </a:r>
            <a:endParaRPr b="0" i="0" sz="727" u="none" cap="none" strike="noStrike">
              <a:solidFill>
                <a:schemeClr val="dk1"/>
              </a:solidFill>
              <a:latin typeface="Calibri"/>
              <a:ea typeface="Calibri"/>
              <a:cs typeface="Calibri"/>
              <a:sym typeface="Calibri"/>
            </a:endParaRPr>
          </a:p>
        </p:txBody>
      </p:sp>
      <p:pic>
        <p:nvPicPr>
          <p:cNvPr descr="preencoded.png" id="122" name="Google Shape;122;g3960f894a74_1_0"/>
          <p:cNvPicPr preferRelativeResize="0"/>
          <p:nvPr/>
        </p:nvPicPr>
        <p:blipFill rotWithShape="1">
          <a:blip r:embed="rId4">
            <a:alphaModFix/>
          </a:blip>
          <a:srcRect b="0" l="0" r="0" t="0"/>
          <a:stretch/>
        </p:blipFill>
        <p:spPr>
          <a:xfrm>
            <a:off x="3552816" y="1996622"/>
            <a:ext cx="128588" cy="128588"/>
          </a:xfrm>
          <a:prstGeom prst="rect">
            <a:avLst/>
          </a:prstGeom>
          <a:noFill/>
          <a:ln>
            <a:noFill/>
          </a:ln>
        </p:spPr>
      </p:pic>
      <p:sp>
        <p:nvSpPr>
          <p:cNvPr id="123" name="Google Shape;123;g3960f894a74_1_0"/>
          <p:cNvSpPr/>
          <p:nvPr/>
        </p:nvSpPr>
        <p:spPr>
          <a:xfrm>
            <a:off x="3752841" y="1976084"/>
            <a:ext cx="1382400" cy="169800"/>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06B6D4"/>
              </a:buClr>
              <a:buSzPts val="942"/>
              <a:buFont typeface="Roboto Mono"/>
              <a:buNone/>
            </a:pPr>
            <a:r>
              <a:rPr b="1" lang="en-US" sz="885">
                <a:solidFill>
                  <a:srgbClr val="00A651"/>
                </a:solidFill>
                <a:latin typeface="Calibri"/>
                <a:ea typeface="Calibri"/>
                <a:cs typeface="Calibri"/>
                <a:sym typeface="Calibri"/>
              </a:rPr>
              <a:t>GROVER'S ALGORITHM</a:t>
            </a:r>
            <a:endParaRPr b="1" sz="885">
              <a:solidFill>
                <a:srgbClr val="00A651"/>
              </a:solidFill>
              <a:latin typeface="Calibri"/>
              <a:ea typeface="Calibri"/>
              <a:cs typeface="Calibri"/>
              <a:sym typeface="Calibri"/>
            </a:endParaRPr>
          </a:p>
        </p:txBody>
      </p:sp>
      <p:sp>
        <p:nvSpPr>
          <p:cNvPr id="124" name="Google Shape;124;g3960f894a74_1_0"/>
          <p:cNvSpPr/>
          <p:nvPr/>
        </p:nvSpPr>
        <p:spPr>
          <a:xfrm>
            <a:off x="3552816" y="2288623"/>
            <a:ext cx="2152500" cy="1500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1" lang="en-US" sz="885">
                <a:solidFill>
                  <a:srgbClr val="5A6069"/>
                </a:solidFill>
                <a:latin typeface="Calibri"/>
                <a:ea typeface="Calibri"/>
                <a:cs typeface="Calibri"/>
                <a:sym typeface="Calibri"/>
              </a:rPr>
              <a:t>Symmetric Weakening</a:t>
            </a:r>
            <a:endParaRPr b="1" sz="885">
              <a:solidFill>
                <a:srgbClr val="5A6069"/>
              </a:solidFill>
              <a:latin typeface="Calibri"/>
              <a:ea typeface="Calibri"/>
              <a:cs typeface="Calibri"/>
              <a:sym typeface="Calibri"/>
            </a:endParaRPr>
          </a:p>
        </p:txBody>
      </p:sp>
      <p:sp>
        <p:nvSpPr>
          <p:cNvPr id="125" name="Google Shape;125;g3960f894a74_1_0"/>
          <p:cNvSpPr/>
          <p:nvPr/>
        </p:nvSpPr>
        <p:spPr>
          <a:xfrm>
            <a:off x="3552816" y="2538654"/>
            <a:ext cx="2152500" cy="3201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0" i="0" lang="en-US" sz="727" u="none" cap="none" strike="noStrike">
                <a:solidFill>
                  <a:srgbClr val="94A3B8"/>
                </a:solidFill>
                <a:latin typeface="Inter"/>
                <a:ea typeface="Inter"/>
                <a:cs typeface="Inter"/>
                <a:sym typeface="Inter"/>
              </a:rPr>
              <a:t>Provides a quadratic speedup for brute-force attacks, effectively halving security bits.</a:t>
            </a:r>
            <a:endParaRPr b="0" i="0" sz="727" u="none" cap="none" strike="noStrike">
              <a:solidFill>
                <a:schemeClr val="dk1"/>
              </a:solidFill>
              <a:latin typeface="Calibri"/>
              <a:ea typeface="Calibri"/>
              <a:cs typeface="Calibri"/>
              <a:sym typeface="Calibri"/>
            </a:endParaRPr>
          </a:p>
        </p:txBody>
      </p:sp>
      <p:sp>
        <p:nvSpPr>
          <p:cNvPr id="126" name="Google Shape;126;g3960f894a74_1_0"/>
          <p:cNvSpPr/>
          <p:nvPr/>
        </p:nvSpPr>
        <p:spPr>
          <a:xfrm>
            <a:off x="3552816" y="3037266"/>
            <a:ext cx="2152500" cy="1554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1" lang="en-US" sz="885">
                <a:solidFill>
                  <a:srgbClr val="5A6069"/>
                </a:solidFill>
                <a:latin typeface="Calibri"/>
                <a:ea typeface="Calibri"/>
                <a:cs typeface="Calibri"/>
                <a:sym typeface="Calibri"/>
              </a:rPr>
              <a:t>AES-128 → AES-64</a:t>
            </a:r>
            <a:endParaRPr b="1" sz="885">
              <a:solidFill>
                <a:srgbClr val="5A6069"/>
              </a:solidFill>
              <a:latin typeface="Calibri"/>
              <a:ea typeface="Calibri"/>
              <a:cs typeface="Calibri"/>
              <a:sym typeface="Calibri"/>
            </a:endParaRPr>
          </a:p>
        </p:txBody>
      </p:sp>
      <p:sp>
        <p:nvSpPr>
          <p:cNvPr id="127" name="Google Shape;127;g3960f894a74_1_0"/>
          <p:cNvSpPr/>
          <p:nvPr/>
        </p:nvSpPr>
        <p:spPr>
          <a:xfrm>
            <a:off x="3552816" y="3292655"/>
            <a:ext cx="2152500" cy="3237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0" i="0" lang="en-US" sz="727" u="none" cap="none" strike="noStrike">
                <a:solidFill>
                  <a:srgbClr val="94A3B8"/>
                </a:solidFill>
                <a:latin typeface="Inter"/>
                <a:ea typeface="Inter"/>
                <a:cs typeface="Inter"/>
                <a:sym typeface="Inter"/>
              </a:rPr>
              <a:t>Requires doubling key lengths (e.g., moving to </a:t>
            </a:r>
            <a:r>
              <a:rPr b="1" i="0" lang="en-US" sz="683" u="none" cap="none" strike="noStrike">
                <a:solidFill>
                  <a:srgbClr val="06B6D4"/>
                </a:solidFill>
                <a:latin typeface="Roboto Mono"/>
                <a:ea typeface="Roboto Mono"/>
                <a:cs typeface="Roboto Mono"/>
                <a:sym typeface="Roboto Mono"/>
              </a:rPr>
              <a:t>AES-256</a:t>
            </a:r>
            <a:r>
              <a:rPr b="0" i="0" lang="en-US" sz="727" u="none" cap="none" strike="noStrike">
                <a:solidFill>
                  <a:srgbClr val="94A3B8"/>
                </a:solidFill>
                <a:latin typeface="Inter"/>
                <a:ea typeface="Inter"/>
                <a:cs typeface="Inter"/>
                <a:sym typeface="Inter"/>
              </a:rPr>
              <a:t>) to maintain security.</a:t>
            </a:r>
            <a:endParaRPr b="0" i="0" sz="727" u="none" cap="none" strike="noStrike">
              <a:solidFill>
                <a:schemeClr val="dk1"/>
              </a:solidFill>
              <a:latin typeface="Calibri"/>
              <a:ea typeface="Calibri"/>
              <a:cs typeface="Calibri"/>
              <a:sym typeface="Calibri"/>
            </a:endParaRPr>
          </a:p>
        </p:txBody>
      </p:sp>
      <p:sp>
        <p:nvSpPr>
          <p:cNvPr id="128" name="Google Shape;128;g3960f894a74_1_0"/>
          <p:cNvSpPr/>
          <p:nvPr/>
        </p:nvSpPr>
        <p:spPr>
          <a:xfrm>
            <a:off x="3552816" y="3794838"/>
            <a:ext cx="2152500" cy="1500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1" lang="en-US" sz="885">
                <a:solidFill>
                  <a:srgbClr val="5A6069"/>
                </a:solidFill>
                <a:latin typeface="Calibri"/>
                <a:ea typeface="Calibri"/>
                <a:cs typeface="Calibri"/>
                <a:sym typeface="Calibri"/>
              </a:rPr>
              <a:t>Hash Functions</a:t>
            </a:r>
            <a:endParaRPr b="1" sz="885">
              <a:solidFill>
                <a:srgbClr val="5A6069"/>
              </a:solidFill>
              <a:latin typeface="Calibri"/>
              <a:ea typeface="Calibri"/>
              <a:cs typeface="Calibri"/>
              <a:sym typeface="Calibri"/>
            </a:endParaRPr>
          </a:p>
        </p:txBody>
      </p:sp>
      <p:sp>
        <p:nvSpPr>
          <p:cNvPr id="129" name="Google Shape;129;g3960f894a74_1_0"/>
          <p:cNvSpPr/>
          <p:nvPr/>
        </p:nvSpPr>
        <p:spPr>
          <a:xfrm>
            <a:off x="3552816" y="4044869"/>
            <a:ext cx="2152500" cy="4800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0" i="0" lang="en-US" sz="727" u="none" cap="none" strike="noStrike">
                <a:solidFill>
                  <a:srgbClr val="94A3B8"/>
                </a:solidFill>
                <a:latin typeface="Inter"/>
                <a:ea typeface="Inter"/>
                <a:cs typeface="Inter"/>
                <a:sym typeface="Inter"/>
              </a:rPr>
              <a:t>Speeds up pre-image and collision attacks, impacting integrity checks and digital signatures.</a:t>
            </a:r>
            <a:endParaRPr b="0" i="0" sz="727" u="none" cap="none" strike="noStrike">
              <a:solidFill>
                <a:schemeClr val="dk1"/>
              </a:solidFill>
              <a:latin typeface="Calibri"/>
              <a:ea typeface="Calibri"/>
              <a:cs typeface="Calibri"/>
              <a:sym typeface="Calibri"/>
            </a:endParaRPr>
          </a:p>
        </p:txBody>
      </p:sp>
      <p:sp>
        <p:nvSpPr>
          <p:cNvPr id="130" name="Google Shape;130;g3960f894a74_1_0"/>
          <p:cNvSpPr/>
          <p:nvPr/>
        </p:nvSpPr>
        <p:spPr>
          <a:xfrm>
            <a:off x="5709000" y="4895255"/>
            <a:ext cx="103500" cy="226800"/>
          </a:xfrm>
          <a:prstGeom prst="rect">
            <a:avLst/>
          </a:prstGeom>
          <a:noFill/>
          <a:ln>
            <a:noFill/>
          </a:ln>
        </p:spPr>
        <p:txBody>
          <a:bodyPr anchorCtr="0" anchor="t" bIns="0" lIns="0" spcFirstLastPara="1" rIns="0" wrap="square" tIns="0">
            <a:noAutofit/>
          </a:bodyPr>
          <a:lstStyle/>
          <a:p>
            <a:pPr indent="0" lvl="0" marL="0" marR="0" rtl="0" algn="l">
              <a:lnSpc>
                <a:spcPct val="126083"/>
              </a:lnSpc>
              <a:spcBef>
                <a:spcPts val="0"/>
              </a:spcBef>
              <a:spcAft>
                <a:spcPts val="0"/>
              </a:spcAft>
              <a:buClr>
                <a:srgbClr val="06B6D4"/>
              </a:buClr>
              <a:buSzPts val="1269"/>
              <a:buFont typeface="Roboto Mono"/>
              <a:buNone/>
            </a:pPr>
            <a:r>
              <a:t/>
            </a:r>
            <a:endParaRPr b="0" i="0" sz="1269" u="none" cap="none" strike="noStrike">
              <a:solidFill>
                <a:schemeClr val="dk1"/>
              </a:solidFill>
              <a:latin typeface="Calibri"/>
              <a:ea typeface="Calibri"/>
              <a:cs typeface="Calibri"/>
              <a:sym typeface="Calibri"/>
            </a:endParaRPr>
          </a:p>
        </p:txBody>
      </p:sp>
      <p:sp>
        <p:nvSpPr>
          <p:cNvPr id="131" name="Google Shape;131;g3960f894a74_1_0"/>
          <p:cNvSpPr/>
          <p:nvPr/>
        </p:nvSpPr>
        <p:spPr>
          <a:xfrm>
            <a:off x="6184088" y="1833209"/>
            <a:ext cx="103500" cy="226800"/>
          </a:xfrm>
          <a:prstGeom prst="rect">
            <a:avLst/>
          </a:prstGeom>
          <a:noFill/>
          <a:ln>
            <a:noFill/>
          </a:ln>
        </p:spPr>
        <p:txBody>
          <a:bodyPr anchorCtr="0" anchor="t" bIns="0" lIns="0" spcFirstLastPara="1" rIns="0" wrap="square" tIns="0">
            <a:noAutofit/>
          </a:bodyPr>
          <a:lstStyle/>
          <a:p>
            <a:pPr indent="0" lvl="0" marL="0" marR="0" rtl="0" algn="l">
              <a:lnSpc>
                <a:spcPct val="126083"/>
              </a:lnSpc>
              <a:spcBef>
                <a:spcPts val="0"/>
              </a:spcBef>
              <a:spcAft>
                <a:spcPts val="0"/>
              </a:spcAft>
              <a:buClr>
                <a:srgbClr val="06B6D4"/>
              </a:buClr>
              <a:buSzPts val="1269"/>
              <a:buFont typeface="Roboto Mono"/>
              <a:buNone/>
            </a:pPr>
            <a:r>
              <a:t/>
            </a:r>
            <a:endParaRPr b="0" i="0" sz="1269" u="none" cap="none" strike="noStrike">
              <a:solidFill>
                <a:schemeClr val="dk1"/>
              </a:solidFill>
              <a:latin typeface="Calibri"/>
              <a:ea typeface="Calibri"/>
              <a:cs typeface="Calibri"/>
              <a:sym typeface="Calibri"/>
            </a:endParaRPr>
          </a:p>
        </p:txBody>
      </p:sp>
      <p:pic>
        <p:nvPicPr>
          <p:cNvPr descr="preencoded.png" id="132" name="Google Shape;132;g3960f894a74_1_0"/>
          <p:cNvPicPr preferRelativeResize="0"/>
          <p:nvPr/>
        </p:nvPicPr>
        <p:blipFill rotWithShape="1">
          <a:blip r:embed="rId5">
            <a:alphaModFix/>
          </a:blip>
          <a:srcRect b="0" l="0" r="0" t="0"/>
          <a:stretch/>
        </p:blipFill>
        <p:spPr>
          <a:xfrm>
            <a:off x="6291244" y="1996622"/>
            <a:ext cx="128588" cy="128588"/>
          </a:xfrm>
          <a:prstGeom prst="rect">
            <a:avLst/>
          </a:prstGeom>
          <a:noFill/>
          <a:ln>
            <a:noFill/>
          </a:ln>
        </p:spPr>
      </p:pic>
      <p:sp>
        <p:nvSpPr>
          <p:cNvPr id="133" name="Google Shape;133;g3960f894a74_1_0"/>
          <p:cNvSpPr/>
          <p:nvPr/>
        </p:nvSpPr>
        <p:spPr>
          <a:xfrm>
            <a:off x="6491269" y="1976084"/>
            <a:ext cx="844800" cy="169800"/>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06B6D4"/>
              </a:buClr>
              <a:buSzPts val="942"/>
              <a:buFont typeface="Roboto Mono"/>
              <a:buNone/>
            </a:pPr>
            <a:r>
              <a:rPr b="1" lang="en-US" sz="885">
                <a:solidFill>
                  <a:srgbClr val="00A651"/>
                </a:solidFill>
                <a:latin typeface="Calibri"/>
                <a:ea typeface="Calibri"/>
                <a:cs typeface="Calibri"/>
                <a:sym typeface="Calibri"/>
              </a:rPr>
              <a:t>HNDL THREAT</a:t>
            </a:r>
            <a:endParaRPr b="0" i="0" sz="942" u="none" cap="none" strike="noStrike">
              <a:solidFill>
                <a:schemeClr val="dk1"/>
              </a:solidFill>
              <a:latin typeface="Calibri"/>
              <a:ea typeface="Calibri"/>
              <a:cs typeface="Calibri"/>
              <a:sym typeface="Calibri"/>
            </a:endParaRPr>
          </a:p>
        </p:txBody>
      </p:sp>
      <p:sp>
        <p:nvSpPr>
          <p:cNvPr id="134" name="Google Shape;134;g3960f894a74_1_0"/>
          <p:cNvSpPr/>
          <p:nvPr/>
        </p:nvSpPr>
        <p:spPr>
          <a:xfrm>
            <a:off x="6291244" y="2288623"/>
            <a:ext cx="2152800" cy="1500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1" lang="en-US" sz="885">
                <a:solidFill>
                  <a:srgbClr val="5A6069"/>
                </a:solidFill>
                <a:latin typeface="Calibri"/>
                <a:ea typeface="Calibri"/>
                <a:cs typeface="Calibri"/>
                <a:sym typeface="Calibri"/>
              </a:rPr>
              <a:t>Harvest Now, Decrypt Later</a:t>
            </a:r>
            <a:endParaRPr b="1" sz="885">
              <a:solidFill>
                <a:srgbClr val="5A6069"/>
              </a:solidFill>
              <a:latin typeface="Calibri"/>
              <a:ea typeface="Calibri"/>
              <a:cs typeface="Calibri"/>
              <a:sym typeface="Calibri"/>
            </a:endParaRPr>
          </a:p>
        </p:txBody>
      </p:sp>
      <p:sp>
        <p:nvSpPr>
          <p:cNvPr id="135" name="Google Shape;135;g3960f894a74_1_0"/>
          <p:cNvSpPr/>
          <p:nvPr/>
        </p:nvSpPr>
        <p:spPr>
          <a:xfrm>
            <a:off x="6291244" y="2538654"/>
            <a:ext cx="2152800" cy="4836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0" i="0" lang="en-US" sz="727" u="none" cap="none" strike="noStrike">
                <a:solidFill>
                  <a:srgbClr val="94A3B8"/>
                </a:solidFill>
                <a:latin typeface="Inter"/>
                <a:ea typeface="Inter"/>
                <a:cs typeface="Inter"/>
                <a:sym typeface="Inter"/>
              </a:rPr>
              <a:t>Attackers are recording encrypted traffic </a:t>
            </a:r>
            <a:r>
              <a:rPr b="1" i="0" lang="en-US" sz="683" u="none" cap="none" strike="noStrike">
                <a:solidFill>
                  <a:srgbClr val="06B6D4"/>
                </a:solidFill>
                <a:latin typeface="Roboto Mono"/>
                <a:ea typeface="Roboto Mono"/>
                <a:cs typeface="Roboto Mono"/>
                <a:sym typeface="Roboto Mono"/>
              </a:rPr>
              <a:t>TODAY</a:t>
            </a:r>
            <a:r>
              <a:rPr b="0" i="0" lang="en-US" sz="727" u="none" cap="none" strike="noStrike">
                <a:solidFill>
                  <a:srgbClr val="94A3B8"/>
                </a:solidFill>
                <a:latin typeface="Inter"/>
                <a:ea typeface="Inter"/>
                <a:cs typeface="Inter"/>
                <a:sym typeface="Inter"/>
              </a:rPr>
              <a:t> to decrypt it once quantum hardware matures.</a:t>
            </a:r>
            <a:endParaRPr b="0" i="0" sz="727" u="none" cap="none" strike="noStrike">
              <a:solidFill>
                <a:schemeClr val="dk1"/>
              </a:solidFill>
              <a:latin typeface="Calibri"/>
              <a:ea typeface="Calibri"/>
              <a:cs typeface="Calibri"/>
              <a:sym typeface="Calibri"/>
            </a:endParaRPr>
          </a:p>
        </p:txBody>
      </p:sp>
      <p:sp>
        <p:nvSpPr>
          <p:cNvPr id="136" name="Google Shape;136;g3960f894a74_1_0"/>
          <p:cNvSpPr/>
          <p:nvPr/>
        </p:nvSpPr>
        <p:spPr>
          <a:xfrm>
            <a:off x="6291244" y="3200846"/>
            <a:ext cx="2152800" cy="1500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1" lang="en-US" sz="885">
                <a:solidFill>
                  <a:srgbClr val="5A6069"/>
                </a:solidFill>
                <a:latin typeface="Calibri"/>
                <a:ea typeface="Calibri"/>
                <a:cs typeface="Calibri"/>
                <a:sym typeface="Calibri"/>
              </a:rPr>
              <a:t>Automotive Impact</a:t>
            </a:r>
            <a:endParaRPr b="1" sz="885">
              <a:solidFill>
                <a:srgbClr val="5A6069"/>
              </a:solidFill>
              <a:latin typeface="Calibri"/>
              <a:ea typeface="Calibri"/>
              <a:cs typeface="Calibri"/>
              <a:sym typeface="Calibri"/>
            </a:endParaRPr>
          </a:p>
        </p:txBody>
      </p:sp>
      <p:sp>
        <p:nvSpPr>
          <p:cNvPr id="137" name="Google Shape;137;g3960f894a74_1_0"/>
          <p:cNvSpPr/>
          <p:nvPr/>
        </p:nvSpPr>
        <p:spPr>
          <a:xfrm>
            <a:off x="6291244" y="3450878"/>
            <a:ext cx="2152800" cy="4800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0" i="0" lang="en-US" sz="727" u="none" cap="none" strike="noStrike">
                <a:solidFill>
                  <a:srgbClr val="94A3B8"/>
                </a:solidFill>
                <a:latin typeface="Inter"/>
                <a:ea typeface="Inter"/>
                <a:cs typeface="Inter"/>
                <a:sym typeface="Inter"/>
              </a:rPr>
              <a:t>Long-lived ECUs (10-15 years) are particularly vulnerable to retrospective decryption.</a:t>
            </a:r>
            <a:endParaRPr b="0" i="0" sz="727" u="none" cap="none" strike="noStrike">
              <a:solidFill>
                <a:schemeClr val="dk1"/>
              </a:solidFill>
              <a:latin typeface="Calibri"/>
              <a:ea typeface="Calibri"/>
              <a:cs typeface="Calibri"/>
              <a:sym typeface="Calibri"/>
            </a:endParaRPr>
          </a:p>
        </p:txBody>
      </p:sp>
      <p:sp>
        <p:nvSpPr>
          <p:cNvPr id="138" name="Google Shape;138;g3960f894a74_1_0"/>
          <p:cNvSpPr/>
          <p:nvPr/>
        </p:nvSpPr>
        <p:spPr>
          <a:xfrm>
            <a:off x="6291244" y="4109498"/>
            <a:ext cx="2152800" cy="1500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1" lang="en-US" sz="885">
                <a:solidFill>
                  <a:srgbClr val="5A6069"/>
                </a:solidFill>
                <a:latin typeface="Calibri"/>
                <a:ea typeface="Calibri"/>
                <a:cs typeface="Calibri"/>
                <a:sym typeface="Calibri"/>
              </a:rPr>
              <a:t>Immediate Action</a:t>
            </a:r>
            <a:endParaRPr b="1" sz="885">
              <a:solidFill>
                <a:srgbClr val="5A6069"/>
              </a:solidFill>
              <a:latin typeface="Calibri"/>
              <a:ea typeface="Calibri"/>
              <a:cs typeface="Calibri"/>
              <a:sym typeface="Calibri"/>
            </a:endParaRPr>
          </a:p>
        </p:txBody>
      </p:sp>
      <p:sp>
        <p:nvSpPr>
          <p:cNvPr id="139" name="Google Shape;139;g3960f894a74_1_0"/>
          <p:cNvSpPr/>
          <p:nvPr/>
        </p:nvSpPr>
        <p:spPr>
          <a:xfrm>
            <a:off x="6291244" y="4359529"/>
            <a:ext cx="2152800" cy="3201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Inter"/>
              <a:buNone/>
            </a:pPr>
            <a:r>
              <a:rPr b="0" i="0" lang="en-US" sz="727" u="none" cap="none" strike="noStrike">
                <a:solidFill>
                  <a:srgbClr val="94A3B8"/>
                </a:solidFill>
                <a:latin typeface="Inter"/>
                <a:ea typeface="Inter"/>
                <a:cs typeface="Inter"/>
                <a:sym typeface="Inter"/>
              </a:rPr>
              <a:t>Transitioning to PQC is an urgent necessity to protect data with long-term sensitivity.</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preencoded.png" id="145" name="Google Shape;145;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46" name="Google Shape;146;p5"/>
          <p:cNvSpPr/>
          <p:nvPr/>
        </p:nvSpPr>
        <p:spPr>
          <a:xfrm>
            <a:off x="821531" y="438894"/>
            <a:ext cx="5413958"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The Timeline: When Does This Become Real?</a:t>
            </a:r>
            <a:endParaRPr b="0" i="0" sz="1602" u="none" cap="none" strike="noStrike">
              <a:solidFill>
                <a:schemeClr val="dk1"/>
              </a:solidFill>
              <a:latin typeface="Calibri"/>
              <a:ea typeface="Calibri"/>
              <a:cs typeface="Calibri"/>
              <a:sym typeface="Calibri"/>
            </a:endParaRPr>
          </a:p>
        </p:txBody>
      </p:sp>
      <p:sp>
        <p:nvSpPr>
          <p:cNvPr id="147" name="Google Shape;147;p5"/>
          <p:cNvSpPr/>
          <p:nvPr/>
        </p:nvSpPr>
        <p:spPr>
          <a:xfrm>
            <a:off x="914149" y="1118890"/>
            <a:ext cx="457674" cy="273248"/>
          </a:xfrm>
          <a:prstGeom prst="rect">
            <a:avLst/>
          </a:prstGeom>
          <a:noFill/>
          <a:ln>
            <a:noFill/>
          </a:ln>
        </p:spPr>
        <p:txBody>
          <a:bodyPr anchorCtr="0" anchor="t" bIns="0" lIns="0" spcFirstLastPara="1" rIns="0" wrap="square" tIns="0">
            <a:spAutoFit/>
          </a:bodyPr>
          <a:lstStyle/>
          <a:p>
            <a:pPr indent="0" lvl="0" marL="0" marR="0" rtl="0" algn="ctr">
              <a:lnSpc>
                <a:spcPct val="136005"/>
              </a:lnSpc>
              <a:spcBef>
                <a:spcPts val="0"/>
              </a:spcBef>
              <a:spcAft>
                <a:spcPts val="0"/>
              </a:spcAft>
              <a:buClr>
                <a:srgbClr val="00A651"/>
              </a:buClr>
              <a:buSzPts val="1397"/>
              <a:buFont typeface="Calibri"/>
              <a:buNone/>
            </a:pPr>
            <a:r>
              <a:rPr b="1" i="0" lang="en-US" sz="1397" u="none" cap="none" strike="noStrike">
                <a:solidFill>
                  <a:srgbClr val="00A651"/>
                </a:solidFill>
                <a:latin typeface="Calibri"/>
                <a:ea typeface="Calibri"/>
                <a:cs typeface="Calibri"/>
                <a:sym typeface="Calibri"/>
              </a:rPr>
              <a:t>2024</a:t>
            </a:r>
            <a:endParaRPr b="0" i="0" sz="1397" u="none" cap="none" strike="noStrike">
              <a:solidFill>
                <a:schemeClr val="dk1"/>
              </a:solidFill>
              <a:latin typeface="Calibri"/>
              <a:ea typeface="Calibri"/>
              <a:cs typeface="Calibri"/>
              <a:sym typeface="Calibri"/>
            </a:endParaRPr>
          </a:p>
        </p:txBody>
      </p:sp>
      <p:sp>
        <p:nvSpPr>
          <p:cNvPr id="148" name="Google Shape;148;p5"/>
          <p:cNvSpPr/>
          <p:nvPr/>
        </p:nvSpPr>
        <p:spPr>
          <a:xfrm>
            <a:off x="428625" y="1735038"/>
            <a:ext cx="1428750" cy="400050"/>
          </a:xfrm>
          <a:prstGeom prst="rect">
            <a:avLst/>
          </a:prstGeom>
          <a:noFill/>
          <a:ln>
            <a:noFill/>
          </a:ln>
        </p:spPr>
        <p:txBody>
          <a:bodyPr anchorCtr="0" anchor="t" bIns="0" lIns="0" spcFirstLastPara="1" rIns="0" wrap="square" tIns="0">
            <a:spAutoFit/>
          </a:bodyPr>
          <a:lstStyle/>
          <a:p>
            <a:pPr indent="0" lvl="0" marL="0" marR="0" rtl="0" algn="ctr">
              <a:lnSpc>
                <a:spcPct val="155875"/>
              </a:lnSpc>
              <a:spcBef>
                <a:spcPts val="0"/>
              </a:spcBef>
              <a:spcAft>
                <a:spcPts val="0"/>
              </a:spcAft>
              <a:buClr>
                <a:srgbClr val="4D5259"/>
              </a:buClr>
              <a:buSzPts val="784"/>
              <a:buFont typeface="Calibri"/>
              <a:buNone/>
            </a:pPr>
            <a:r>
              <a:rPr b="1" i="0" lang="en-US" sz="784" u="none" cap="none" strike="noStrike">
                <a:solidFill>
                  <a:srgbClr val="4D5259"/>
                </a:solidFill>
                <a:latin typeface="Calibri"/>
                <a:ea typeface="Calibri"/>
                <a:cs typeface="Calibri"/>
                <a:sym typeface="Calibri"/>
              </a:rPr>
              <a:t>IBM Condor:</a:t>
            </a:r>
            <a:r>
              <a:rPr b="0" i="0" lang="en-US" sz="834" u="none" cap="none" strike="noStrike">
                <a:solidFill>
                  <a:srgbClr val="4D5259"/>
                </a:solidFill>
                <a:latin typeface="Calibri"/>
                <a:ea typeface="Calibri"/>
                <a:cs typeface="Calibri"/>
                <a:sym typeface="Calibri"/>
              </a:rPr>
              <a:t> 1,000+ physical qubits. Research stage. Cannot break RSA yet.</a:t>
            </a:r>
            <a:endParaRPr b="0" i="0" sz="784" u="none" cap="none" strike="noStrike">
              <a:solidFill>
                <a:schemeClr val="dk1"/>
              </a:solidFill>
              <a:latin typeface="Calibri"/>
              <a:ea typeface="Calibri"/>
              <a:cs typeface="Calibri"/>
              <a:sym typeface="Calibri"/>
            </a:endParaRPr>
          </a:p>
        </p:txBody>
      </p:sp>
      <p:sp>
        <p:nvSpPr>
          <p:cNvPr id="149" name="Google Shape;149;p5"/>
          <p:cNvSpPr/>
          <p:nvPr/>
        </p:nvSpPr>
        <p:spPr>
          <a:xfrm>
            <a:off x="2628649" y="1118890"/>
            <a:ext cx="457674" cy="273248"/>
          </a:xfrm>
          <a:prstGeom prst="rect">
            <a:avLst/>
          </a:prstGeom>
          <a:noFill/>
          <a:ln>
            <a:noFill/>
          </a:ln>
        </p:spPr>
        <p:txBody>
          <a:bodyPr anchorCtr="0" anchor="t" bIns="0" lIns="0" spcFirstLastPara="1" rIns="0" wrap="square" tIns="0">
            <a:spAutoFit/>
          </a:bodyPr>
          <a:lstStyle/>
          <a:p>
            <a:pPr indent="0" lvl="0" marL="0" marR="0" rtl="0" algn="ctr">
              <a:lnSpc>
                <a:spcPct val="136005"/>
              </a:lnSpc>
              <a:spcBef>
                <a:spcPts val="0"/>
              </a:spcBef>
              <a:spcAft>
                <a:spcPts val="0"/>
              </a:spcAft>
              <a:buClr>
                <a:srgbClr val="00A651"/>
              </a:buClr>
              <a:buSzPts val="1397"/>
              <a:buFont typeface="Calibri"/>
              <a:buNone/>
            </a:pPr>
            <a:r>
              <a:rPr b="1" i="0" lang="en-US" sz="1397" u="none" cap="none" strike="noStrike">
                <a:solidFill>
                  <a:srgbClr val="00A651"/>
                </a:solidFill>
                <a:latin typeface="Calibri"/>
                <a:ea typeface="Calibri"/>
                <a:cs typeface="Calibri"/>
                <a:sym typeface="Calibri"/>
              </a:rPr>
              <a:t>2027</a:t>
            </a:r>
            <a:endParaRPr b="0" i="0" sz="1397" u="none" cap="none" strike="noStrike">
              <a:solidFill>
                <a:schemeClr val="dk1"/>
              </a:solidFill>
              <a:latin typeface="Calibri"/>
              <a:ea typeface="Calibri"/>
              <a:cs typeface="Calibri"/>
              <a:sym typeface="Calibri"/>
            </a:endParaRPr>
          </a:p>
        </p:txBody>
      </p:sp>
      <p:sp>
        <p:nvSpPr>
          <p:cNvPr id="150" name="Google Shape;150;p5"/>
          <p:cNvSpPr/>
          <p:nvPr/>
        </p:nvSpPr>
        <p:spPr>
          <a:xfrm>
            <a:off x="2143125" y="1735038"/>
            <a:ext cx="1428750" cy="400050"/>
          </a:xfrm>
          <a:prstGeom prst="rect">
            <a:avLst/>
          </a:prstGeom>
          <a:noFill/>
          <a:ln>
            <a:noFill/>
          </a:ln>
        </p:spPr>
        <p:txBody>
          <a:bodyPr anchorCtr="0" anchor="t" bIns="0" lIns="0" spcFirstLastPara="1" rIns="0" wrap="square" tIns="0">
            <a:spAutoFit/>
          </a:bodyPr>
          <a:lstStyle/>
          <a:p>
            <a:pPr indent="0" lvl="0" marL="0" marR="0" rtl="0" algn="ctr">
              <a:lnSpc>
                <a:spcPct val="155875"/>
              </a:lnSpc>
              <a:spcBef>
                <a:spcPts val="0"/>
              </a:spcBef>
              <a:spcAft>
                <a:spcPts val="0"/>
              </a:spcAft>
              <a:buClr>
                <a:srgbClr val="4D5259"/>
              </a:buClr>
              <a:buSzPts val="784"/>
              <a:buFont typeface="Calibri"/>
              <a:buNone/>
            </a:pPr>
            <a:r>
              <a:rPr b="1" i="0" lang="en-US" sz="784" u="none" cap="none" strike="noStrike">
                <a:solidFill>
                  <a:srgbClr val="4D5259"/>
                </a:solidFill>
                <a:latin typeface="Calibri"/>
                <a:ea typeface="Calibri"/>
                <a:cs typeface="Calibri"/>
                <a:sym typeface="Calibri"/>
              </a:rPr>
              <a:t>Estimated:</a:t>
            </a:r>
            <a:r>
              <a:rPr b="0" i="0" lang="en-US" sz="834" u="none" cap="none" strike="noStrike">
                <a:solidFill>
                  <a:srgbClr val="4D5259"/>
                </a:solidFill>
                <a:latin typeface="Calibri"/>
                <a:ea typeface="Calibri"/>
                <a:cs typeface="Calibri"/>
                <a:sym typeface="Calibri"/>
              </a:rPr>
              <a:t> Error-corrected qubits emerging. First practical demonstrations.</a:t>
            </a:r>
            <a:endParaRPr b="0" i="0" sz="784" u="none" cap="none" strike="noStrike">
              <a:solidFill>
                <a:schemeClr val="dk1"/>
              </a:solidFill>
              <a:latin typeface="Calibri"/>
              <a:ea typeface="Calibri"/>
              <a:cs typeface="Calibri"/>
              <a:sym typeface="Calibri"/>
            </a:endParaRPr>
          </a:p>
        </p:txBody>
      </p:sp>
      <p:sp>
        <p:nvSpPr>
          <p:cNvPr id="151" name="Google Shape;151;p5"/>
          <p:cNvSpPr/>
          <p:nvPr/>
        </p:nvSpPr>
        <p:spPr>
          <a:xfrm>
            <a:off x="4343149" y="1118890"/>
            <a:ext cx="457674" cy="273248"/>
          </a:xfrm>
          <a:prstGeom prst="rect">
            <a:avLst/>
          </a:prstGeom>
          <a:noFill/>
          <a:ln>
            <a:noFill/>
          </a:ln>
        </p:spPr>
        <p:txBody>
          <a:bodyPr anchorCtr="0" anchor="t" bIns="0" lIns="0" spcFirstLastPara="1" rIns="0" wrap="square" tIns="0">
            <a:spAutoFit/>
          </a:bodyPr>
          <a:lstStyle/>
          <a:p>
            <a:pPr indent="0" lvl="0" marL="0" marR="0" rtl="0" algn="ctr">
              <a:lnSpc>
                <a:spcPct val="136005"/>
              </a:lnSpc>
              <a:spcBef>
                <a:spcPts val="0"/>
              </a:spcBef>
              <a:spcAft>
                <a:spcPts val="0"/>
              </a:spcAft>
              <a:buClr>
                <a:srgbClr val="00A651"/>
              </a:buClr>
              <a:buSzPts val="1397"/>
              <a:buFont typeface="Calibri"/>
              <a:buNone/>
            </a:pPr>
            <a:r>
              <a:rPr b="1" i="0" lang="en-US" sz="1397" u="none" cap="none" strike="noStrike">
                <a:solidFill>
                  <a:srgbClr val="00A651"/>
                </a:solidFill>
                <a:latin typeface="Calibri"/>
                <a:ea typeface="Calibri"/>
                <a:cs typeface="Calibri"/>
                <a:sym typeface="Calibri"/>
              </a:rPr>
              <a:t>2030</a:t>
            </a:r>
            <a:endParaRPr b="0" i="0" sz="1397" u="none" cap="none" strike="noStrike">
              <a:solidFill>
                <a:schemeClr val="dk1"/>
              </a:solidFill>
              <a:latin typeface="Calibri"/>
              <a:ea typeface="Calibri"/>
              <a:cs typeface="Calibri"/>
              <a:sym typeface="Calibri"/>
            </a:endParaRPr>
          </a:p>
        </p:txBody>
      </p:sp>
      <p:sp>
        <p:nvSpPr>
          <p:cNvPr id="152" name="Google Shape;152;p5"/>
          <p:cNvSpPr/>
          <p:nvPr/>
        </p:nvSpPr>
        <p:spPr>
          <a:xfrm>
            <a:off x="3857625" y="1735038"/>
            <a:ext cx="1428750" cy="400050"/>
          </a:xfrm>
          <a:prstGeom prst="rect">
            <a:avLst/>
          </a:prstGeom>
          <a:noFill/>
          <a:ln>
            <a:noFill/>
          </a:ln>
        </p:spPr>
        <p:txBody>
          <a:bodyPr anchorCtr="0" anchor="t" bIns="0" lIns="0" spcFirstLastPara="1" rIns="0" wrap="square" tIns="0">
            <a:spAutoFit/>
          </a:bodyPr>
          <a:lstStyle/>
          <a:p>
            <a:pPr indent="0" lvl="0" marL="0" marR="0" rtl="0" algn="ctr">
              <a:lnSpc>
                <a:spcPct val="155875"/>
              </a:lnSpc>
              <a:spcBef>
                <a:spcPts val="0"/>
              </a:spcBef>
              <a:spcAft>
                <a:spcPts val="0"/>
              </a:spcAft>
              <a:buClr>
                <a:srgbClr val="4D5259"/>
              </a:buClr>
              <a:buSzPts val="784"/>
              <a:buFont typeface="Calibri"/>
              <a:buNone/>
            </a:pPr>
            <a:r>
              <a:rPr b="1" i="0" lang="en-US" sz="784" u="none" cap="none" strike="noStrike">
                <a:solidFill>
                  <a:srgbClr val="4D5259"/>
                </a:solidFill>
                <a:latin typeface="Calibri"/>
                <a:ea typeface="Calibri"/>
                <a:cs typeface="Calibri"/>
                <a:sym typeface="Calibri"/>
              </a:rPr>
              <a:t>NSA, ETSI, BSI:</a:t>
            </a:r>
            <a:r>
              <a:rPr b="0" i="0" lang="en-US" sz="834" u="none" cap="none" strike="noStrike">
                <a:solidFill>
                  <a:srgbClr val="4D5259"/>
                </a:solidFill>
                <a:latin typeface="Calibri"/>
                <a:ea typeface="Calibri"/>
                <a:cs typeface="Calibri"/>
                <a:sym typeface="Calibri"/>
              </a:rPr>
              <a:t> Estimated risk window begins for sensitive systems.</a:t>
            </a:r>
            <a:endParaRPr b="0" i="0" sz="784" u="none" cap="none" strike="noStrike">
              <a:solidFill>
                <a:schemeClr val="dk1"/>
              </a:solidFill>
              <a:latin typeface="Calibri"/>
              <a:ea typeface="Calibri"/>
              <a:cs typeface="Calibri"/>
              <a:sym typeface="Calibri"/>
            </a:endParaRPr>
          </a:p>
        </p:txBody>
      </p:sp>
      <p:sp>
        <p:nvSpPr>
          <p:cNvPr id="153" name="Google Shape;153;p5"/>
          <p:cNvSpPr/>
          <p:nvPr/>
        </p:nvSpPr>
        <p:spPr>
          <a:xfrm>
            <a:off x="6057649" y="1118890"/>
            <a:ext cx="457674" cy="273248"/>
          </a:xfrm>
          <a:prstGeom prst="rect">
            <a:avLst/>
          </a:prstGeom>
          <a:noFill/>
          <a:ln>
            <a:noFill/>
          </a:ln>
        </p:spPr>
        <p:txBody>
          <a:bodyPr anchorCtr="0" anchor="t" bIns="0" lIns="0" spcFirstLastPara="1" rIns="0" wrap="square" tIns="0">
            <a:spAutoFit/>
          </a:bodyPr>
          <a:lstStyle/>
          <a:p>
            <a:pPr indent="0" lvl="0" marL="0" marR="0" rtl="0" algn="ctr">
              <a:lnSpc>
                <a:spcPct val="136005"/>
              </a:lnSpc>
              <a:spcBef>
                <a:spcPts val="0"/>
              </a:spcBef>
              <a:spcAft>
                <a:spcPts val="0"/>
              </a:spcAft>
              <a:buClr>
                <a:srgbClr val="00A651"/>
              </a:buClr>
              <a:buSzPts val="1397"/>
              <a:buFont typeface="Calibri"/>
              <a:buNone/>
            </a:pPr>
            <a:r>
              <a:rPr b="1" i="0" lang="en-US" sz="1397" u="none" cap="none" strike="noStrike">
                <a:solidFill>
                  <a:srgbClr val="00A651"/>
                </a:solidFill>
                <a:latin typeface="Calibri"/>
                <a:ea typeface="Calibri"/>
                <a:cs typeface="Calibri"/>
                <a:sym typeface="Calibri"/>
              </a:rPr>
              <a:t>2035</a:t>
            </a:r>
            <a:endParaRPr b="0" i="0" sz="1397" u="none" cap="none" strike="noStrike">
              <a:solidFill>
                <a:schemeClr val="dk1"/>
              </a:solidFill>
              <a:latin typeface="Calibri"/>
              <a:ea typeface="Calibri"/>
              <a:cs typeface="Calibri"/>
              <a:sym typeface="Calibri"/>
            </a:endParaRPr>
          </a:p>
        </p:txBody>
      </p:sp>
      <p:sp>
        <p:nvSpPr>
          <p:cNvPr id="154" name="Google Shape;154;p5"/>
          <p:cNvSpPr/>
          <p:nvPr/>
        </p:nvSpPr>
        <p:spPr>
          <a:xfrm>
            <a:off x="5572125" y="1735038"/>
            <a:ext cx="1428750" cy="400050"/>
          </a:xfrm>
          <a:prstGeom prst="rect">
            <a:avLst/>
          </a:prstGeom>
          <a:noFill/>
          <a:ln>
            <a:noFill/>
          </a:ln>
        </p:spPr>
        <p:txBody>
          <a:bodyPr anchorCtr="0" anchor="t" bIns="0" lIns="0" spcFirstLastPara="1" rIns="0" wrap="square" tIns="0">
            <a:spAutoFit/>
          </a:bodyPr>
          <a:lstStyle/>
          <a:p>
            <a:pPr indent="0" lvl="0" marL="0" marR="0" rtl="0" algn="ctr">
              <a:lnSpc>
                <a:spcPct val="155875"/>
              </a:lnSpc>
              <a:spcBef>
                <a:spcPts val="0"/>
              </a:spcBef>
              <a:spcAft>
                <a:spcPts val="0"/>
              </a:spcAft>
              <a:buClr>
                <a:srgbClr val="4D5259"/>
              </a:buClr>
              <a:buSzPts val="784"/>
              <a:buFont typeface="Calibri"/>
              <a:buNone/>
            </a:pPr>
            <a:r>
              <a:rPr b="1" i="0" lang="en-US" sz="784" u="none" cap="none" strike="noStrike">
                <a:solidFill>
                  <a:srgbClr val="4D5259"/>
                </a:solidFill>
                <a:latin typeface="Calibri"/>
                <a:ea typeface="Calibri"/>
                <a:cs typeface="Calibri"/>
                <a:sym typeface="Calibri"/>
              </a:rPr>
              <a:t>Automotive:</a:t>
            </a:r>
            <a:r>
              <a:rPr b="0" i="0" lang="en-US" sz="834" u="none" cap="none" strike="noStrike">
                <a:solidFill>
                  <a:srgbClr val="4D5259"/>
                </a:solidFill>
                <a:latin typeface="Calibri"/>
                <a:ea typeface="Calibri"/>
                <a:cs typeface="Calibri"/>
                <a:sym typeface="Calibri"/>
              </a:rPr>
              <a:t> Systems sold TODAY will still be on roads — and at risk.</a:t>
            </a:r>
            <a:endParaRPr b="0" i="0" sz="784" u="none" cap="none" strike="noStrike">
              <a:solidFill>
                <a:schemeClr val="dk1"/>
              </a:solidFill>
              <a:latin typeface="Calibri"/>
              <a:ea typeface="Calibri"/>
              <a:cs typeface="Calibri"/>
              <a:sym typeface="Calibri"/>
            </a:endParaRPr>
          </a:p>
        </p:txBody>
      </p:sp>
      <p:sp>
        <p:nvSpPr>
          <p:cNvPr id="155" name="Google Shape;155;p5"/>
          <p:cNvSpPr/>
          <p:nvPr/>
        </p:nvSpPr>
        <p:spPr>
          <a:xfrm>
            <a:off x="7714943" y="1118890"/>
            <a:ext cx="572086" cy="273248"/>
          </a:xfrm>
          <a:prstGeom prst="rect">
            <a:avLst/>
          </a:prstGeom>
          <a:noFill/>
          <a:ln>
            <a:noFill/>
          </a:ln>
        </p:spPr>
        <p:txBody>
          <a:bodyPr anchorCtr="0" anchor="t" bIns="0" lIns="0" spcFirstLastPara="1" rIns="0" wrap="square" tIns="0">
            <a:spAutoFit/>
          </a:bodyPr>
          <a:lstStyle/>
          <a:p>
            <a:pPr indent="0" lvl="0" marL="0" marR="0" rtl="0" algn="ctr">
              <a:lnSpc>
                <a:spcPct val="136005"/>
              </a:lnSpc>
              <a:spcBef>
                <a:spcPts val="0"/>
              </a:spcBef>
              <a:spcAft>
                <a:spcPts val="0"/>
              </a:spcAft>
              <a:buClr>
                <a:srgbClr val="00A651"/>
              </a:buClr>
              <a:buSzPts val="1397"/>
              <a:buFont typeface="Calibri"/>
              <a:buNone/>
            </a:pPr>
            <a:r>
              <a:rPr b="1" i="0" lang="en-US" sz="1397" u="none" cap="none" strike="noStrike">
                <a:solidFill>
                  <a:srgbClr val="00A651"/>
                </a:solidFill>
                <a:latin typeface="Calibri"/>
                <a:ea typeface="Calibri"/>
                <a:cs typeface="Calibri"/>
                <a:sym typeface="Calibri"/>
              </a:rPr>
              <a:t>2040+</a:t>
            </a:r>
            <a:endParaRPr b="0" i="0" sz="1397" u="none" cap="none" strike="noStrike">
              <a:solidFill>
                <a:schemeClr val="dk1"/>
              </a:solidFill>
              <a:latin typeface="Calibri"/>
              <a:ea typeface="Calibri"/>
              <a:cs typeface="Calibri"/>
              <a:sym typeface="Calibri"/>
            </a:endParaRPr>
          </a:p>
        </p:txBody>
      </p:sp>
      <p:sp>
        <p:nvSpPr>
          <p:cNvPr id="156" name="Google Shape;156;p5"/>
          <p:cNvSpPr/>
          <p:nvPr/>
        </p:nvSpPr>
        <p:spPr>
          <a:xfrm>
            <a:off x="7286625" y="1735038"/>
            <a:ext cx="1428750" cy="400050"/>
          </a:xfrm>
          <a:prstGeom prst="rect">
            <a:avLst/>
          </a:prstGeom>
          <a:noFill/>
          <a:ln>
            <a:noFill/>
          </a:ln>
        </p:spPr>
        <p:txBody>
          <a:bodyPr anchorCtr="0" anchor="t" bIns="0" lIns="0" spcFirstLastPara="1" rIns="0" wrap="square" tIns="0">
            <a:spAutoFit/>
          </a:bodyPr>
          <a:lstStyle/>
          <a:p>
            <a:pPr indent="0" lvl="0" marL="0" marR="0" rtl="0" algn="ctr">
              <a:lnSpc>
                <a:spcPct val="155875"/>
              </a:lnSpc>
              <a:spcBef>
                <a:spcPts val="0"/>
              </a:spcBef>
              <a:spcAft>
                <a:spcPts val="0"/>
              </a:spcAft>
              <a:buClr>
                <a:srgbClr val="4D5259"/>
              </a:buClr>
              <a:buSzPts val="784"/>
              <a:buFont typeface="Calibri"/>
              <a:buNone/>
            </a:pPr>
            <a:r>
              <a:rPr b="1" i="0" lang="en-US" sz="784" u="none" cap="none" strike="noStrike">
                <a:solidFill>
                  <a:srgbClr val="4D5259"/>
                </a:solidFill>
                <a:latin typeface="Calibri"/>
                <a:ea typeface="Calibri"/>
                <a:cs typeface="Calibri"/>
                <a:sym typeface="Calibri"/>
              </a:rPr>
              <a:t>HNDL:</a:t>
            </a:r>
            <a:r>
              <a:rPr b="0" i="0" lang="en-US" sz="834" u="none" cap="none" strike="noStrike">
                <a:solidFill>
                  <a:srgbClr val="4D5259"/>
                </a:solidFill>
                <a:latin typeface="Calibri"/>
                <a:ea typeface="Calibri"/>
                <a:cs typeface="Calibri"/>
                <a:sym typeface="Calibri"/>
              </a:rPr>
              <a:t> Attackers already recording encrypted traffic for future decryption.</a:t>
            </a:r>
            <a:endParaRPr b="0" i="0" sz="784" u="none" cap="none" strike="noStrike">
              <a:solidFill>
                <a:schemeClr val="dk1"/>
              </a:solidFill>
              <a:latin typeface="Calibri"/>
              <a:ea typeface="Calibri"/>
              <a:cs typeface="Calibri"/>
              <a:sym typeface="Calibri"/>
            </a:endParaRPr>
          </a:p>
        </p:txBody>
      </p:sp>
      <p:sp>
        <p:nvSpPr>
          <p:cNvPr id="157" name="Google Shape;157;p5"/>
          <p:cNvSpPr/>
          <p:nvPr/>
        </p:nvSpPr>
        <p:spPr>
          <a:xfrm>
            <a:off x="428625" y="3426516"/>
            <a:ext cx="8286750" cy="859734"/>
          </a:xfrm>
          <a:prstGeom prst="rect">
            <a:avLst/>
          </a:prstGeom>
          <a:solidFill>
            <a:srgbClr val="FDEC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428625" y="3426516"/>
            <a:ext cx="8286750" cy="28575"/>
          </a:xfrm>
          <a:prstGeom prst="rect">
            <a:avLst/>
          </a:prstGeom>
          <a:solidFill>
            <a:srgbClr val="D32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5"/>
          <p:cNvPicPr preferRelativeResize="0"/>
          <p:nvPr/>
        </p:nvPicPr>
        <p:blipFill rotWithShape="1">
          <a:blip r:embed="rId4">
            <a:alphaModFix/>
          </a:blip>
          <a:srcRect b="0" l="0" r="0" t="0"/>
          <a:stretch/>
        </p:blipFill>
        <p:spPr>
          <a:xfrm>
            <a:off x="571500" y="3731354"/>
            <a:ext cx="285750" cy="285750"/>
          </a:xfrm>
          <a:prstGeom prst="rect">
            <a:avLst/>
          </a:prstGeom>
          <a:noFill/>
          <a:ln>
            <a:noFill/>
          </a:ln>
        </p:spPr>
      </p:pic>
      <p:sp>
        <p:nvSpPr>
          <p:cNvPr id="160" name="Google Shape;160;p5"/>
          <p:cNvSpPr/>
          <p:nvPr/>
        </p:nvSpPr>
        <p:spPr>
          <a:xfrm>
            <a:off x="1000125" y="3659386"/>
            <a:ext cx="7572375"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D32F2F"/>
              </a:buClr>
              <a:buSzPts val="987"/>
              <a:buFont typeface="Calibri"/>
              <a:buNone/>
            </a:pPr>
            <a:r>
              <a:rPr b="1" i="0" lang="en-US" sz="987" u="none" cap="none" strike="noStrike">
                <a:solidFill>
                  <a:srgbClr val="D32F2F"/>
                </a:solidFill>
                <a:latin typeface="Calibri"/>
                <a:ea typeface="Calibri"/>
                <a:cs typeface="Calibri"/>
                <a:sym typeface="Calibri"/>
              </a:rPr>
              <a:t>HNDL Attack: Harvest Now, Decrypt Later</a:t>
            </a:r>
            <a:endParaRPr b="0" i="0" sz="987" u="none" cap="none" strike="noStrike">
              <a:solidFill>
                <a:schemeClr val="dk1"/>
              </a:solidFill>
              <a:latin typeface="Calibri"/>
              <a:ea typeface="Calibri"/>
              <a:cs typeface="Calibri"/>
              <a:sym typeface="Calibri"/>
            </a:endParaRPr>
          </a:p>
        </p:txBody>
      </p:sp>
      <p:sp>
        <p:nvSpPr>
          <p:cNvPr id="161" name="Google Shape;161;p5"/>
          <p:cNvSpPr/>
          <p:nvPr/>
        </p:nvSpPr>
        <p:spPr>
          <a:xfrm>
            <a:off x="1000125" y="3889772"/>
            <a:ext cx="7572375" cy="310753"/>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Nation-state actors record encrypted CAN/V2X traffic today — planning to decrypt it once quantum computers are ready. The threat is NOW, not later.</a:t>
            </a:r>
            <a:endParaRPr b="0" i="0" sz="834" u="none" cap="none" strike="noStrike">
              <a:solidFill>
                <a:schemeClr val="dk1"/>
              </a:solidFill>
              <a:latin typeface="Calibri"/>
              <a:ea typeface="Calibri"/>
              <a:cs typeface="Calibri"/>
              <a:sym typeface="Calibri"/>
            </a:endParaRPr>
          </a:p>
        </p:txBody>
      </p:sp>
      <p:sp>
        <p:nvSpPr>
          <p:cNvPr id="162" name="Google Shape;162;p5"/>
          <p:cNvSpPr/>
          <p:nvPr/>
        </p:nvSpPr>
        <p:spPr>
          <a:xfrm>
            <a:off x="428625" y="4922044"/>
            <a:ext cx="1287773"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888888"/>
              </a:buClr>
              <a:buSzPts val="727"/>
              <a:buFont typeface="Calibri"/>
              <a:buNone/>
            </a:pPr>
            <a:r>
              <a:rPr b="0" i="0" lang="en-US" sz="727" u="none" cap="none" strike="noStrike">
                <a:solidFill>
                  <a:srgbClr val="888888"/>
                </a:solidFill>
                <a:latin typeface="Calibri"/>
                <a:ea typeface="Calibri"/>
                <a:cs typeface="Calibri"/>
                <a:sym typeface="Calibri"/>
              </a:rPr>
              <a:t>2024 | ACTIA TEMPLATE | 5</a:t>
            </a:r>
            <a:endParaRPr b="0" i="0" sz="727" u="none" cap="none" strike="noStrike">
              <a:solidFill>
                <a:schemeClr val="dk1"/>
              </a:solidFill>
              <a:latin typeface="Calibri"/>
              <a:ea typeface="Calibri"/>
              <a:cs typeface="Calibri"/>
              <a:sym typeface="Calibri"/>
            </a:endParaRPr>
          </a:p>
        </p:txBody>
      </p:sp>
      <p:sp>
        <p:nvSpPr>
          <p:cNvPr id="163" name="Google Shape;163;p5"/>
          <p:cNvSpPr/>
          <p:nvPr/>
        </p:nvSpPr>
        <p:spPr>
          <a:xfrm>
            <a:off x="7990982" y="4823817"/>
            <a:ext cx="552943"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4D5259"/>
              </a:buClr>
              <a:buSzPts val="1193"/>
              <a:buFont typeface="Calibri"/>
              <a:buNone/>
            </a:pPr>
            <a:r>
              <a:rPr b="1" i="0" lang="en-US" sz="1193" u="none" cap="none" strike="noStrike">
                <a:solidFill>
                  <a:srgbClr val="4D5259"/>
                </a:solidFill>
                <a:latin typeface="Calibri"/>
                <a:ea typeface="Calibri"/>
                <a:cs typeface="Calibri"/>
                <a:sym typeface="Calibri"/>
              </a:rPr>
              <a:t>ACTIA</a:t>
            </a:r>
            <a:endParaRPr b="0" i="0" sz="1193" u="none" cap="none" strike="noStrike">
              <a:solidFill>
                <a:schemeClr val="dk1"/>
              </a:solidFill>
              <a:latin typeface="Calibri"/>
              <a:ea typeface="Calibri"/>
              <a:cs typeface="Calibri"/>
              <a:sym typeface="Calibri"/>
            </a:endParaRPr>
          </a:p>
        </p:txBody>
      </p:sp>
      <p:pic>
        <p:nvPicPr>
          <p:cNvPr descr="preencoded.png" id="164" name="Google Shape;164;p5"/>
          <p:cNvPicPr preferRelativeResize="0"/>
          <p:nvPr/>
        </p:nvPicPr>
        <p:blipFill rotWithShape="1">
          <a:blip r:embed="rId5">
            <a:alphaModFix/>
          </a:blip>
          <a:srcRect b="0" l="0" r="0" t="0"/>
          <a:stretch/>
        </p:blipFill>
        <p:spPr>
          <a:xfrm>
            <a:off x="8543925" y="4855964"/>
            <a:ext cx="171450" cy="171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descr="preencoded.png" id="170" name="Google Shape;170;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1" name="Google Shape;171;p6"/>
          <p:cNvSpPr/>
          <p:nvPr/>
        </p:nvSpPr>
        <p:spPr>
          <a:xfrm>
            <a:off x="750094" y="438894"/>
            <a:ext cx="4948526"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Two Responses to the Quantum Threat</a:t>
            </a:r>
            <a:endParaRPr b="0" i="0" sz="1602" u="none" cap="none" strike="noStrike">
              <a:solidFill>
                <a:schemeClr val="dk1"/>
              </a:solidFill>
              <a:latin typeface="Calibri"/>
              <a:ea typeface="Calibri"/>
              <a:cs typeface="Calibri"/>
              <a:sym typeface="Calibri"/>
            </a:endParaRPr>
          </a:p>
        </p:txBody>
      </p:sp>
      <p:pic>
        <p:nvPicPr>
          <p:cNvPr descr="preencoded.png" id="172" name="Google Shape;172;p6"/>
          <p:cNvPicPr preferRelativeResize="0"/>
          <p:nvPr/>
        </p:nvPicPr>
        <p:blipFill rotWithShape="1">
          <a:blip r:embed="rId4">
            <a:alphaModFix/>
          </a:blip>
          <a:srcRect b="0" l="0" r="0" t="0"/>
          <a:stretch/>
        </p:blipFill>
        <p:spPr>
          <a:xfrm>
            <a:off x="407194" y="1435308"/>
            <a:ext cx="257175" cy="228600"/>
          </a:xfrm>
          <a:prstGeom prst="rect">
            <a:avLst/>
          </a:prstGeom>
          <a:noFill/>
          <a:ln>
            <a:noFill/>
          </a:ln>
        </p:spPr>
      </p:pic>
      <p:sp>
        <p:nvSpPr>
          <p:cNvPr id="173" name="Google Shape;173;p6"/>
          <p:cNvSpPr/>
          <p:nvPr/>
        </p:nvSpPr>
        <p:spPr>
          <a:xfrm>
            <a:off x="842963" y="1432629"/>
            <a:ext cx="2792760"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4D5259"/>
              </a:buClr>
              <a:buSzPts val="1193"/>
              <a:buFont typeface="Calibri"/>
              <a:buNone/>
            </a:pPr>
            <a:r>
              <a:rPr b="1" i="0" lang="en-US" sz="1193" u="none" cap="none" strike="noStrike">
                <a:solidFill>
                  <a:srgbClr val="4D5259"/>
                </a:solidFill>
                <a:latin typeface="Calibri"/>
                <a:ea typeface="Calibri"/>
                <a:cs typeface="Calibri"/>
                <a:sym typeface="Calibri"/>
              </a:rPr>
              <a:t>Quantum Key Distribution (QKD)</a:t>
            </a:r>
            <a:endParaRPr b="0" i="0" sz="1193" u="none" cap="none" strike="noStrike">
              <a:solidFill>
                <a:schemeClr val="dk1"/>
              </a:solidFill>
              <a:latin typeface="Calibri"/>
              <a:ea typeface="Calibri"/>
              <a:cs typeface="Calibri"/>
              <a:sym typeface="Calibri"/>
            </a:endParaRPr>
          </a:p>
        </p:txBody>
      </p:sp>
      <p:pic>
        <p:nvPicPr>
          <p:cNvPr descr="preencoded.png" id="174" name="Google Shape;174;p6"/>
          <p:cNvPicPr preferRelativeResize="0"/>
          <p:nvPr/>
        </p:nvPicPr>
        <p:blipFill rotWithShape="1">
          <a:blip r:embed="rId5">
            <a:alphaModFix/>
          </a:blip>
          <a:srcRect b="0" l="0" r="0" t="0"/>
          <a:stretch/>
        </p:blipFill>
        <p:spPr>
          <a:xfrm>
            <a:off x="357188" y="2008901"/>
            <a:ext cx="85725" cy="180017"/>
          </a:xfrm>
          <a:prstGeom prst="rect">
            <a:avLst/>
          </a:prstGeom>
          <a:noFill/>
          <a:ln>
            <a:noFill/>
          </a:ln>
        </p:spPr>
      </p:pic>
      <p:sp>
        <p:nvSpPr>
          <p:cNvPr id="175" name="Google Shape;175;p6"/>
          <p:cNvSpPr/>
          <p:nvPr/>
        </p:nvSpPr>
        <p:spPr>
          <a:xfrm>
            <a:off x="528638" y="2008901"/>
            <a:ext cx="2244505"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Based on quantum physics principles</a:t>
            </a:r>
            <a:endParaRPr b="0" i="0" sz="942" u="none" cap="none" strike="noStrike">
              <a:solidFill>
                <a:schemeClr val="dk1"/>
              </a:solidFill>
              <a:latin typeface="Calibri"/>
              <a:ea typeface="Calibri"/>
              <a:cs typeface="Calibri"/>
              <a:sym typeface="Calibri"/>
            </a:endParaRPr>
          </a:p>
        </p:txBody>
      </p:sp>
      <p:pic>
        <p:nvPicPr>
          <p:cNvPr descr="preencoded.png" id="176" name="Google Shape;176;p6"/>
          <p:cNvPicPr preferRelativeResize="0"/>
          <p:nvPr/>
        </p:nvPicPr>
        <p:blipFill rotWithShape="1">
          <a:blip r:embed="rId6">
            <a:alphaModFix/>
          </a:blip>
          <a:srcRect b="0" l="0" r="0" t="0"/>
          <a:stretch/>
        </p:blipFill>
        <p:spPr>
          <a:xfrm>
            <a:off x="357188" y="2246068"/>
            <a:ext cx="85725" cy="180017"/>
          </a:xfrm>
          <a:prstGeom prst="rect">
            <a:avLst/>
          </a:prstGeom>
          <a:noFill/>
          <a:ln>
            <a:noFill/>
          </a:ln>
        </p:spPr>
      </p:pic>
      <p:sp>
        <p:nvSpPr>
          <p:cNvPr id="177" name="Google Shape;177;p6"/>
          <p:cNvSpPr/>
          <p:nvPr/>
        </p:nvSpPr>
        <p:spPr>
          <a:xfrm>
            <a:off x="528638" y="2246068"/>
            <a:ext cx="3111047"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Uses quantum states (photons) to share secret keys</a:t>
            </a:r>
            <a:endParaRPr b="0" i="0" sz="942" u="none" cap="none" strike="noStrike">
              <a:solidFill>
                <a:schemeClr val="dk1"/>
              </a:solidFill>
              <a:latin typeface="Calibri"/>
              <a:ea typeface="Calibri"/>
              <a:cs typeface="Calibri"/>
              <a:sym typeface="Calibri"/>
            </a:endParaRPr>
          </a:p>
        </p:txBody>
      </p:sp>
      <p:pic>
        <p:nvPicPr>
          <p:cNvPr descr="preencoded.png" id="178" name="Google Shape;178;p6"/>
          <p:cNvPicPr preferRelativeResize="0"/>
          <p:nvPr/>
        </p:nvPicPr>
        <p:blipFill rotWithShape="1">
          <a:blip r:embed="rId6">
            <a:alphaModFix/>
          </a:blip>
          <a:srcRect b="0" l="0" r="0" t="0"/>
          <a:stretch/>
        </p:blipFill>
        <p:spPr>
          <a:xfrm>
            <a:off x="357188" y="2483234"/>
            <a:ext cx="85725" cy="180017"/>
          </a:xfrm>
          <a:prstGeom prst="rect">
            <a:avLst/>
          </a:prstGeom>
          <a:noFill/>
          <a:ln>
            <a:noFill/>
          </a:ln>
        </p:spPr>
      </p:pic>
      <p:sp>
        <p:nvSpPr>
          <p:cNvPr id="179" name="Google Shape;179;p6"/>
          <p:cNvSpPr/>
          <p:nvPr/>
        </p:nvSpPr>
        <p:spPr>
          <a:xfrm>
            <a:off x="528638" y="2483234"/>
            <a:ext cx="2327439"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Security guaranteed by laws of physics</a:t>
            </a:r>
            <a:endParaRPr b="0" i="0" sz="942" u="none" cap="none" strike="noStrike">
              <a:solidFill>
                <a:schemeClr val="dk1"/>
              </a:solidFill>
              <a:latin typeface="Calibri"/>
              <a:ea typeface="Calibri"/>
              <a:cs typeface="Calibri"/>
              <a:sym typeface="Calibri"/>
            </a:endParaRPr>
          </a:p>
        </p:txBody>
      </p:sp>
      <p:pic>
        <p:nvPicPr>
          <p:cNvPr descr="preencoded.png" id="180" name="Google Shape;180;p6"/>
          <p:cNvPicPr preferRelativeResize="0"/>
          <p:nvPr/>
        </p:nvPicPr>
        <p:blipFill rotWithShape="1">
          <a:blip r:embed="rId7">
            <a:alphaModFix/>
          </a:blip>
          <a:srcRect b="0" l="0" r="0" t="0"/>
          <a:stretch/>
        </p:blipFill>
        <p:spPr>
          <a:xfrm>
            <a:off x="357188" y="2720401"/>
            <a:ext cx="85725" cy="180017"/>
          </a:xfrm>
          <a:prstGeom prst="rect">
            <a:avLst/>
          </a:prstGeom>
          <a:noFill/>
          <a:ln>
            <a:noFill/>
          </a:ln>
        </p:spPr>
      </p:pic>
      <p:sp>
        <p:nvSpPr>
          <p:cNvPr id="181" name="Google Shape;181;p6"/>
          <p:cNvSpPr/>
          <p:nvPr/>
        </p:nvSpPr>
        <p:spPr>
          <a:xfrm>
            <a:off x="528638" y="2720401"/>
            <a:ext cx="2683259"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Interception causes state collapse (detected)</a:t>
            </a:r>
            <a:endParaRPr b="0" i="0" sz="942" u="none" cap="none" strike="noStrike">
              <a:solidFill>
                <a:schemeClr val="dk1"/>
              </a:solidFill>
              <a:latin typeface="Calibri"/>
              <a:ea typeface="Calibri"/>
              <a:cs typeface="Calibri"/>
              <a:sym typeface="Calibri"/>
            </a:endParaRPr>
          </a:p>
        </p:txBody>
      </p:sp>
      <p:pic>
        <p:nvPicPr>
          <p:cNvPr descr="preencoded.png" id="182" name="Google Shape;182;p6"/>
          <p:cNvPicPr preferRelativeResize="0"/>
          <p:nvPr/>
        </p:nvPicPr>
        <p:blipFill rotWithShape="1">
          <a:blip r:embed="rId8">
            <a:alphaModFix/>
          </a:blip>
          <a:srcRect b="0" l="0" r="0" t="0"/>
          <a:stretch/>
        </p:blipFill>
        <p:spPr>
          <a:xfrm>
            <a:off x="357188" y="2957568"/>
            <a:ext cx="85725" cy="180017"/>
          </a:xfrm>
          <a:prstGeom prst="rect">
            <a:avLst/>
          </a:prstGeom>
          <a:noFill/>
          <a:ln>
            <a:noFill/>
          </a:ln>
        </p:spPr>
      </p:pic>
      <p:sp>
        <p:nvSpPr>
          <p:cNvPr id="183" name="Google Shape;183;p6"/>
          <p:cNvSpPr/>
          <p:nvPr/>
        </p:nvSpPr>
        <p:spPr>
          <a:xfrm>
            <a:off x="528638" y="2957568"/>
            <a:ext cx="1841385"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Example: BB84 protocol (1984)</a:t>
            </a:r>
            <a:endParaRPr b="0" i="0" sz="942" u="none" cap="none" strike="noStrike">
              <a:solidFill>
                <a:schemeClr val="dk1"/>
              </a:solidFill>
              <a:latin typeface="Calibri"/>
              <a:ea typeface="Calibri"/>
              <a:cs typeface="Calibri"/>
              <a:sym typeface="Calibri"/>
            </a:endParaRPr>
          </a:p>
        </p:txBody>
      </p:sp>
      <p:sp>
        <p:nvSpPr>
          <p:cNvPr id="184" name="Google Shape;184;p6"/>
          <p:cNvSpPr/>
          <p:nvPr/>
        </p:nvSpPr>
        <p:spPr>
          <a:xfrm>
            <a:off x="357188" y="3266173"/>
            <a:ext cx="3857625" cy="239316"/>
          </a:xfrm>
          <a:prstGeom prst="rect">
            <a:avLst/>
          </a:prstGeom>
          <a:noFill/>
          <a:ln>
            <a:noFill/>
          </a:ln>
        </p:spPr>
        <p:txBody>
          <a:bodyPr anchorCtr="0" anchor="t" bIns="0" lIns="0" spcFirstLastPara="1" rIns="0" wrap="square" tIns="68050">
            <a:spAutoFit/>
          </a:bodyPr>
          <a:lstStyle/>
          <a:p>
            <a:pPr indent="0" lvl="0" marL="0" marR="0" rtl="0" algn="l">
              <a:lnSpc>
                <a:spcPct val="135593"/>
              </a:lnSpc>
              <a:spcBef>
                <a:spcPts val="0"/>
              </a:spcBef>
              <a:spcAft>
                <a:spcPts val="0"/>
              </a:spcAft>
              <a:buClr>
                <a:srgbClr val="5A6069"/>
              </a:buClr>
              <a:buSzPts val="885"/>
              <a:buFont typeface="Calibri"/>
              <a:buNone/>
            </a:pPr>
            <a:r>
              <a:rPr b="1" i="0" lang="en-US" sz="885" u="none" cap="none" strike="noStrike">
                <a:solidFill>
                  <a:srgbClr val="5A6069"/>
                </a:solidFill>
                <a:latin typeface="Calibri"/>
                <a:ea typeface="Calibri"/>
                <a:cs typeface="Calibri"/>
                <a:sym typeface="Calibri"/>
              </a:rPr>
              <a:t>Status: Works in labs &amp; short fiber links</a:t>
            </a:r>
            <a:endParaRPr b="0" i="0" sz="885" u="none" cap="none" strike="noStrike">
              <a:solidFill>
                <a:schemeClr val="dk1"/>
              </a:solidFill>
              <a:latin typeface="Calibri"/>
              <a:ea typeface="Calibri"/>
              <a:cs typeface="Calibri"/>
              <a:sym typeface="Calibri"/>
            </a:endParaRPr>
          </a:p>
        </p:txBody>
      </p:sp>
      <p:pic>
        <p:nvPicPr>
          <p:cNvPr descr="preencoded.png" id="185" name="Google Shape;185;p6"/>
          <p:cNvPicPr preferRelativeResize="0"/>
          <p:nvPr/>
        </p:nvPicPr>
        <p:blipFill rotWithShape="1">
          <a:blip r:embed="rId9">
            <a:alphaModFix/>
          </a:blip>
          <a:srcRect b="0" l="0" r="0" t="0"/>
          <a:stretch/>
        </p:blipFill>
        <p:spPr>
          <a:xfrm>
            <a:off x="4979194" y="1435308"/>
            <a:ext cx="257175" cy="228600"/>
          </a:xfrm>
          <a:prstGeom prst="rect">
            <a:avLst/>
          </a:prstGeom>
          <a:noFill/>
          <a:ln>
            <a:noFill/>
          </a:ln>
        </p:spPr>
      </p:pic>
      <p:sp>
        <p:nvSpPr>
          <p:cNvPr id="186" name="Google Shape;186;p6"/>
          <p:cNvSpPr/>
          <p:nvPr/>
        </p:nvSpPr>
        <p:spPr>
          <a:xfrm>
            <a:off x="5414963" y="1432629"/>
            <a:ext cx="2987008"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4D5259"/>
              </a:buClr>
              <a:buSzPts val="1193"/>
              <a:buFont typeface="Calibri"/>
              <a:buNone/>
            </a:pPr>
            <a:r>
              <a:rPr b="1" i="0" lang="en-US" sz="1193" u="none" cap="none" strike="noStrike">
                <a:solidFill>
                  <a:srgbClr val="4D5259"/>
                </a:solidFill>
                <a:latin typeface="Calibri"/>
                <a:ea typeface="Calibri"/>
                <a:cs typeface="Calibri"/>
                <a:sym typeface="Calibri"/>
              </a:rPr>
              <a:t>Post-Quantum Cryptography (PQC)</a:t>
            </a:r>
            <a:endParaRPr b="0" i="0" sz="1193" u="none" cap="none" strike="noStrike">
              <a:solidFill>
                <a:schemeClr val="dk1"/>
              </a:solidFill>
              <a:latin typeface="Calibri"/>
              <a:ea typeface="Calibri"/>
              <a:cs typeface="Calibri"/>
              <a:sym typeface="Calibri"/>
            </a:endParaRPr>
          </a:p>
        </p:txBody>
      </p:sp>
      <p:pic>
        <p:nvPicPr>
          <p:cNvPr descr="preencoded.png" id="187" name="Google Shape;187;p6"/>
          <p:cNvPicPr preferRelativeResize="0"/>
          <p:nvPr/>
        </p:nvPicPr>
        <p:blipFill rotWithShape="1">
          <a:blip r:embed="rId5">
            <a:alphaModFix/>
          </a:blip>
          <a:srcRect b="0" l="0" r="0" t="0"/>
          <a:stretch/>
        </p:blipFill>
        <p:spPr>
          <a:xfrm>
            <a:off x="4929188" y="2008901"/>
            <a:ext cx="85725" cy="180017"/>
          </a:xfrm>
          <a:prstGeom prst="rect">
            <a:avLst/>
          </a:prstGeom>
          <a:noFill/>
          <a:ln>
            <a:noFill/>
          </a:ln>
        </p:spPr>
      </p:pic>
      <p:sp>
        <p:nvSpPr>
          <p:cNvPr id="188" name="Google Shape;188;p6"/>
          <p:cNvSpPr/>
          <p:nvPr/>
        </p:nvSpPr>
        <p:spPr>
          <a:xfrm>
            <a:off x="5100638" y="2008901"/>
            <a:ext cx="2344936"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Based on hard mathematical problems</a:t>
            </a:r>
            <a:endParaRPr b="0" i="0" sz="942" u="none" cap="none" strike="noStrike">
              <a:solidFill>
                <a:schemeClr val="dk1"/>
              </a:solidFill>
              <a:latin typeface="Calibri"/>
              <a:ea typeface="Calibri"/>
              <a:cs typeface="Calibri"/>
              <a:sym typeface="Calibri"/>
            </a:endParaRPr>
          </a:p>
        </p:txBody>
      </p:sp>
      <p:pic>
        <p:nvPicPr>
          <p:cNvPr descr="preencoded.png" id="189" name="Google Shape;189;p6"/>
          <p:cNvPicPr preferRelativeResize="0"/>
          <p:nvPr/>
        </p:nvPicPr>
        <p:blipFill rotWithShape="1">
          <a:blip r:embed="rId6">
            <a:alphaModFix/>
          </a:blip>
          <a:srcRect b="0" l="0" r="0" t="0"/>
          <a:stretch/>
        </p:blipFill>
        <p:spPr>
          <a:xfrm>
            <a:off x="4929188" y="2246068"/>
            <a:ext cx="85725" cy="180017"/>
          </a:xfrm>
          <a:prstGeom prst="rect">
            <a:avLst/>
          </a:prstGeom>
          <a:noFill/>
          <a:ln>
            <a:noFill/>
          </a:ln>
        </p:spPr>
      </p:pic>
      <p:sp>
        <p:nvSpPr>
          <p:cNvPr id="190" name="Google Shape;190;p6"/>
          <p:cNvSpPr/>
          <p:nvPr/>
        </p:nvSpPr>
        <p:spPr>
          <a:xfrm>
            <a:off x="5100638" y="2246068"/>
            <a:ext cx="2346861"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Runs on classical hardware (CPU, MCU)</a:t>
            </a:r>
            <a:endParaRPr b="0" i="0" sz="942" u="none" cap="none" strike="noStrike">
              <a:solidFill>
                <a:schemeClr val="dk1"/>
              </a:solidFill>
              <a:latin typeface="Calibri"/>
              <a:ea typeface="Calibri"/>
              <a:cs typeface="Calibri"/>
              <a:sym typeface="Calibri"/>
            </a:endParaRPr>
          </a:p>
        </p:txBody>
      </p:sp>
      <p:pic>
        <p:nvPicPr>
          <p:cNvPr descr="preencoded.png" id="191" name="Google Shape;191;p6"/>
          <p:cNvPicPr preferRelativeResize="0"/>
          <p:nvPr/>
        </p:nvPicPr>
        <p:blipFill rotWithShape="1">
          <a:blip r:embed="rId6">
            <a:alphaModFix/>
          </a:blip>
          <a:srcRect b="0" l="0" r="0" t="0"/>
          <a:stretch/>
        </p:blipFill>
        <p:spPr>
          <a:xfrm>
            <a:off x="4929188" y="2483234"/>
            <a:ext cx="85725" cy="180017"/>
          </a:xfrm>
          <a:prstGeom prst="rect">
            <a:avLst/>
          </a:prstGeom>
          <a:noFill/>
          <a:ln>
            <a:noFill/>
          </a:ln>
        </p:spPr>
      </p:pic>
      <p:sp>
        <p:nvSpPr>
          <p:cNvPr id="192" name="Google Shape;192;p6"/>
          <p:cNvSpPr/>
          <p:nvPr/>
        </p:nvSpPr>
        <p:spPr>
          <a:xfrm>
            <a:off x="5100638" y="2483234"/>
            <a:ext cx="2386989"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Resistant to quantum computer attacks</a:t>
            </a:r>
            <a:endParaRPr b="0" i="0" sz="942" u="none" cap="none" strike="noStrike">
              <a:solidFill>
                <a:schemeClr val="dk1"/>
              </a:solidFill>
              <a:latin typeface="Calibri"/>
              <a:ea typeface="Calibri"/>
              <a:cs typeface="Calibri"/>
              <a:sym typeface="Calibri"/>
            </a:endParaRPr>
          </a:p>
        </p:txBody>
      </p:sp>
      <p:pic>
        <p:nvPicPr>
          <p:cNvPr descr="preencoded.png" id="193" name="Google Shape;193;p6"/>
          <p:cNvPicPr preferRelativeResize="0"/>
          <p:nvPr/>
        </p:nvPicPr>
        <p:blipFill rotWithShape="1">
          <a:blip r:embed="rId7">
            <a:alphaModFix/>
          </a:blip>
          <a:srcRect b="0" l="0" r="0" t="0"/>
          <a:stretch/>
        </p:blipFill>
        <p:spPr>
          <a:xfrm>
            <a:off x="4929188" y="2720401"/>
            <a:ext cx="85725" cy="180017"/>
          </a:xfrm>
          <a:prstGeom prst="rect">
            <a:avLst/>
          </a:prstGeom>
          <a:noFill/>
          <a:ln>
            <a:noFill/>
          </a:ln>
        </p:spPr>
      </p:pic>
      <p:sp>
        <p:nvSpPr>
          <p:cNvPr id="194" name="Google Shape;194;p6"/>
          <p:cNvSpPr/>
          <p:nvPr/>
        </p:nvSpPr>
        <p:spPr>
          <a:xfrm>
            <a:off x="5100638" y="2720401"/>
            <a:ext cx="2776742"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NIST standardized in 2024 (FIPS 203, 204, 206)</a:t>
            </a:r>
            <a:endParaRPr b="0" i="0" sz="942" u="none" cap="none" strike="noStrike">
              <a:solidFill>
                <a:schemeClr val="dk1"/>
              </a:solidFill>
              <a:latin typeface="Calibri"/>
              <a:ea typeface="Calibri"/>
              <a:cs typeface="Calibri"/>
              <a:sym typeface="Calibri"/>
            </a:endParaRPr>
          </a:p>
        </p:txBody>
      </p:sp>
      <p:pic>
        <p:nvPicPr>
          <p:cNvPr descr="preencoded.png" id="195" name="Google Shape;195;p6"/>
          <p:cNvPicPr preferRelativeResize="0"/>
          <p:nvPr/>
        </p:nvPicPr>
        <p:blipFill rotWithShape="1">
          <a:blip r:embed="rId8">
            <a:alphaModFix/>
          </a:blip>
          <a:srcRect b="0" l="0" r="0" t="0"/>
          <a:stretch/>
        </p:blipFill>
        <p:spPr>
          <a:xfrm>
            <a:off x="4929188" y="2957568"/>
            <a:ext cx="85725" cy="180017"/>
          </a:xfrm>
          <a:prstGeom prst="rect">
            <a:avLst/>
          </a:prstGeom>
          <a:noFill/>
          <a:ln>
            <a:noFill/>
          </a:ln>
        </p:spPr>
      </p:pic>
      <p:sp>
        <p:nvSpPr>
          <p:cNvPr id="196" name="Google Shape;196;p6"/>
          <p:cNvSpPr/>
          <p:nvPr/>
        </p:nvSpPr>
        <p:spPr>
          <a:xfrm>
            <a:off x="5100638" y="2957568"/>
            <a:ext cx="2138158" cy="180017"/>
          </a:xfrm>
          <a:prstGeom prst="rect">
            <a:avLst/>
          </a:prstGeom>
          <a:noFill/>
          <a:ln>
            <a:noFill/>
          </a:ln>
        </p:spPr>
        <p:txBody>
          <a:bodyPr anchorCtr="0" anchor="t" bIns="0" lIns="0" spcFirstLastPara="1" rIns="0" wrap="square" tIns="0">
            <a:spAutoFit/>
          </a:bodyPr>
          <a:lstStyle/>
          <a:p>
            <a:pPr indent="0" lvl="0" marL="0" marR="0" rtl="0" algn="l">
              <a:lnSpc>
                <a:spcPct val="148619"/>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Examples: ML-KEM, ML-DSA, Falcon</a:t>
            </a:r>
            <a:endParaRPr b="0" i="0" sz="942" u="none" cap="none" strike="noStrike">
              <a:solidFill>
                <a:schemeClr val="dk1"/>
              </a:solidFill>
              <a:latin typeface="Calibri"/>
              <a:ea typeface="Calibri"/>
              <a:cs typeface="Calibri"/>
              <a:sym typeface="Calibri"/>
            </a:endParaRPr>
          </a:p>
        </p:txBody>
      </p:sp>
      <p:sp>
        <p:nvSpPr>
          <p:cNvPr id="197" name="Google Shape;197;p6"/>
          <p:cNvSpPr/>
          <p:nvPr/>
        </p:nvSpPr>
        <p:spPr>
          <a:xfrm>
            <a:off x="4929188" y="3266173"/>
            <a:ext cx="3857625" cy="239316"/>
          </a:xfrm>
          <a:prstGeom prst="rect">
            <a:avLst/>
          </a:prstGeom>
          <a:noFill/>
          <a:ln>
            <a:noFill/>
          </a:ln>
        </p:spPr>
        <p:txBody>
          <a:bodyPr anchorCtr="0" anchor="t" bIns="0" lIns="0" spcFirstLastPara="1" rIns="0" wrap="square" tIns="68050">
            <a:spAutoFit/>
          </a:bodyPr>
          <a:lstStyle/>
          <a:p>
            <a:pPr indent="0" lvl="0" marL="0" marR="0" rtl="0" algn="l">
              <a:lnSpc>
                <a:spcPct val="135593"/>
              </a:lnSpc>
              <a:spcBef>
                <a:spcPts val="0"/>
              </a:spcBef>
              <a:spcAft>
                <a:spcPts val="0"/>
              </a:spcAft>
              <a:buClr>
                <a:srgbClr val="00A651"/>
              </a:buClr>
              <a:buSzPts val="885"/>
              <a:buFont typeface="Calibri"/>
              <a:buNone/>
            </a:pPr>
            <a:r>
              <a:rPr b="1" i="0" lang="en-US" sz="885" u="none" cap="none" strike="noStrike">
                <a:solidFill>
                  <a:srgbClr val="00A651"/>
                </a:solidFill>
                <a:latin typeface="Calibri"/>
                <a:ea typeface="Calibri"/>
                <a:cs typeface="Calibri"/>
                <a:sym typeface="Calibri"/>
              </a:rPr>
              <a:t>Status: READY FOR DEPLOYMENT NOW</a:t>
            </a:r>
            <a:endParaRPr b="0" i="0" sz="885" u="none" cap="none" strike="noStrike">
              <a:solidFill>
                <a:schemeClr val="dk1"/>
              </a:solidFill>
              <a:latin typeface="Calibri"/>
              <a:ea typeface="Calibri"/>
              <a:cs typeface="Calibri"/>
              <a:sym typeface="Calibri"/>
            </a:endParaRPr>
          </a:p>
        </p:txBody>
      </p:sp>
      <p:sp>
        <p:nvSpPr>
          <p:cNvPr id="198" name="Google Shape;198;p6"/>
          <p:cNvSpPr/>
          <p:nvPr/>
        </p:nvSpPr>
        <p:spPr>
          <a:xfrm>
            <a:off x="357188" y="4000500"/>
            <a:ext cx="8429625" cy="428625"/>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357188" y="4000500"/>
            <a:ext cx="35719" cy="428625"/>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357188" y="4000500"/>
            <a:ext cx="8429625" cy="428625"/>
          </a:xfrm>
          <a:prstGeom prst="rect">
            <a:avLst/>
          </a:prstGeom>
          <a:noFill/>
          <a:ln>
            <a:noFill/>
          </a:ln>
        </p:spPr>
        <p:txBody>
          <a:bodyPr anchorCtr="0" anchor="t" bIns="0" lIns="204075" spcFirstLastPara="1" rIns="0" wrap="square" tIns="102100">
            <a:spAutoFit/>
          </a:bodyPr>
          <a:lstStyle/>
          <a:p>
            <a:pPr indent="0" lvl="0" marL="0" marR="0" rtl="0" algn="l">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This project focuses on PQC — the only practical solution for embedded automotive systems.</a:t>
            </a:r>
            <a:endParaRPr b="0" i="0" sz="987"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preencoded.png" id="206" name="Google Shape;206;p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07" name="Google Shape;207;p7"/>
          <p:cNvSpPr/>
          <p:nvPr/>
        </p:nvSpPr>
        <p:spPr>
          <a:xfrm>
            <a:off x="821531" y="438894"/>
            <a:ext cx="5422190"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How BB84 Works </a:t>
            </a:r>
            <a:endParaRPr b="0" i="0" sz="1602" u="none" cap="none" strike="noStrike">
              <a:solidFill>
                <a:schemeClr val="dk1"/>
              </a:solidFill>
              <a:latin typeface="Calibri"/>
              <a:ea typeface="Calibri"/>
              <a:cs typeface="Calibri"/>
              <a:sym typeface="Calibri"/>
            </a:endParaRPr>
          </a:p>
        </p:txBody>
      </p:sp>
      <p:sp>
        <p:nvSpPr>
          <p:cNvPr id="208" name="Google Shape;208;p7"/>
          <p:cNvSpPr/>
          <p:nvPr/>
        </p:nvSpPr>
        <p:spPr>
          <a:xfrm>
            <a:off x="1114062" y="1333202"/>
            <a:ext cx="486501" cy="192881"/>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1114062" y="1333202"/>
            <a:ext cx="486501" cy="192881"/>
          </a:xfrm>
          <a:prstGeom prst="rect">
            <a:avLst/>
          </a:prstGeom>
          <a:noFill/>
          <a:ln>
            <a:noFill/>
          </a:ln>
        </p:spPr>
        <p:txBody>
          <a:bodyPr anchorCtr="0" anchor="t" bIns="34025" lIns="102100" spcFirstLastPara="1" rIns="102100" wrap="square" tIns="34025">
            <a:spAutoFit/>
          </a:bodyPr>
          <a:lstStyle/>
          <a:p>
            <a:pPr indent="0" lvl="0" marL="0" marR="0" rtl="0" algn="ctr">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STEP 1</a:t>
            </a:r>
            <a:endParaRPr b="0" i="0" sz="683" u="none" cap="none" strike="noStrike">
              <a:solidFill>
                <a:schemeClr val="dk1"/>
              </a:solidFill>
              <a:latin typeface="Calibri"/>
              <a:ea typeface="Calibri"/>
              <a:cs typeface="Calibri"/>
              <a:sym typeface="Calibri"/>
            </a:endParaRPr>
          </a:p>
        </p:txBody>
      </p:sp>
      <p:sp>
        <p:nvSpPr>
          <p:cNvPr id="210" name="Google Shape;210;p7"/>
          <p:cNvSpPr/>
          <p:nvPr/>
        </p:nvSpPr>
        <p:spPr>
          <a:xfrm>
            <a:off x="1071563" y="1668959"/>
            <a:ext cx="571500" cy="5715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1" name="Google Shape;211;p7"/>
          <p:cNvPicPr preferRelativeResize="0"/>
          <p:nvPr/>
        </p:nvPicPr>
        <p:blipFill rotWithShape="1">
          <a:blip r:embed="rId4">
            <a:alphaModFix/>
          </a:blip>
          <a:srcRect b="0" l="0" r="0" t="0"/>
          <a:stretch/>
        </p:blipFill>
        <p:spPr>
          <a:xfrm>
            <a:off x="1214438" y="1811834"/>
            <a:ext cx="285750" cy="285750"/>
          </a:xfrm>
          <a:prstGeom prst="rect">
            <a:avLst/>
          </a:prstGeom>
          <a:noFill/>
          <a:ln>
            <a:noFill/>
          </a:ln>
        </p:spPr>
      </p:pic>
      <p:sp>
        <p:nvSpPr>
          <p:cNvPr id="212" name="Google Shape;212;p7"/>
          <p:cNvSpPr/>
          <p:nvPr/>
        </p:nvSpPr>
        <p:spPr>
          <a:xfrm>
            <a:off x="645421" y="2383334"/>
            <a:ext cx="1423755" cy="357188"/>
          </a:xfrm>
          <a:prstGeom prst="rect">
            <a:avLst/>
          </a:prstGeom>
          <a:noFill/>
          <a:ln>
            <a:noFill/>
          </a:ln>
        </p:spPr>
        <p:txBody>
          <a:bodyPr anchorCtr="0" anchor="t" bIns="0" lIns="0" spcFirstLastPara="1" rIns="0" wrap="square" tIns="0">
            <a:spAutoFit/>
          </a:bodyPr>
          <a:lstStyle/>
          <a:p>
            <a:pPr indent="0" lvl="0" marL="0" marR="0" rtl="0" algn="ctr">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Alice Sends Photons</a:t>
            </a:r>
            <a:endParaRPr b="0" i="0" sz="987" u="none" cap="none" strike="noStrike">
              <a:solidFill>
                <a:schemeClr val="dk1"/>
              </a:solidFill>
              <a:latin typeface="Calibri"/>
              <a:ea typeface="Calibri"/>
              <a:cs typeface="Calibri"/>
              <a:sym typeface="Calibri"/>
            </a:endParaRPr>
          </a:p>
        </p:txBody>
      </p:sp>
      <p:sp>
        <p:nvSpPr>
          <p:cNvPr id="213" name="Google Shape;213;p7"/>
          <p:cNvSpPr/>
          <p:nvPr/>
        </p:nvSpPr>
        <p:spPr>
          <a:xfrm>
            <a:off x="714375" y="3054846"/>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14" name="Google Shape;214;p7"/>
          <p:cNvSpPr/>
          <p:nvPr/>
        </p:nvSpPr>
        <p:spPr>
          <a:xfrm>
            <a:off x="821531" y="3056632"/>
            <a:ext cx="1242678" cy="315385"/>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Encodes bits as photon polarizations</a:t>
            </a:r>
            <a:endParaRPr b="0" i="0" sz="834" u="none" cap="none" strike="noStrike">
              <a:solidFill>
                <a:schemeClr val="dk1"/>
              </a:solidFill>
              <a:latin typeface="Calibri"/>
              <a:ea typeface="Calibri"/>
              <a:cs typeface="Calibri"/>
              <a:sym typeface="Calibri"/>
            </a:endParaRPr>
          </a:p>
        </p:txBody>
      </p:sp>
      <p:sp>
        <p:nvSpPr>
          <p:cNvPr id="215" name="Google Shape;215;p7"/>
          <p:cNvSpPr/>
          <p:nvPr/>
        </p:nvSpPr>
        <p:spPr>
          <a:xfrm>
            <a:off x="714375" y="3432014"/>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16" name="Google Shape;216;p7"/>
          <p:cNvSpPr/>
          <p:nvPr/>
        </p:nvSpPr>
        <p:spPr>
          <a:xfrm>
            <a:off x="821531" y="3433800"/>
            <a:ext cx="1386808" cy="475394"/>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Uses random bases: Rectilinear (+) or Diagonal (×)</a:t>
            </a:r>
            <a:endParaRPr b="0" i="0" sz="834" u="none" cap="none" strike="noStrike">
              <a:solidFill>
                <a:schemeClr val="dk1"/>
              </a:solidFill>
              <a:latin typeface="Calibri"/>
              <a:ea typeface="Calibri"/>
              <a:cs typeface="Calibri"/>
              <a:sym typeface="Calibri"/>
            </a:endParaRPr>
          </a:p>
        </p:txBody>
      </p:sp>
      <p:sp>
        <p:nvSpPr>
          <p:cNvPr id="217" name="Google Shape;217;p7"/>
          <p:cNvSpPr/>
          <p:nvPr/>
        </p:nvSpPr>
        <p:spPr>
          <a:xfrm>
            <a:off x="714375" y="3969190"/>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18" name="Google Shape;218;p7"/>
          <p:cNvSpPr/>
          <p:nvPr/>
        </p:nvSpPr>
        <p:spPr>
          <a:xfrm>
            <a:off x="821531" y="3970976"/>
            <a:ext cx="1434833" cy="155377"/>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States: 0°, 45°, 90°, or 135°</a:t>
            </a:r>
            <a:endParaRPr b="0" i="0" sz="834" u="none" cap="none" strike="noStrike">
              <a:solidFill>
                <a:schemeClr val="dk1"/>
              </a:solidFill>
              <a:latin typeface="Calibri"/>
              <a:ea typeface="Calibri"/>
              <a:cs typeface="Calibri"/>
              <a:sym typeface="Calibri"/>
            </a:endParaRPr>
          </a:p>
        </p:txBody>
      </p:sp>
      <p:sp>
        <p:nvSpPr>
          <p:cNvPr id="219" name="Google Shape;219;p7"/>
          <p:cNvSpPr/>
          <p:nvPr/>
        </p:nvSpPr>
        <p:spPr>
          <a:xfrm>
            <a:off x="3257187" y="1333202"/>
            <a:ext cx="486501" cy="192881"/>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7"/>
          <p:cNvSpPr/>
          <p:nvPr/>
        </p:nvSpPr>
        <p:spPr>
          <a:xfrm>
            <a:off x="3257187" y="1333202"/>
            <a:ext cx="486501" cy="192881"/>
          </a:xfrm>
          <a:prstGeom prst="rect">
            <a:avLst/>
          </a:prstGeom>
          <a:noFill/>
          <a:ln>
            <a:noFill/>
          </a:ln>
        </p:spPr>
        <p:txBody>
          <a:bodyPr anchorCtr="0" anchor="t" bIns="34025" lIns="102100" spcFirstLastPara="1" rIns="102100" wrap="square" tIns="34025">
            <a:spAutoFit/>
          </a:bodyPr>
          <a:lstStyle/>
          <a:p>
            <a:pPr indent="0" lvl="0" marL="0" marR="0" rtl="0" algn="ctr">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STEP 2</a:t>
            </a:r>
            <a:endParaRPr b="0" i="0" sz="683" u="none" cap="none" strike="noStrike">
              <a:solidFill>
                <a:schemeClr val="dk1"/>
              </a:solidFill>
              <a:latin typeface="Calibri"/>
              <a:ea typeface="Calibri"/>
              <a:cs typeface="Calibri"/>
              <a:sym typeface="Calibri"/>
            </a:endParaRPr>
          </a:p>
        </p:txBody>
      </p:sp>
      <p:sp>
        <p:nvSpPr>
          <p:cNvPr id="221" name="Google Shape;221;p7"/>
          <p:cNvSpPr/>
          <p:nvPr/>
        </p:nvSpPr>
        <p:spPr>
          <a:xfrm>
            <a:off x="3214688" y="1668959"/>
            <a:ext cx="571500" cy="5715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7"/>
          <p:cNvPicPr preferRelativeResize="0"/>
          <p:nvPr/>
        </p:nvPicPr>
        <p:blipFill rotWithShape="1">
          <a:blip r:embed="rId5">
            <a:alphaModFix/>
          </a:blip>
          <a:srcRect b="0" l="0" r="0" t="0"/>
          <a:stretch/>
        </p:blipFill>
        <p:spPr>
          <a:xfrm>
            <a:off x="3339703" y="1811834"/>
            <a:ext cx="321469" cy="285750"/>
          </a:xfrm>
          <a:prstGeom prst="rect">
            <a:avLst/>
          </a:prstGeom>
          <a:noFill/>
          <a:ln>
            <a:noFill/>
          </a:ln>
        </p:spPr>
      </p:pic>
      <p:sp>
        <p:nvSpPr>
          <p:cNvPr id="223" name="Google Shape;223;p7"/>
          <p:cNvSpPr/>
          <p:nvPr/>
        </p:nvSpPr>
        <p:spPr>
          <a:xfrm>
            <a:off x="3000515" y="2383334"/>
            <a:ext cx="999846" cy="357188"/>
          </a:xfrm>
          <a:prstGeom prst="rect">
            <a:avLst/>
          </a:prstGeom>
          <a:noFill/>
          <a:ln>
            <a:noFill/>
          </a:ln>
        </p:spPr>
        <p:txBody>
          <a:bodyPr anchorCtr="0" anchor="t" bIns="0" lIns="0" spcFirstLastPara="1" rIns="0" wrap="square" tIns="0">
            <a:spAutoFit/>
          </a:bodyPr>
          <a:lstStyle/>
          <a:p>
            <a:pPr indent="0" lvl="0" marL="0" marR="0" rtl="0" algn="ctr">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Bob Measures</a:t>
            </a:r>
            <a:endParaRPr b="0" i="0" sz="987" u="none" cap="none" strike="noStrike">
              <a:solidFill>
                <a:schemeClr val="dk1"/>
              </a:solidFill>
              <a:latin typeface="Calibri"/>
              <a:ea typeface="Calibri"/>
              <a:cs typeface="Calibri"/>
              <a:sym typeface="Calibri"/>
            </a:endParaRPr>
          </a:p>
        </p:txBody>
      </p:sp>
      <p:sp>
        <p:nvSpPr>
          <p:cNvPr id="224" name="Google Shape;224;p7"/>
          <p:cNvSpPr/>
          <p:nvPr/>
        </p:nvSpPr>
        <p:spPr>
          <a:xfrm>
            <a:off x="2857500" y="3054846"/>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25" name="Google Shape;225;p7"/>
          <p:cNvSpPr/>
          <p:nvPr/>
        </p:nvSpPr>
        <p:spPr>
          <a:xfrm>
            <a:off x="2964656" y="3056632"/>
            <a:ext cx="1404417" cy="315385"/>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Randomly chooses a basis to measure each photon</a:t>
            </a:r>
            <a:endParaRPr b="0" i="0" sz="834" u="none" cap="none" strike="noStrike">
              <a:solidFill>
                <a:schemeClr val="dk1"/>
              </a:solidFill>
              <a:latin typeface="Calibri"/>
              <a:ea typeface="Calibri"/>
              <a:cs typeface="Calibri"/>
              <a:sym typeface="Calibri"/>
            </a:endParaRPr>
          </a:p>
        </p:txBody>
      </p:sp>
      <p:sp>
        <p:nvSpPr>
          <p:cNvPr id="226" name="Google Shape;226;p7"/>
          <p:cNvSpPr/>
          <p:nvPr/>
        </p:nvSpPr>
        <p:spPr>
          <a:xfrm>
            <a:off x="2857500" y="3432014"/>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27" name="Google Shape;227;p7"/>
          <p:cNvSpPr/>
          <p:nvPr/>
        </p:nvSpPr>
        <p:spPr>
          <a:xfrm>
            <a:off x="2964656" y="3433800"/>
            <a:ext cx="1291037" cy="155377"/>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Same basis = Correct bit</a:t>
            </a:r>
            <a:endParaRPr b="0" i="0" sz="834" u="none" cap="none" strike="noStrike">
              <a:solidFill>
                <a:schemeClr val="dk1"/>
              </a:solidFill>
              <a:latin typeface="Calibri"/>
              <a:ea typeface="Calibri"/>
              <a:cs typeface="Calibri"/>
              <a:sym typeface="Calibri"/>
            </a:endParaRPr>
          </a:p>
        </p:txBody>
      </p:sp>
      <p:sp>
        <p:nvSpPr>
          <p:cNvPr id="228" name="Google Shape;228;p7"/>
          <p:cNvSpPr/>
          <p:nvPr/>
        </p:nvSpPr>
        <p:spPr>
          <a:xfrm>
            <a:off x="2857500" y="3649173"/>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29" name="Google Shape;229;p7"/>
          <p:cNvSpPr/>
          <p:nvPr/>
        </p:nvSpPr>
        <p:spPr>
          <a:xfrm>
            <a:off x="2964656" y="3650959"/>
            <a:ext cx="1433689" cy="315385"/>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Different basis = 50% error rate</a:t>
            </a:r>
            <a:endParaRPr b="0" i="0" sz="834" u="none" cap="none" strike="noStrike">
              <a:solidFill>
                <a:schemeClr val="dk1"/>
              </a:solidFill>
              <a:latin typeface="Calibri"/>
              <a:ea typeface="Calibri"/>
              <a:cs typeface="Calibri"/>
              <a:sym typeface="Calibri"/>
            </a:endParaRPr>
          </a:p>
        </p:txBody>
      </p:sp>
      <p:sp>
        <p:nvSpPr>
          <p:cNvPr id="230" name="Google Shape;230;p7"/>
          <p:cNvSpPr/>
          <p:nvPr/>
        </p:nvSpPr>
        <p:spPr>
          <a:xfrm>
            <a:off x="5400312" y="1333202"/>
            <a:ext cx="486501" cy="192881"/>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5400312" y="1333202"/>
            <a:ext cx="486501" cy="192881"/>
          </a:xfrm>
          <a:prstGeom prst="rect">
            <a:avLst/>
          </a:prstGeom>
          <a:noFill/>
          <a:ln>
            <a:noFill/>
          </a:ln>
        </p:spPr>
        <p:txBody>
          <a:bodyPr anchorCtr="0" anchor="t" bIns="34025" lIns="102100" spcFirstLastPara="1" rIns="102100" wrap="square" tIns="34025">
            <a:spAutoFit/>
          </a:bodyPr>
          <a:lstStyle/>
          <a:p>
            <a:pPr indent="0" lvl="0" marL="0" marR="0" rtl="0" algn="ctr">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STEP 3</a:t>
            </a:r>
            <a:endParaRPr b="0" i="0" sz="683" u="none" cap="none" strike="noStrike">
              <a:solidFill>
                <a:schemeClr val="dk1"/>
              </a:solidFill>
              <a:latin typeface="Calibri"/>
              <a:ea typeface="Calibri"/>
              <a:cs typeface="Calibri"/>
              <a:sym typeface="Calibri"/>
            </a:endParaRPr>
          </a:p>
        </p:txBody>
      </p:sp>
      <p:sp>
        <p:nvSpPr>
          <p:cNvPr id="232" name="Google Shape;232;p7"/>
          <p:cNvSpPr/>
          <p:nvPr/>
        </p:nvSpPr>
        <p:spPr>
          <a:xfrm>
            <a:off x="5357813" y="1668959"/>
            <a:ext cx="571500" cy="5715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3" name="Google Shape;233;p7"/>
          <p:cNvPicPr preferRelativeResize="0"/>
          <p:nvPr/>
        </p:nvPicPr>
        <p:blipFill rotWithShape="1">
          <a:blip r:embed="rId6">
            <a:alphaModFix/>
          </a:blip>
          <a:srcRect b="0" l="0" r="0" t="0"/>
          <a:stretch/>
        </p:blipFill>
        <p:spPr>
          <a:xfrm>
            <a:off x="5464969" y="1811834"/>
            <a:ext cx="357188" cy="285750"/>
          </a:xfrm>
          <a:prstGeom prst="rect">
            <a:avLst/>
          </a:prstGeom>
          <a:noFill/>
          <a:ln>
            <a:noFill/>
          </a:ln>
        </p:spPr>
      </p:pic>
      <p:sp>
        <p:nvSpPr>
          <p:cNvPr id="234" name="Google Shape;234;p7"/>
          <p:cNvSpPr/>
          <p:nvPr/>
        </p:nvSpPr>
        <p:spPr>
          <a:xfrm>
            <a:off x="4934601" y="2383334"/>
            <a:ext cx="1417895" cy="357188"/>
          </a:xfrm>
          <a:prstGeom prst="rect">
            <a:avLst/>
          </a:prstGeom>
          <a:noFill/>
          <a:ln>
            <a:noFill/>
          </a:ln>
        </p:spPr>
        <p:txBody>
          <a:bodyPr anchorCtr="0" anchor="t" bIns="0" lIns="0" spcFirstLastPara="1" rIns="0" wrap="square" tIns="0">
            <a:spAutoFit/>
          </a:bodyPr>
          <a:lstStyle/>
          <a:p>
            <a:pPr indent="0" lvl="0" marL="0" marR="0" rtl="0" algn="ctr">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Basis Reconciliation</a:t>
            </a:r>
            <a:endParaRPr b="0" i="0" sz="987" u="none" cap="none" strike="noStrike">
              <a:solidFill>
                <a:schemeClr val="dk1"/>
              </a:solidFill>
              <a:latin typeface="Calibri"/>
              <a:ea typeface="Calibri"/>
              <a:cs typeface="Calibri"/>
              <a:sym typeface="Calibri"/>
            </a:endParaRPr>
          </a:p>
        </p:txBody>
      </p:sp>
      <p:sp>
        <p:nvSpPr>
          <p:cNvPr id="235" name="Google Shape;235;p7"/>
          <p:cNvSpPr/>
          <p:nvPr/>
        </p:nvSpPr>
        <p:spPr>
          <a:xfrm>
            <a:off x="5000625" y="3054846"/>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36" name="Google Shape;236;p7"/>
          <p:cNvSpPr/>
          <p:nvPr/>
        </p:nvSpPr>
        <p:spPr>
          <a:xfrm>
            <a:off x="5107781" y="3056632"/>
            <a:ext cx="1395375" cy="315385"/>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Compare bases over classical channel (not bits)</a:t>
            </a:r>
            <a:endParaRPr b="0" i="0" sz="834" u="none" cap="none" strike="noStrike">
              <a:solidFill>
                <a:schemeClr val="dk1"/>
              </a:solidFill>
              <a:latin typeface="Calibri"/>
              <a:ea typeface="Calibri"/>
              <a:cs typeface="Calibri"/>
              <a:sym typeface="Calibri"/>
            </a:endParaRPr>
          </a:p>
        </p:txBody>
      </p:sp>
      <p:sp>
        <p:nvSpPr>
          <p:cNvPr id="237" name="Google Shape;237;p7"/>
          <p:cNvSpPr/>
          <p:nvPr/>
        </p:nvSpPr>
        <p:spPr>
          <a:xfrm>
            <a:off x="5000625" y="3432014"/>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38" name="Google Shape;238;p7"/>
          <p:cNvSpPr/>
          <p:nvPr/>
        </p:nvSpPr>
        <p:spPr>
          <a:xfrm>
            <a:off x="5107781" y="3433800"/>
            <a:ext cx="1197639" cy="315385"/>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Keep bits where bases matched</a:t>
            </a:r>
            <a:endParaRPr b="0" i="0" sz="834" u="none" cap="none" strike="noStrike">
              <a:solidFill>
                <a:schemeClr val="dk1"/>
              </a:solidFill>
              <a:latin typeface="Calibri"/>
              <a:ea typeface="Calibri"/>
              <a:cs typeface="Calibri"/>
              <a:sym typeface="Calibri"/>
            </a:endParaRPr>
          </a:p>
        </p:txBody>
      </p:sp>
      <p:sp>
        <p:nvSpPr>
          <p:cNvPr id="239" name="Google Shape;239;p7"/>
          <p:cNvSpPr/>
          <p:nvPr/>
        </p:nvSpPr>
        <p:spPr>
          <a:xfrm>
            <a:off x="5000625" y="3809181"/>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40" name="Google Shape;240;p7"/>
          <p:cNvSpPr/>
          <p:nvPr/>
        </p:nvSpPr>
        <p:spPr>
          <a:xfrm>
            <a:off x="5107781" y="3810967"/>
            <a:ext cx="1334932" cy="155377"/>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Result: Shared secret key</a:t>
            </a:r>
            <a:endParaRPr b="0" i="0" sz="834" u="none" cap="none" strike="noStrike">
              <a:solidFill>
                <a:schemeClr val="dk1"/>
              </a:solidFill>
              <a:latin typeface="Calibri"/>
              <a:ea typeface="Calibri"/>
              <a:cs typeface="Calibri"/>
              <a:sym typeface="Calibri"/>
            </a:endParaRPr>
          </a:p>
        </p:txBody>
      </p:sp>
      <p:sp>
        <p:nvSpPr>
          <p:cNvPr id="241" name="Google Shape;241;p7"/>
          <p:cNvSpPr/>
          <p:nvPr/>
        </p:nvSpPr>
        <p:spPr>
          <a:xfrm>
            <a:off x="7543437" y="1333202"/>
            <a:ext cx="486501" cy="192881"/>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7543437" y="1333202"/>
            <a:ext cx="486501" cy="192881"/>
          </a:xfrm>
          <a:prstGeom prst="rect">
            <a:avLst/>
          </a:prstGeom>
          <a:noFill/>
          <a:ln>
            <a:noFill/>
          </a:ln>
        </p:spPr>
        <p:txBody>
          <a:bodyPr anchorCtr="0" anchor="t" bIns="34025" lIns="102100" spcFirstLastPara="1" rIns="102100" wrap="square" tIns="34025">
            <a:spAutoFit/>
          </a:bodyPr>
          <a:lstStyle/>
          <a:p>
            <a:pPr indent="0" lvl="0" marL="0" marR="0" rtl="0" algn="ctr">
              <a:lnSpc>
                <a:spcPct val="131771"/>
              </a:lnSpc>
              <a:spcBef>
                <a:spcPts val="0"/>
              </a:spcBef>
              <a:spcAft>
                <a:spcPts val="0"/>
              </a:spcAft>
              <a:buClr>
                <a:srgbClr val="FFFFFF"/>
              </a:buClr>
              <a:buSzPts val="683"/>
              <a:buFont typeface="Calibri"/>
              <a:buNone/>
            </a:pPr>
            <a:r>
              <a:rPr b="1" i="0" lang="en-US" sz="683" u="none" cap="none" strike="noStrike">
                <a:solidFill>
                  <a:srgbClr val="FFFFFF"/>
                </a:solidFill>
                <a:latin typeface="Calibri"/>
                <a:ea typeface="Calibri"/>
                <a:cs typeface="Calibri"/>
                <a:sym typeface="Calibri"/>
              </a:rPr>
              <a:t>STEP 4</a:t>
            </a:r>
            <a:endParaRPr b="0" i="0" sz="683" u="none" cap="none" strike="noStrike">
              <a:solidFill>
                <a:schemeClr val="dk1"/>
              </a:solidFill>
              <a:latin typeface="Calibri"/>
              <a:ea typeface="Calibri"/>
              <a:cs typeface="Calibri"/>
              <a:sym typeface="Calibri"/>
            </a:endParaRPr>
          </a:p>
        </p:txBody>
      </p:sp>
      <p:sp>
        <p:nvSpPr>
          <p:cNvPr id="243" name="Google Shape;243;p7"/>
          <p:cNvSpPr/>
          <p:nvPr/>
        </p:nvSpPr>
        <p:spPr>
          <a:xfrm>
            <a:off x="7500938" y="1668959"/>
            <a:ext cx="571500" cy="5715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4" name="Google Shape;244;p7"/>
          <p:cNvPicPr preferRelativeResize="0"/>
          <p:nvPr/>
        </p:nvPicPr>
        <p:blipFill rotWithShape="1">
          <a:blip r:embed="rId7">
            <a:alphaModFix/>
          </a:blip>
          <a:srcRect b="0" l="0" r="0" t="0"/>
          <a:stretch/>
        </p:blipFill>
        <p:spPr>
          <a:xfrm>
            <a:off x="7661672" y="1811834"/>
            <a:ext cx="250031" cy="285750"/>
          </a:xfrm>
          <a:prstGeom prst="rect">
            <a:avLst/>
          </a:prstGeom>
          <a:noFill/>
          <a:ln>
            <a:noFill/>
          </a:ln>
        </p:spPr>
      </p:pic>
      <p:sp>
        <p:nvSpPr>
          <p:cNvPr id="245" name="Google Shape;245;p7"/>
          <p:cNvSpPr/>
          <p:nvPr/>
        </p:nvSpPr>
        <p:spPr>
          <a:xfrm>
            <a:off x="6892770" y="2383334"/>
            <a:ext cx="1787807" cy="357188"/>
          </a:xfrm>
          <a:prstGeom prst="rect">
            <a:avLst/>
          </a:prstGeom>
          <a:noFill/>
          <a:ln>
            <a:noFill/>
          </a:ln>
        </p:spPr>
        <p:txBody>
          <a:bodyPr anchorCtr="0" anchor="t" bIns="0" lIns="0" spcFirstLastPara="1" rIns="0" wrap="square" tIns="0">
            <a:spAutoFit/>
          </a:bodyPr>
          <a:lstStyle/>
          <a:p>
            <a:pPr indent="0" lvl="0" marL="0" marR="0" rtl="0" algn="ctr">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Eavesdropping Detection</a:t>
            </a:r>
            <a:endParaRPr b="0" i="0" sz="987" u="none" cap="none" strike="noStrike">
              <a:solidFill>
                <a:schemeClr val="dk1"/>
              </a:solidFill>
              <a:latin typeface="Calibri"/>
              <a:ea typeface="Calibri"/>
              <a:cs typeface="Calibri"/>
              <a:sym typeface="Calibri"/>
            </a:endParaRPr>
          </a:p>
        </p:txBody>
      </p:sp>
      <p:sp>
        <p:nvSpPr>
          <p:cNvPr id="246" name="Google Shape;246;p7"/>
          <p:cNvSpPr/>
          <p:nvPr/>
        </p:nvSpPr>
        <p:spPr>
          <a:xfrm>
            <a:off x="7143750" y="3054846"/>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47" name="Google Shape;247;p7"/>
          <p:cNvSpPr/>
          <p:nvPr/>
        </p:nvSpPr>
        <p:spPr>
          <a:xfrm>
            <a:off x="7250906" y="3056632"/>
            <a:ext cx="1168952" cy="475394"/>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Eve's measurement disturbs the quantum state</a:t>
            </a:r>
            <a:endParaRPr b="0" i="0" sz="834" u="none" cap="none" strike="noStrike">
              <a:solidFill>
                <a:schemeClr val="dk1"/>
              </a:solidFill>
              <a:latin typeface="Calibri"/>
              <a:ea typeface="Calibri"/>
              <a:cs typeface="Calibri"/>
              <a:sym typeface="Calibri"/>
            </a:endParaRPr>
          </a:p>
        </p:txBody>
      </p:sp>
      <p:sp>
        <p:nvSpPr>
          <p:cNvPr id="248" name="Google Shape;248;p7"/>
          <p:cNvSpPr/>
          <p:nvPr/>
        </p:nvSpPr>
        <p:spPr>
          <a:xfrm>
            <a:off x="7143750" y="3592023"/>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49" name="Google Shape;249;p7"/>
          <p:cNvSpPr/>
          <p:nvPr/>
        </p:nvSpPr>
        <p:spPr>
          <a:xfrm>
            <a:off x="7250906" y="3593809"/>
            <a:ext cx="1174449" cy="315385"/>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Introduces detectable error rate</a:t>
            </a:r>
            <a:endParaRPr b="0" i="0" sz="834" u="none" cap="none" strike="noStrike">
              <a:solidFill>
                <a:schemeClr val="dk1"/>
              </a:solidFill>
              <a:latin typeface="Calibri"/>
              <a:ea typeface="Calibri"/>
              <a:cs typeface="Calibri"/>
              <a:sym typeface="Calibri"/>
            </a:endParaRPr>
          </a:p>
        </p:txBody>
      </p:sp>
      <p:sp>
        <p:nvSpPr>
          <p:cNvPr id="250" name="Google Shape;250;p7"/>
          <p:cNvSpPr/>
          <p:nvPr/>
        </p:nvSpPr>
        <p:spPr>
          <a:xfrm>
            <a:off x="7143750" y="3969190"/>
            <a:ext cx="42974" cy="159981"/>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00A651"/>
              </a:buClr>
              <a:buSzPts val="834"/>
              <a:buFont typeface="Calibri"/>
              <a:buNone/>
            </a:pPr>
            <a:r>
              <a:rPr b="0" i="0" lang="en-US" sz="834" u="none" cap="none" strike="noStrike">
                <a:solidFill>
                  <a:srgbClr val="00A651"/>
                </a:solidFill>
                <a:latin typeface="Calibri"/>
                <a:ea typeface="Calibri"/>
                <a:cs typeface="Calibri"/>
                <a:sym typeface="Calibri"/>
              </a:rPr>
              <a:t>•</a:t>
            </a:r>
            <a:endParaRPr b="0" i="0" sz="834" u="none" cap="none" strike="noStrike">
              <a:solidFill>
                <a:schemeClr val="dk1"/>
              </a:solidFill>
              <a:latin typeface="Calibri"/>
              <a:ea typeface="Calibri"/>
              <a:cs typeface="Calibri"/>
              <a:sym typeface="Calibri"/>
            </a:endParaRPr>
          </a:p>
        </p:txBody>
      </p:sp>
      <p:sp>
        <p:nvSpPr>
          <p:cNvPr id="251" name="Google Shape;251;p7"/>
          <p:cNvSpPr/>
          <p:nvPr/>
        </p:nvSpPr>
        <p:spPr>
          <a:xfrm>
            <a:off x="7250906" y="3970976"/>
            <a:ext cx="983577" cy="315385"/>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High error = Abort transmission</a:t>
            </a:r>
            <a:endParaRPr b="0" i="0" sz="834" u="none" cap="none" strike="noStrike">
              <a:solidFill>
                <a:schemeClr val="dk1"/>
              </a:solidFill>
              <a:latin typeface="Calibri"/>
              <a:ea typeface="Calibri"/>
              <a:cs typeface="Calibri"/>
              <a:sym typeface="Calibri"/>
            </a:endParaRPr>
          </a:p>
        </p:txBody>
      </p:sp>
      <p:sp>
        <p:nvSpPr>
          <p:cNvPr id="252" name="Google Shape;252;p7"/>
          <p:cNvSpPr/>
          <p:nvPr/>
        </p:nvSpPr>
        <p:spPr>
          <a:xfrm>
            <a:off x="428561" y="4442461"/>
            <a:ext cx="8286900" cy="571500"/>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3" name="Google Shape;253;p7"/>
          <p:cNvPicPr preferRelativeResize="0"/>
          <p:nvPr/>
        </p:nvPicPr>
        <p:blipFill rotWithShape="1">
          <a:blip r:embed="rId8">
            <a:alphaModFix/>
          </a:blip>
          <a:srcRect b="0" l="0" r="0" t="0"/>
          <a:stretch/>
        </p:blipFill>
        <p:spPr>
          <a:xfrm>
            <a:off x="714374" y="4602480"/>
            <a:ext cx="128588" cy="128588"/>
          </a:xfrm>
          <a:prstGeom prst="rect">
            <a:avLst/>
          </a:prstGeom>
          <a:noFill/>
          <a:ln>
            <a:noFill/>
          </a:ln>
        </p:spPr>
      </p:pic>
      <p:sp>
        <p:nvSpPr>
          <p:cNvPr id="254" name="Google Shape;254;p7"/>
          <p:cNvSpPr/>
          <p:nvPr/>
        </p:nvSpPr>
        <p:spPr>
          <a:xfrm>
            <a:off x="962042" y="4602487"/>
            <a:ext cx="6949800" cy="174900"/>
          </a:xfrm>
          <a:prstGeom prst="rect">
            <a:avLst/>
          </a:prstGeom>
          <a:noFill/>
          <a:ln>
            <a:noFill/>
          </a:ln>
        </p:spPr>
        <p:txBody>
          <a:bodyPr anchorCtr="0" anchor="t" bIns="0" lIns="0" spcFirstLastPara="1" rIns="0" wrap="square" tIns="0">
            <a:spAutoFit/>
          </a:bodyPr>
          <a:lstStyle/>
          <a:p>
            <a:pPr indent="0" lvl="0" marL="0" marR="0" rtl="0" algn="l">
              <a:lnSpc>
                <a:spcPct val="127388"/>
              </a:lnSpc>
              <a:spcBef>
                <a:spcPts val="0"/>
              </a:spcBef>
              <a:spcAft>
                <a:spcPts val="0"/>
              </a:spcAft>
              <a:buClr>
                <a:srgbClr val="FFFFFF"/>
              </a:buClr>
              <a:buSzPts val="942"/>
              <a:buFont typeface="Calibri"/>
              <a:buNone/>
            </a:pPr>
            <a:r>
              <a:rPr b="0" i="1" lang="en-US" sz="942" u="none" cap="none" strike="noStrike">
                <a:solidFill>
                  <a:srgbClr val="FFFFFF"/>
                </a:solidFill>
                <a:latin typeface="Calibri"/>
                <a:ea typeface="Calibri"/>
                <a:cs typeface="Calibri"/>
                <a:sym typeface="Calibri"/>
              </a:rPr>
              <a:t>"Security guaranteed by Heisenberg's Uncertainty Principle — you cannot measure a quantum state without disturbing it."</a:t>
            </a:r>
            <a:endParaRPr b="0" i="0" sz="942"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descr="preencoded.png" id="260" name="Google Shape;260;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61" name="Google Shape;261;p8"/>
          <p:cNvSpPr/>
          <p:nvPr/>
        </p:nvSpPr>
        <p:spPr>
          <a:xfrm>
            <a:off x="821531" y="438894"/>
            <a:ext cx="5431538"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BB84 is Brilliant — But Impossible in a Car</a:t>
            </a:r>
            <a:endParaRPr b="0" i="0" sz="1602" u="none" cap="none" strike="noStrike">
              <a:solidFill>
                <a:schemeClr val="dk1"/>
              </a:solidFill>
              <a:latin typeface="Calibri"/>
              <a:ea typeface="Calibri"/>
              <a:cs typeface="Calibri"/>
              <a:sym typeface="Calibri"/>
            </a:endParaRPr>
          </a:p>
        </p:txBody>
      </p:sp>
      <p:sp>
        <p:nvSpPr>
          <p:cNvPr id="262" name="Google Shape;262;p8"/>
          <p:cNvSpPr/>
          <p:nvPr/>
        </p:nvSpPr>
        <p:spPr>
          <a:xfrm>
            <a:off x="428625" y="1047452"/>
            <a:ext cx="4071938" cy="1143000"/>
          </a:xfrm>
          <a:prstGeom prst="rect">
            <a:avLst/>
          </a:prstGeom>
          <a:solidFill>
            <a:srgbClr val="FF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428625" y="1047452"/>
            <a:ext cx="4071938" cy="28575"/>
          </a:xfrm>
          <a:prstGeom prst="rect">
            <a:avLst/>
          </a:prstGeom>
          <a:solidFill>
            <a:srgbClr val="D32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4" name="Google Shape;264;p8"/>
          <p:cNvPicPr preferRelativeResize="0"/>
          <p:nvPr/>
        </p:nvPicPr>
        <p:blipFill rotWithShape="1">
          <a:blip r:embed="rId4">
            <a:alphaModFix/>
          </a:blip>
          <a:srcRect b="0" l="0" r="0" t="0"/>
          <a:stretch/>
        </p:blipFill>
        <p:spPr>
          <a:xfrm>
            <a:off x="542925" y="1193899"/>
            <a:ext cx="214313" cy="171450"/>
          </a:xfrm>
          <a:prstGeom prst="rect">
            <a:avLst/>
          </a:prstGeom>
          <a:noFill/>
          <a:ln>
            <a:noFill/>
          </a:ln>
        </p:spPr>
      </p:pic>
      <p:sp>
        <p:nvSpPr>
          <p:cNvPr id="265" name="Google Shape;265;p8"/>
          <p:cNvSpPr/>
          <p:nvPr/>
        </p:nvSpPr>
        <p:spPr>
          <a:xfrm>
            <a:off x="842963" y="1191220"/>
            <a:ext cx="1655843"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Fiber Optic Infrastructure</a:t>
            </a:r>
            <a:endParaRPr b="0" i="0" sz="885" u="none" cap="none" strike="noStrike">
              <a:solidFill>
                <a:schemeClr val="dk1"/>
              </a:solidFill>
              <a:latin typeface="Calibri"/>
              <a:ea typeface="Calibri"/>
              <a:cs typeface="Calibri"/>
              <a:sym typeface="Calibri"/>
            </a:endParaRPr>
          </a:p>
        </p:txBody>
      </p:sp>
      <p:sp>
        <p:nvSpPr>
          <p:cNvPr id="266" name="Google Shape;266;p8"/>
          <p:cNvSpPr/>
          <p:nvPr/>
        </p:nvSpPr>
        <p:spPr>
          <a:xfrm>
            <a:off x="542925" y="1438573"/>
            <a:ext cx="3843338" cy="42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QKD requires dedicated quantum channels (fiber or line-of-sight). ECUs communicate via CAN bus — a robust electrical bus. No photon transmission possible.</a:t>
            </a:r>
            <a:endParaRPr b="0" i="0" sz="727" u="none" cap="none" strike="noStrike">
              <a:solidFill>
                <a:schemeClr val="dk1"/>
              </a:solidFill>
              <a:latin typeface="Calibri"/>
              <a:ea typeface="Calibri"/>
              <a:cs typeface="Calibri"/>
              <a:sym typeface="Calibri"/>
            </a:endParaRPr>
          </a:p>
        </p:txBody>
      </p:sp>
      <p:sp>
        <p:nvSpPr>
          <p:cNvPr id="267" name="Google Shape;267;p8"/>
          <p:cNvSpPr/>
          <p:nvPr/>
        </p:nvSpPr>
        <p:spPr>
          <a:xfrm>
            <a:off x="4643438" y="1047452"/>
            <a:ext cx="4071938" cy="1143000"/>
          </a:xfrm>
          <a:prstGeom prst="rect">
            <a:avLst/>
          </a:prstGeom>
          <a:solidFill>
            <a:srgbClr val="FF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4643438" y="1047452"/>
            <a:ext cx="4071938" cy="28575"/>
          </a:xfrm>
          <a:prstGeom prst="rect">
            <a:avLst/>
          </a:prstGeom>
          <a:solidFill>
            <a:srgbClr val="D32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9" name="Google Shape;269;p8"/>
          <p:cNvPicPr preferRelativeResize="0"/>
          <p:nvPr/>
        </p:nvPicPr>
        <p:blipFill rotWithShape="1">
          <a:blip r:embed="rId5">
            <a:alphaModFix/>
          </a:blip>
          <a:srcRect b="0" l="0" r="0" t="0"/>
          <a:stretch/>
        </p:blipFill>
        <p:spPr>
          <a:xfrm>
            <a:off x="4757738" y="1193899"/>
            <a:ext cx="214313" cy="171450"/>
          </a:xfrm>
          <a:prstGeom prst="rect">
            <a:avLst/>
          </a:prstGeom>
          <a:noFill/>
          <a:ln>
            <a:noFill/>
          </a:ln>
        </p:spPr>
      </p:pic>
      <p:sp>
        <p:nvSpPr>
          <p:cNvPr id="270" name="Google Shape;270;p8"/>
          <p:cNvSpPr/>
          <p:nvPr/>
        </p:nvSpPr>
        <p:spPr>
          <a:xfrm>
            <a:off x="5057775" y="1191220"/>
            <a:ext cx="1325612"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Distance Limitations</a:t>
            </a:r>
            <a:endParaRPr b="0" i="0" sz="885" u="none" cap="none" strike="noStrike">
              <a:solidFill>
                <a:schemeClr val="dk1"/>
              </a:solidFill>
              <a:latin typeface="Calibri"/>
              <a:ea typeface="Calibri"/>
              <a:cs typeface="Calibri"/>
              <a:sym typeface="Calibri"/>
            </a:endParaRPr>
          </a:p>
        </p:txBody>
      </p:sp>
      <p:sp>
        <p:nvSpPr>
          <p:cNvPr id="271" name="Google Shape;271;p8"/>
          <p:cNvSpPr/>
          <p:nvPr/>
        </p:nvSpPr>
        <p:spPr>
          <a:xfrm>
            <a:off x="4757738" y="1438573"/>
            <a:ext cx="3843338" cy="28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Current QKD: max 100-200 km over fiber. In-vehicle ECUs are 30 cm apart, but V2X/backend requires satellite relay or quantum repeaters — not yet practical.</a:t>
            </a:r>
            <a:endParaRPr b="0" i="0" sz="727" u="none" cap="none" strike="noStrike">
              <a:solidFill>
                <a:schemeClr val="dk1"/>
              </a:solidFill>
              <a:latin typeface="Calibri"/>
              <a:ea typeface="Calibri"/>
              <a:cs typeface="Calibri"/>
              <a:sym typeface="Calibri"/>
            </a:endParaRPr>
          </a:p>
        </p:txBody>
      </p:sp>
      <p:sp>
        <p:nvSpPr>
          <p:cNvPr id="272" name="Google Shape;272;p8"/>
          <p:cNvSpPr/>
          <p:nvPr/>
        </p:nvSpPr>
        <p:spPr>
          <a:xfrm>
            <a:off x="428625" y="2304752"/>
            <a:ext cx="2666991" cy="1143000"/>
          </a:xfrm>
          <a:prstGeom prst="rect">
            <a:avLst/>
          </a:prstGeom>
          <a:solidFill>
            <a:srgbClr val="FF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428625" y="2304752"/>
            <a:ext cx="2666991" cy="28575"/>
          </a:xfrm>
          <a:prstGeom prst="rect">
            <a:avLst/>
          </a:prstGeom>
          <a:solidFill>
            <a:srgbClr val="D32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4" name="Google Shape;274;p8"/>
          <p:cNvPicPr preferRelativeResize="0"/>
          <p:nvPr/>
        </p:nvPicPr>
        <p:blipFill rotWithShape="1">
          <a:blip r:embed="rId6">
            <a:alphaModFix/>
          </a:blip>
          <a:srcRect b="0" l="0" r="0" t="0"/>
          <a:stretch/>
        </p:blipFill>
        <p:spPr>
          <a:xfrm>
            <a:off x="564356" y="2451199"/>
            <a:ext cx="171450" cy="171450"/>
          </a:xfrm>
          <a:prstGeom prst="rect">
            <a:avLst/>
          </a:prstGeom>
          <a:noFill/>
          <a:ln>
            <a:noFill/>
          </a:ln>
        </p:spPr>
      </p:pic>
      <p:sp>
        <p:nvSpPr>
          <p:cNvPr id="275" name="Google Shape;275;p8"/>
          <p:cNvSpPr/>
          <p:nvPr/>
        </p:nvSpPr>
        <p:spPr>
          <a:xfrm>
            <a:off x="842963" y="2448520"/>
            <a:ext cx="1570453"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Hardware Requirements</a:t>
            </a:r>
            <a:endParaRPr b="0" i="0" sz="885" u="none" cap="none" strike="noStrike">
              <a:solidFill>
                <a:schemeClr val="dk1"/>
              </a:solidFill>
              <a:latin typeface="Calibri"/>
              <a:ea typeface="Calibri"/>
              <a:cs typeface="Calibri"/>
              <a:sym typeface="Calibri"/>
            </a:endParaRPr>
          </a:p>
        </p:txBody>
      </p:sp>
      <p:sp>
        <p:nvSpPr>
          <p:cNvPr id="276" name="Google Shape;276;p8"/>
          <p:cNvSpPr/>
          <p:nvPr/>
        </p:nvSpPr>
        <p:spPr>
          <a:xfrm>
            <a:off x="542925" y="2695873"/>
            <a:ext cx="2438391" cy="42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Requires single-photon emitters, detectors, and cryogenic components. None of this fits in an automotive ECU.</a:t>
            </a:r>
            <a:endParaRPr b="0" i="0" sz="727" u="none" cap="none" strike="noStrike">
              <a:solidFill>
                <a:schemeClr val="dk1"/>
              </a:solidFill>
              <a:latin typeface="Calibri"/>
              <a:ea typeface="Calibri"/>
              <a:cs typeface="Calibri"/>
              <a:sym typeface="Calibri"/>
            </a:endParaRPr>
          </a:p>
        </p:txBody>
      </p:sp>
      <p:sp>
        <p:nvSpPr>
          <p:cNvPr id="277" name="Google Shape;277;p8"/>
          <p:cNvSpPr/>
          <p:nvPr/>
        </p:nvSpPr>
        <p:spPr>
          <a:xfrm>
            <a:off x="3238491" y="2304752"/>
            <a:ext cx="2666991" cy="1143000"/>
          </a:xfrm>
          <a:prstGeom prst="rect">
            <a:avLst/>
          </a:prstGeom>
          <a:solidFill>
            <a:srgbClr val="FF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3238491" y="2304752"/>
            <a:ext cx="2666991" cy="28575"/>
          </a:xfrm>
          <a:prstGeom prst="rect">
            <a:avLst/>
          </a:prstGeom>
          <a:solidFill>
            <a:srgbClr val="D32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9" name="Google Shape;279;p8"/>
          <p:cNvPicPr preferRelativeResize="0"/>
          <p:nvPr/>
        </p:nvPicPr>
        <p:blipFill rotWithShape="1">
          <a:blip r:embed="rId7">
            <a:alphaModFix/>
          </a:blip>
          <a:srcRect b="0" l="0" r="0" t="0"/>
          <a:stretch/>
        </p:blipFill>
        <p:spPr>
          <a:xfrm>
            <a:off x="3384938" y="2451199"/>
            <a:ext cx="150019" cy="171450"/>
          </a:xfrm>
          <a:prstGeom prst="rect">
            <a:avLst/>
          </a:prstGeom>
          <a:noFill/>
          <a:ln>
            <a:noFill/>
          </a:ln>
        </p:spPr>
      </p:pic>
      <p:sp>
        <p:nvSpPr>
          <p:cNvPr id="280" name="Google Shape;280;p8"/>
          <p:cNvSpPr/>
          <p:nvPr/>
        </p:nvSpPr>
        <p:spPr>
          <a:xfrm>
            <a:off x="3652828" y="2448520"/>
            <a:ext cx="1405979"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Real-Time Constraints</a:t>
            </a:r>
            <a:endParaRPr b="0" i="0" sz="885" u="none" cap="none" strike="noStrike">
              <a:solidFill>
                <a:schemeClr val="dk1"/>
              </a:solidFill>
              <a:latin typeface="Calibri"/>
              <a:ea typeface="Calibri"/>
              <a:cs typeface="Calibri"/>
              <a:sym typeface="Calibri"/>
            </a:endParaRPr>
          </a:p>
        </p:txBody>
      </p:sp>
      <p:sp>
        <p:nvSpPr>
          <p:cNvPr id="281" name="Google Shape;281;p8"/>
          <p:cNvSpPr/>
          <p:nvPr/>
        </p:nvSpPr>
        <p:spPr>
          <a:xfrm>
            <a:off x="3352791" y="2695873"/>
            <a:ext cx="2438391" cy="42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Automotive ECUs need 1-10 ms response. QKD key generation is slow (seconds to minutes). CAN bus doesn't support photon protocols.</a:t>
            </a:r>
            <a:endParaRPr b="0" i="0" sz="727" u="none" cap="none" strike="noStrike">
              <a:solidFill>
                <a:schemeClr val="dk1"/>
              </a:solidFill>
              <a:latin typeface="Calibri"/>
              <a:ea typeface="Calibri"/>
              <a:cs typeface="Calibri"/>
              <a:sym typeface="Calibri"/>
            </a:endParaRPr>
          </a:p>
        </p:txBody>
      </p:sp>
      <p:sp>
        <p:nvSpPr>
          <p:cNvPr id="282" name="Google Shape;282;p8"/>
          <p:cNvSpPr/>
          <p:nvPr/>
        </p:nvSpPr>
        <p:spPr>
          <a:xfrm>
            <a:off x="6048356" y="2304752"/>
            <a:ext cx="2667019" cy="1143000"/>
          </a:xfrm>
          <a:prstGeom prst="rect">
            <a:avLst/>
          </a:prstGeom>
          <a:solidFill>
            <a:srgbClr val="FFF8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6048356" y="2304752"/>
            <a:ext cx="2667019" cy="28575"/>
          </a:xfrm>
          <a:prstGeom prst="rect">
            <a:avLst/>
          </a:prstGeom>
          <a:solidFill>
            <a:srgbClr val="D32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4" name="Google Shape;284;p8"/>
          <p:cNvPicPr preferRelativeResize="0"/>
          <p:nvPr/>
        </p:nvPicPr>
        <p:blipFill rotWithShape="1">
          <a:blip r:embed="rId8">
            <a:alphaModFix/>
          </a:blip>
          <a:srcRect b="0" l="0" r="0" t="0"/>
          <a:stretch/>
        </p:blipFill>
        <p:spPr>
          <a:xfrm>
            <a:off x="6184088" y="2451199"/>
            <a:ext cx="171450" cy="171450"/>
          </a:xfrm>
          <a:prstGeom prst="rect">
            <a:avLst/>
          </a:prstGeom>
          <a:noFill/>
          <a:ln>
            <a:noFill/>
          </a:ln>
        </p:spPr>
      </p:pic>
      <p:sp>
        <p:nvSpPr>
          <p:cNvPr id="285" name="Google Shape;285;p8"/>
          <p:cNvSpPr/>
          <p:nvPr/>
        </p:nvSpPr>
        <p:spPr>
          <a:xfrm>
            <a:off x="6462694" y="2448520"/>
            <a:ext cx="1331919"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Cost and Integration</a:t>
            </a:r>
            <a:endParaRPr b="0" i="0" sz="885" u="none" cap="none" strike="noStrike">
              <a:solidFill>
                <a:schemeClr val="dk1"/>
              </a:solidFill>
              <a:latin typeface="Calibri"/>
              <a:ea typeface="Calibri"/>
              <a:cs typeface="Calibri"/>
              <a:sym typeface="Calibri"/>
            </a:endParaRPr>
          </a:p>
        </p:txBody>
      </p:sp>
      <p:sp>
        <p:nvSpPr>
          <p:cNvPr id="286" name="Google Shape;286;p8"/>
          <p:cNvSpPr/>
          <p:nvPr/>
        </p:nvSpPr>
        <p:spPr>
          <a:xfrm>
            <a:off x="6162656" y="2695873"/>
            <a:ext cx="2438419" cy="42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QKD hardware costs $10k-$100k+ per node. An ECU costs $5-$50. Mass production is economically impossible.</a:t>
            </a:r>
            <a:endParaRPr b="0" i="0" sz="727" u="none" cap="none" strike="noStrike">
              <a:solidFill>
                <a:schemeClr val="dk1"/>
              </a:solidFill>
              <a:latin typeface="Calibri"/>
              <a:ea typeface="Calibri"/>
              <a:cs typeface="Calibri"/>
              <a:sym typeface="Calibri"/>
            </a:endParaRPr>
          </a:p>
        </p:txBody>
      </p:sp>
      <p:sp>
        <p:nvSpPr>
          <p:cNvPr id="287" name="Google Shape;287;p8"/>
          <p:cNvSpPr/>
          <p:nvPr/>
        </p:nvSpPr>
        <p:spPr>
          <a:xfrm>
            <a:off x="428625" y="4250531"/>
            <a:ext cx="8286750" cy="464344"/>
          </a:xfrm>
          <a:prstGeom prst="rect">
            <a:avLst/>
          </a:prstGeom>
          <a:solidFill>
            <a:srgbClr val="D32F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428625" y="4250531"/>
            <a:ext cx="8286750" cy="464344"/>
          </a:xfrm>
          <a:prstGeom prst="rect">
            <a:avLst/>
          </a:prstGeom>
          <a:noFill/>
          <a:ln>
            <a:noFill/>
          </a:ln>
        </p:spPr>
        <p:txBody>
          <a:bodyPr anchorCtr="0" anchor="t" bIns="0" lIns="255125" spcFirstLastPara="1" rIns="0" wrap="square" tIns="127500">
            <a:sp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QKD is physically and economically incompatible with automotive ECUs. PQC is the answer.</a:t>
            </a:r>
            <a:endParaRPr b="0" i="0" sz="885"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descr="preencoded.png" id="294" name="Google Shape;294;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95" name="Google Shape;295;p9"/>
          <p:cNvSpPr/>
          <p:nvPr/>
        </p:nvSpPr>
        <p:spPr>
          <a:xfrm>
            <a:off x="821531" y="438894"/>
            <a:ext cx="6874715"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Post-Quantum Cryptography: The Practical Solution</a:t>
            </a:r>
            <a:endParaRPr b="0" i="0" sz="1602" u="none" cap="none" strike="noStrike">
              <a:solidFill>
                <a:schemeClr val="dk1"/>
              </a:solidFill>
              <a:latin typeface="Calibri"/>
              <a:ea typeface="Calibri"/>
              <a:cs typeface="Calibri"/>
              <a:sym typeface="Calibri"/>
            </a:endParaRPr>
          </a:p>
        </p:txBody>
      </p:sp>
      <p:sp>
        <p:nvSpPr>
          <p:cNvPr id="296" name="Google Shape;296;p9"/>
          <p:cNvSpPr/>
          <p:nvPr/>
        </p:nvSpPr>
        <p:spPr>
          <a:xfrm>
            <a:off x="0" y="904577"/>
            <a:ext cx="9144000" cy="571500"/>
          </a:xfrm>
          <a:prstGeom prst="rect">
            <a:avLst/>
          </a:prstGeom>
          <a:noFill/>
          <a:ln>
            <a:noFill/>
          </a:ln>
        </p:spPr>
        <p:txBody>
          <a:bodyPr anchorCtr="0" anchor="t" bIns="0" lIns="510275" spcFirstLastPara="1" rIns="510275" wrap="square" tIns="170050">
            <a:spAutoFit/>
          </a:bodyPr>
          <a:lstStyle/>
          <a:p>
            <a:pPr indent="0" lvl="0" marL="0" marR="0" rtl="0" algn="l">
              <a:lnSpc>
                <a:spcPct val="161904"/>
              </a:lnSpc>
              <a:spcBef>
                <a:spcPts val="0"/>
              </a:spcBef>
              <a:spcAft>
                <a:spcPts val="0"/>
              </a:spcAft>
              <a:buClr>
                <a:srgbClr val="4D5259"/>
              </a:buClr>
              <a:buSzPts val="1050"/>
              <a:buFont typeface="Calibri"/>
              <a:buNone/>
            </a:pPr>
            <a:r>
              <a:rPr b="0" i="0" lang="en-US" sz="1050" u="none" cap="none" strike="noStrike">
                <a:solidFill>
                  <a:srgbClr val="4D5259"/>
                </a:solidFill>
                <a:latin typeface="Calibri"/>
                <a:ea typeface="Calibri"/>
                <a:cs typeface="Calibri"/>
                <a:sym typeface="Calibri"/>
              </a:rPr>
              <a:t>Mathematical problems so hard that even quantum computers cannot solve them efficiently. Based on lattice problems, hash functions, and error-correcting codes.</a:t>
            </a:r>
            <a:endParaRPr b="0" i="0" sz="1050" u="none" cap="none" strike="noStrike">
              <a:solidFill>
                <a:schemeClr val="dk1"/>
              </a:solidFill>
              <a:latin typeface="Calibri"/>
              <a:ea typeface="Calibri"/>
              <a:cs typeface="Calibri"/>
              <a:sym typeface="Calibri"/>
            </a:endParaRPr>
          </a:p>
        </p:txBody>
      </p:sp>
      <p:sp>
        <p:nvSpPr>
          <p:cNvPr id="297" name="Google Shape;297;p9"/>
          <p:cNvSpPr/>
          <p:nvPr/>
        </p:nvSpPr>
        <p:spPr>
          <a:xfrm>
            <a:off x="428625" y="1690390"/>
            <a:ext cx="2762259" cy="2135981"/>
          </a:xfrm>
          <a:prstGeom prst="rect">
            <a:avLst/>
          </a:prstGeom>
          <a:solidFill>
            <a:srgbClr val="F2F9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
          <p:cNvSpPr/>
          <p:nvPr/>
        </p:nvSpPr>
        <p:spPr>
          <a:xfrm>
            <a:off x="428625" y="1690390"/>
            <a:ext cx="2762259" cy="28575"/>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9"/>
          <p:cNvPicPr preferRelativeResize="0"/>
          <p:nvPr/>
        </p:nvPicPr>
        <p:blipFill rotWithShape="1">
          <a:blip r:embed="rId4">
            <a:alphaModFix/>
          </a:blip>
          <a:srcRect b="0" l="0" r="0" t="0"/>
          <a:stretch/>
        </p:blipFill>
        <p:spPr>
          <a:xfrm>
            <a:off x="614363" y="1836837"/>
            <a:ext cx="200025" cy="200025"/>
          </a:xfrm>
          <a:prstGeom prst="rect">
            <a:avLst/>
          </a:prstGeom>
          <a:noFill/>
          <a:ln>
            <a:noFill/>
          </a:ln>
        </p:spPr>
      </p:pic>
      <p:sp>
        <p:nvSpPr>
          <p:cNvPr id="300" name="Google Shape;300;p9"/>
          <p:cNvSpPr/>
          <p:nvPr/>
        </p:nvSpPr>
        <p:spPr>
          <a:xfrm>
            <a:off x="964406" y="1836837"/>
            <a:ext cx="966694"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Lattice-Based</a:t>
            </a:r>
            <a:endParaRPr b="0" i="0" sz="987" u="none" cap="none" strike="noStrike">
              <a:solidFill>
                <a:schemeClr val="dk1"/>
              </a:solidFill>
              <a:latin typeface="Calibri"/>
              <a:ea typeface="Calibri"/>
              <a:cs typeface="Calibri"/>
              <a:sym typeface="Calibri"/>
            </a:endParaRPr>
          </a:p>
        </p:txBody>
      </p:sp>
      <p:sp>
        <p:nvSpPr>
          <p:cNvPr id="301" name="Google Shape;301;p9"/>
          <p:cNvSpPr/>
          <p:nvPr/>
        </p:nvSpPr>
        <p:spPr>
          <a:xfrm>
            <a:off x="571500" y="2156520"/>
            <a:ext cx="2476509" cy="640035"/>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Based on the Learning With Errors (LWE) problem. Finding a short vector in a high-dimensional lattice is hard even for quantum computers.</a:t>
            </a:r>
            <a:endParaRPr b="0" i="0" sz="834" u="none" cap="none" strike="noStrike">
              <a:solidFill>
                <a:schemeClr val="dk1"/>
              </a:solidFill>
              <a:latin typeface="Calibri"/>
              <a:ea typeface="Calibri"/>
              <a:cs typeface="Calibri"/>
              <a:sym typeface="Calibri"/>
            </a:endParaRPr>
          </a:p>
        </p:txBody>
      </p:sp>
      <p:sp>
        <p:nvSpPr>
          <p:cNvPr id="302" name="Google Shape;302;p9"/>
          <p:cNvSpPr/>
          <p:nvPr/>
        </p:nvSpPr>
        <p:spPr>
          <a:xfrm>
            <a:off x="571500" y="2882280"/>
            <a:ext cx="2476509" cy="239316"/>
          </a:xfrm>
          <a:prstGeom prst="rect">
            <a:avLst/>
          </a:prstGeom>
          <a:noFill/>
          <a:ln>
            <a:noFill/>
          </a:ln>
        </p:spPr>
        <p:txBody>
          <a:bodyPr anchorCtr="0" anchor="t" bIns="0" lIns="0" spcFirstLastPara="1" rIns="0" wrap="square" tIns="102100">
            <a:spAutoFit/>
          </a:bodyPr>
          <a:lstStyle/>
          <a:p>
            <a:pPr indent="0" lvl="0" marL="0" marR="0" rtl="0" algn="l">
              <a:lnSpc>
                <a:spcPct val="136239"/>
              </a:lnSpc>
              <a:spcBef>
                <a:spcPts val="0"/>
              </a:spcBef>
              <a:spcAft>
                <a:spcPts val="0"/>
              </a:spcAft>
              <a:buClr>
                <a:srgbClr val="4D5259"/>
              </a:buClr>
              <a:buSzPts val="734"/>
              <a:buFont typeface="Calibri"/>
              <a:buNone/>
            </a:pPr>
            <a:r>
              <a:rPr b="1" i="0" lang="en-US" sz="734" u="none" cap="none" strike="noStrike">
                <a:solidFill>
                  <a:srgbClr val="4D5259"/>
                </a:solidFill>
                <a:latin typeface="Calibri"/>
                <a:ea typeface="Calibri"/>
                <a:cs typeface="Calibri"/>
                <a:sym typeface="Calibri"/>
              </a:rPr>
              <a:t>Algorithms: ML-KEM, ML-DSA, FN-DSA (Falcon)</a:t>
            </a:r>
            <a:endParaRPr b="0" i="0" sz="734" u="none" cap="none" strike="noStrike">
              <a:solidFill>
                <a:schemeClr val="dk1"/>
              </a:solidFill>
              <a:latin typeface="Calibri"/>
              <a:ea typeface="Calibri"/>
              <a:cs typeface="Calibri"/>
              <a:sym typeface="Calibri"/>
            </a:endParaRPr>
          </a:p>
        </p:txBody>
      </p:sp>
      <p:sp>
        <p:nvSpPr>
          <p:cNvPr id="303" name="Google Shape;303;p9"/>
          <p:cNvSpPr/>
          <p:nvPr/>
        </p:nvSpPr>
        <p:spPr>
          <a:xfrm>
            <a:off x="3190884" y="1690390"/>
            <a:ext cx="2762259" cy="2135981"/>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3190884" y="1690390"/>
            <a:ext cx="2762259" cy="28575"/>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5" name="Google Shape;305;p9"/>
          <p:cNvPicPr preferRelativeResize="0"/>
          <p:nvPr/>
        </p:nvPicPr>
        <p:blipFill rotWithShape="1">
          <a:blip r:embed="rId5">
            <a:alphaModFix/>
          </a:blip>
          <a:srcRect b="0" l="0" r="0" t="0"/>
          <a:stretch/>
        </p:blipFill>
        <p:spPr>
          <a:xfrm>
            <a:off x="3389123" y="1836837"/>
            <a:ext cx="175022" cy="200025"/>
          </a:xfrm>
          <a:prstGeom prst="rect">
            <a:avLst/>
          </a:prstGeom>
          <a:noFill/>
          <a:ln>
            <a:noFill/>
          </a:ln>
        </p:spPr>
      </p:pic>
      <p:sp>
        <p:nvSpPr>
          <p:cNvPr id="306" name="Google Shape;306;p9"/>
          <p:cNvSpPr/>
          <p:nvPr/>
        </p:nvSpPr>
        <p:spPr>
          <a:xfrm>
            <a:off x="3726666" y="1836837"/>
            <a:ext cx="834703"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Hash-Based</a:t>
            </a:r>
            <a:endParaRPr b="0" i="0" sz="987" u="none" cap="none" strike="noStrike">
              <a:solidFill>
                <a:schemeClr val="dk1"/>
              </a:solidFill>
              <a:latin typeface="Calibri"/>
              <a:ea typeface="Calibri"/>
              <a:cs typeface="Calibri"/>
              <a:sym typeface="Calibri"/>
            </a:endParaRPr>
          </a:p>
        </p:txBody>
      </p:sp>
      <p:sp>
        <p:nvSpPr>
          <p:cNvPr id="307" name="Google Shape;307;p9"/>
          <p:cNvSpPr/>
          <p:nvPr/>
        </p:nvSpPr>
        <p:spPr>
          <a:xfrm>
            <a:off x="3333759" y="2156520"/>
            <a:ext cx="2476509" cy="480027"/>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Based on one-way hash functions — already quantum-resistant by design. Conservative, well-understood security.</a:t>
            </a:r>
            <a:endParaRPr b="0" i="0" sz="834" u="none" cap="none" strike="noStrike">
              <a:solidFill>
                <a:schemeClr val="dk1"/>
              </a:solidFill>
              <a:latin typeface="Calibri"/>
              <a:ea typeface="Calibri"/>
              <a:cs typeface="Calibri"/>
              <a:sym typeface="Calibri"/>
            </a:endParaRPr>
          </a:p>
        </p:txBody>
      </p:sp>
      <p:sp>
        <p:nvSpPr>
          <p:cNvPr id="308" name="Google Shape;308;p9"/>
          <p:cNvSpPr/>
          <p:nvPr/>
        </p:nvSpPr>
        <p:spPr>
          <a:xfrm>
            <a:off x="3333759" y="2722271"/>
            <a:ext cx="2476509" cy="239316"/>
          </a:xfrm>
          <a:prstGeom prst="rect">
            <a:avLst/>
          </a:prstGeom>
          <a:noFill/>
          <a:ln>
            <a:noFill/>
          </a:ln>
        </p:spPr>
        <p:txBody>
          <a:bodyPr anchorCtr="0" anchor="t" bIns="0" lIns="0" spcFirstLastPara="1" rIns="0" wrap="square" tIns="102100">
            <a:spAutoFit/>
          </a:bodyPr>
          <a:lstStyle/>
          <a:p>
            <a:pPr indent="0" lvl="0" marL="0" marR="0" rtl="0" algn="l">
              <a:lnSpc>
                <a:spcPct val="136239"/>
              </a:lnSpc>
              <a:spcBef>
                <a:spcPts val="0"/>
              </a:spcBef>
              <a:spcAft>
                <a:spcPts val="0"/>
              </a:spcAft>
              <a:buClr>
                <a:srgbClr val="4D5259"/>
              </a:buClr>
              <a:buSzPts val="734"/>
              <a:buFont typeface="Calibri"/>
              <a:buNone/>
            </a:pPr>
            <a:r>
              <a:rPr b="1" i="0" lang="en-US" sz="734" u="none" cap="none" strike="noStrike">
                <a:solidFill>
                  <a:srgbClr val="4D5259"/>
                </a:solidFill>
                <a:latin typeface="Calibri"/>
                <a:ea typeface="Calibri"/>
                <a:cs typeface="Calibri"/>
                <a:sym typeface="Calibri"/>
              </a:rPr>
              <a:t>Algorithms: SLH-DSA (SPHINCS+)</a:t>
            </a:r>
            <a:endParaRPr b="0" i="0" sz="734" u="none" cap="none" strike="noStrike">
              <a:solidFill>
                <a:schemeClr val="dk1"/>
              </a:solidFill>
              <a:latin typeface="Calibri"/>
              <a:ea typeface="Calibri"/>
              <a:cs typeface="Calibri"/>
              <a:sym typeface="Calibri"/>
            </a:endParaRPr>
          </a:p>
        </p:txBody>
      </p:sp>
      <p:sp>
        <p:nvSpPr>
          <p:cNvPr id="309" name="Google Shape;309;p9"/>
          <p:cNvSpPr/>
          <p:nvPr/>
        </p:nvSpPr>
        <p:spPr>
          <a:xfrm>
            <a:off x="5953144" y="1690390"/>
            <a:ext cx="2762259" cy="2135981"/>
          </a:xfrm>
          <a:prstGeom prst="rect">
            <a:avLst/>
          </a:prstGeom>
          <a:solidFill>
            <a:srgbClr val="FEF9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p:nvPr/>
        </p:nvSpPr>
        <p:spPr>
          <a:xfrm>
            <a:off x="5953144" y="1690390"/>
            <a:ext cx="2762259" cy="28575"/>
          </a:xfrm>
          <a:prstGeom prst="rect">
            <a:avLst/>
          </a:prstGeom>
          <a:solidFill>
            <a:srgbClr val="B5D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1" name="Google Shape;311;p9"/>
          <p:cNvPicPr preferRelativeResize="0"/>
          <p:nvPr/>
        </p:nvPicPr>
        <p:blipFill rotWithShape="1">
          <a:blip r:embed="rId6">
            <a:alphaModFix/>
          </a:blip>
          <a:srcRect b="0" l="0" r="0" t="0"/>
          <a:stretch/>
        </p:blipFill>
        <p:spPr>
          <a:xfrm>
            <a:off x="6138881" y="1836837"/>
            <a:ext cx="200025" cy="200025"/>
          </a:xfrm>
          <a:prstGeom prst="rect">
            <a:avLst/>
          </a:prstGeom>
          <a:noFill/>
          <a:ln>
            <a:noFill/>
          </a:ln>
        </p:spPr>
      </p:pic>
      <p:sp>
        <p:nvSpPr>
          <p:cNvPr id="312" name="Google Shape;312;p9"/>
          <p:cNvSpPr/>
          <p:nvPr/>
        </p:nvSpPr>
        <p:spPr>
          <a:xfrm>
            <a:off x="6488925" y="1836837"/>
            <a:ext cx="828535"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Code-Based</a:t>
            </a:r>
            <a:endParaRPr b="0" i="0" sz="987" u="none" cap="none" strike="noStrike">
              <a:solidFill>
                <a:schemeClr val="dk1"/>
              </a:solidFill>
              <a:latin typeface="Calibri"/>
              <a:ea typeface="Calibri"/>
              <a:cs typeface="Calibri"/>
              <a:sym typeface="Calibri"/>
            </a:endParaRPr>
          </a:p>
        </p:txBody>
      </p:sp>
      <p:sp>
        <p:nvSpPr>
          <p:cNvPr id="313" name="Google Shape;313;p9"/>
          <p:cNvSpPr/>
          <p:nvPr/>
        </p:nvSpPr>
        <p:spPr>
          <a:xfrm>
            <a:off x="6096019" y="2156520"/>
            <a:ext cx="2476509" cy="480027"/>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Based on error-correcting codes (McEliece, 1978). Long history of security analysis and resistance to quantum attacks.</a:t>
            </a:r>
            <a:endParaRPr b="0" i="0" sz="834" u="none" cap="none" strike="noStrike">
              <a:solidFill>
                <a:schemeClr val="dk1"/>
              </a:solidFill>
              <a:latin typeface="Calibri"/>
              <a:ea typeface="Calibri"/>
              <a:cs typeface="Calibri"/>
              <a:sym typeface="Calibri"/>
            </a:endParaRPr>
          </a:p>
        </p:txBody>
      </p:sp>
      <p:sp>
        <p:nvSpPr>
          <p:cNvPr id="314" name="Google Shape;314;p9"/>
          <p:cNvSpPr/>
          <p:nvPr/>
        </p:nvSpPr>
        <p:spPr>
          <a:xfrm>
            <a:off x="6096019" y="2722271"/>
            <a:ext cx="2476509" cy="239316"/>
          </a:xfrm>
          <a:prstGeom prst="rect">
            <a:avLst/>
          </a:prstGeom>
          <a:noFill/>
          <a:ln>
            <a:noFill/>
          </a:ln>
        </p:spPr>
        <p:txBody>
          <a:bodyPr anchorCtr="0" anchor="t" bIns="0" lIns="0" spcFirstLastPara="1" rIns="0" wrap="square" tIns="102100">
            <a:spAutoFit/>
          </a:bodyPr>
          <a:lstStyle/>
          <a:p>
            <a:pPr indent="0" lvl="0" marL="0" marR="0" rtl="0" algn="l">
              <a:lnSpc>
                <a:spcPct val="136239"/>
              </a:lnSpc>
              <a:spcBef>
                <a:spcPts val="0"/>
              </a:spcBef>
              <a:spcAft>
                <a:spcPts val="0"/>
              </a:spcAft>
              <a:buClr>
                <a:srgbClr val="4D5259"/>
              </a:buClr>
              <a:buSzPts val="734"/>
              <a:buFont typeface="Calibri"/>
              <a:buNone/>
            </a:pPr>
            <a:r>
              <a:rPr b="1" i="0" lang="en-US" sz="734" u="none" cap="none" strike="noStrike">
                <a:solidFill>
                  <a:srgbClr val="4D5259"/>
                </a:solidFill>
                <a:latin typeface="Calibri"/>
                <a:ea typeface="Calibri"/>
                <a:cs typeface="Calibri"/>
                <a:sym typeface="Calibri"/>
              </a:rPr>
              <a:t>Algorithms: HQC (NIST Selected)</a:t>
            </a:r>
            <a:endParaRPr b="0" i="0" sz="734" u="none" cap="none" strike="noStrike">
              <a:solidFill>
                <a:schemeClr val="dk1"/>
              </a:solidFill>
              <a:latin typeface="Calibri"/>
              <a:ea typeface="Calibri"/>
              <a:cs typeface="Calibri"/>
              <a:sym typeface="Calibri"/>
            </a:endParaRPr>
          </a:p>
        </p:txBody>
      </p:sp>
      <p:sp>
        <p:nvSpPr>
          <p:cNvPr id="315" name="Google Shape;315;p9"/>
          <p:cNvSpPr/>
          <p:nvPr/>
        </p:nvSpPr>
        <p:spPr>
          <a:xfrm>
            <a:off x="428625" y="4143375"/>
            <a:ext cx="8286750" cy="428625"/>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428625" y="4143375"/>
            <a:ext cx="8286750" cy="428625"/>
          </a:xfrm>
          <a:prstGeom prst="rect">
            <a:avLst/>
          </a:prstGeom>
          <a:noFill/>
          <a:ln>
            <a:noFill/>
          </a:ln>
        </p:spPr>
        <p:txBody>
          <a:bodyPr anchorCtr="0" anchor="ctr" bIns="0" lIns="255125" spcFirstLastPara="1" rIns="0" wrap="square" tIns="102100">
            <a:spAutoFit/>
          </a:bodyPr>
          <a:lstStyle/>
          <a:p>
            <a:pPr indent="0" lvl="0" marL="0" marR="0" rtl="0" algn="ctr">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NIST 2024 Standardization Complete — FIPS 203 (ML-KEM), FIPS 204 (ML-DSA), FIPS 206 (FN-DSA)</a:t>
            </a:r>
            <a:endParaRPr b="0" i="0" sz="885"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descr="preencoded.png" id="322" name="Google Shape;322;p1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23" name="Google Shape;323;p10"/>
          <p:cNvSpPr/>
          <p:nvPr/>
        </p:nvSpPr>
        <p:spPr>
          <a:xfrm>
            <a:off x="821531" y="438894"/>
            <a:ext cx="4814553"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Algorithm Selection for This Project</a:t>
            </a:r>
            <a:endParaRPr b="0" i="0" sz="1602" u="none" cap="none" strike="noStrike">
              <a:solidFill>
                <a:schemeClr val="dk1"/>
              </a:solidFill>
              <a:latin typeface="Calibri"/>
              <a:ea typeface="Calibri"/>
              <a:cs typeface="Calibri"/>
              <a:sym typeface="Calibri"/>
            </a:endParaRPr>
          </a:p>
        </p:txBody>
      </p:sp>
      <p:pic>
        <p:nvPicPr>
          <p:cNvPr descr="preencoded.png" id="324" name="Google Shape;324;p10"/>
          <p:cNvPicPr preferRelativeResize="0"/>
          <p:nvPr/>
        </p:nvPicPr>
        <p:blipFill rotWithShape="1">
          <a:blip r:embed="rId4">
            <a:alphaModFix/>
          </a:blip>
          <a:srcRect b="0" l="0" r="0" t="0"/>
          <a:stretch/>
        </p:blipFill>
        <p:spPr>
          <a:xfrm>
            <a:off x="307181" y="1108174"/>
            <a:ext cx="171450" cy="171450"/>
          </a:xfrm>
          <a:prstGeom prst="rect">
            <a:avLst/>
          </a:prstGeom>
          <a:noFill/>
          <a:ln>
            <a:noFill/>
          </a:ln>
        </p:spPr>
      </p:pic>
      <p:sp>
        <p:nvSpPr>
          <p:cNvPr id="325" name="Google Shape;325;p10"/>
          <p:cNvSpPr/>
          <p:nvPr/>
        </p:nvSpPr>
        <p:spPr>
          <a:xfrm>
            <a:off x="585788" y="1095673"/>
            <a:ext cx="571081"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ML-KEM</a:t>
            </a:r>
            <a:endParaRPr b="0" i="0" sz="987" u="none" cap="none" strike="noStrike">
              <a:solidFill>
                <a:schemeClr val="dk1"/>
              </a:solidFill>
              <a:latin typeface="Calibri"/>
              <a:ea typeface="Calibri"/>
              <a:cs typeface="Calibri"/>
              <a:sym typeface="Calibri"/>
            </a:endParaRPr>
          </a:p>
        </p:txBody>
      </p:sp>
      <p:sp>
        <p:nvSpPr>
          <p:cNvPr id="326" name="Google Shape;326;p10"/>
          <p:cNvSpPr/>
          <p:nvPr/>
        </p:nvSpPr>
        <p:spPr>
          <a:xfrm>
            <a:off x="285750" y="1367135"/>
            <a:ext cx="2571750"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5A6069"/>
              </a:buClr>
              <a:buSzPts val="727"/>
              <a:buFont typeface="Calibri"/>
              <a:buNone/>
            </a:pPr>
            <a:r>
              <a:rPr b="0" i="1" lang="en-US" sz="727" u="none" cap="none" strike="noStrike">
                <a:solidFill>
                  <a:srgbClr val="5A6069"/>
                </a:solidFill>
                <a:latin typeface="Calibri"/>
                <a:ea typeface="Calibri"/>
                <a:cs typeface="Calibri"/>
                <a:sym typeface="Calibri"/>
              </a:rPr>
              <a:t>FIPS 203 | CRYSTALS-Kyber</a:t>
            </a:r>
            <a:endParaRPr b="0" i="0" sz="727" u="none" cap="none" strike="noStrike">
              <a:solidFill>
                <a:schemeClr val="dk1"/>
              </a:solidFill>
              <a:latin typeface="Calibri"/>
              <a:ea typeface="Calibri"/>
              <a:cs typeface="Calibri"/>
              <a:sym typeface="Calibri"/>
            </a:endParaRPr>
          </a:p>
        </p:txBody>
      </p:sp>
      <p:sp>
        <p:nvSpPr>
          <p:cNvPr id="327" name="Google Shape;327;p10"/>
          <p:cNvSpPr/>
          <p:nvPr/>
        </p:nvSpPr>
        <p:spPr>
          <a:xfrm>
            <a:off x="285750" y="1561802"/>
            <a:ext cx="263621" cy="146447"/>
          </a:xfrm>
          <a:prstGeom prst="rect">
            <a:avLst/>
          </a:prstGeom>
          <a:noFill/>
          <a:ln>
            <a:noFill/>
          </a:ln>
        </p:spPr>
        <p:txBody>
          <a:bodyPr anchorCtr="0" anchor="t" bIns="0" lIns="0" spcFirstLastPara="1" rIns="0" wrap="square" tIns="0">
            <a:spAutoFit/>
          </a:bodyPr>
          <a:lstStyle/>
          <a:p>
            <a:pPr indent="0" lvl="0" marL="0" marR="0" rtl="0" algn="l">
              <a:lnSpc>
                <a:spcPct val="163487"/>
              </a:lnSpc>
              <a:spcBef>
                <a:spcPts val="0"/>
              </a:spcBef>
              <a:spcAft>
                <a:spcPts val="0"/>
              </a:spcAft>
              <a:buClr>
                <a:srgbClr val="5A6069"/>
              </a:buClr>
              <a:buSzPts val="734"/>
              <a:buFont typeface="Calibri"/>
              <a:buNone/>
            </a:pPr>
            <a:r>
              <a:rPr b="1" i="0" lang="en-US" sz="734" u="none" cap="none" strike="noStrike">
                <a:solidFill>
                  <a:srgbClr val="5A6069"/>
                </a:solidFill>
                <a:latin typeface="Calibri"/>
                <a:ea typeface="Calibri"/>
                <a:cs typeface="Calibri"/>
                <a:sym typeface="Calibri"/>
              </a:rPr>
              <a:t>Role:</a:t>
            </a:r>
            <a:endParaRPr b="0" i="0" sz="734" u="none" cap="none" strike="noStrike">
              <a:solidFill>
                <a:schemeClr val="dk1"/>
              </a:solidFill>
              <a:latin typeface="Calibri"/>
              <a:ea typeface="Calibri"/>
              <a:cs typeface="Calibri"/>
              <a:sym typeface="Calibri"/>
            </a:endParaRPr>
          </a:p>
        </p:txBody>
      </p:sp>
      <p:sp>
        <p:nvSpPr>
          <p:cNvPr id="328" name="Google Shape;328;p10"/>
          <p:cNvSpPr/>
          <p:nvPr/>
        </p:nvSpPr>
        <p:spPr>
          <a:xfrm>
            <a:off x="549371" y="1561802"/>
            <a:ext cx="719454"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Key Exchange</a:t>
            </a:r>
            <a:endParaRPr b="0" i="0" sz="780" u="none" cap="none" strike="noStrike">
              <a:solidFill>
                <a:schemeClr val="dk1"/>
              </a:solidFill>
              <a:latin typeface="Calibri"/>
              <a:ea typeface="Calibri"/>
              <a:cs typeface="Calibri"/>
              <a:sym typeface="Calibri"/>
            </a:endParaRPr>
          </a:p>
        </p:txBody>
      </p:sp>
      <p:sp>
        <p:nvSpPr>
          <p:cNvPr id="329" name="Google Shape;329;p10"/>
          <p:cNvSpPr/>
          <p:nvPr/>
        </p:nvSpPr>
        <p:spPr>
          <a:xfrm>
            <a:off x="571500" y="1760041"/>
            <a:ext cx="40267"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00A651"/>
              </a:buClr>
              <a:buSzPts val="780"/>
              <a:buFont typeface="Calibri"/>
              <a:buNone/>
            </a:pPr>
            <a:r>
              <a:rPr b="0" i="0" lang="en-US" sz="780" u="none" cap="none" strike="noStrike">
                <a:solidFill>
                  <a:srgbClr val="00A651"/>
                </a:solidFill>
                <a:latin typeface="Calibri"/>
                <a:ea typeface="Calibri"/>
                <a:cs typeface="Calibri"/>
                <a:sym typeface="Calibri"/>
              </a:rPr>
              <a:t>•</a:t>
            </a:r>
            <a:endParaRPr b="0" i="0" sz="780" u="none" cap="none" strike="noStrike">
              <a:solidFill>
                <a:schemeClr val="dk1"/>
              </a:solidFill>
              <a:latin typeface="Calibri"/>
              <a:ea typeface="Calibri"/>
              <a:cs typeface="Calibri"/>
              <a:sym typeface="Calibri"/>
            </a:endParaRPr>
          </a:p>
        </p:txBody>
      </p:sp>
      <p:sp>
        <p:nvSpPr>
          <p:cNvPr id="330" name="Google Shape;330;p10"/>
          <p:cNvSpPr/>
          <p:nvPr/>
        </p:nvSpPr>
        <p:spPr>
          <a:xfrm>
            <a:off x="678656" y="1761827"/>
            <a:ext cx="1456265"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Fastest KEM in NIST portfolio</a:t>
            </a:r>
            <a:endParaRPr b="0" i="0" sz="780" u="none" cap="none" strike="noStrike">
              <a:solidFill>
                <a:schemeClr val="dk1"/>
              </a:solidFill>
              <a:latin typeface="Calibri"/>
              <a:ea typeface="Calibri"/>
              <a:cs typeface="Calibri"/>
              <a:sym typeface="Calibri"/>
            </a:endParaRPr>
          </a:p>
        </p:txBody>
      </p:sp>
      <p:sp>
        <p:nvSpPr>
          <p:cNvPr id="331" name="Google Shape;331;p10"/>
          <p:cNvSpPr/>
          <p:nvPr/>
        </p:nvSpPr>
        <p:spPr>
          <a:xfrm>
            <a:off x="571500" y="1938635"/>
            <a:ext cx="40267"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00A651"/>
              </a:buClr>
              <a:buSzPts val="780"/>
              <a:buFont typeface="Calibri"/>
              <a:buNone/>
            </a:pPr>
            <a:r>
              <a:rPr b="0" i="0" lang="en-US" sz="780" u="none" cap="none" strike="noStrike">
                <a:solidFill>
                  <a:srgbClr val="00A651"/>
                </a:solidFill>
                <a:latin typeface="Calibri"/>
                <a:ea typeface="Calibri"/>
                <a:cs typeface="Calibri"/>
                <a:sym typeface="Calibri"/>
              </a:rPr>
              <a:t>•</a:t>
            </a:r>
            <a:endParaRPr b="0" i="0" sz="780" u="none" cap="none" strike="noStrike">
              <a:solidFill>
                <a:schemeClr val="dk1"/>
              </a:solidFill>
              <a:latin typeface="Calibri"/>
              <a:ea typeface="Calibri"/>
              <a:cs typeface="Calibri"/>
              <a:sym typeface="Calibri"/>
            </a:endParaRPr>
          </a:p>
        </p:txBody>
      </p:sp>
      <p:sp>
        <p:nvSpPr>
          <p:cNvPr id="332" name="Google Shape;332;p10"/>
          <p:cNvSpPr/>
          <p:nvPr/>
        </p:nvSpPr>
        <p:spPr>
          <a:xfrm>
            <a:off x="678656" y="1940421"/>
            <a:ext cx="1454451"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Compact keys and ciphertext</a:t>
            </a:r>
            <a:endParaRPr b="0" i="0" sz="780" u="none" cap="none" strike="noStrike">
              <a:solidFill>
                <a:schemeClr val="dk1"/>
              </a:solidFill>
              <a:latin typeface="Calibri"/>
              <a:ea typeface="Calibri"/>
              <a:cs typeface="Calibri"/>
              <a:sym typeface="Calibri"/>
            </a:endParaRPr>
          </a:p>
        </p:txBody>
      </p:sp>
      <p:sp>
        <p:nvSpPr>
          <p:cNvPr id="333" name="Google Shape;333;p10"/>
          <p:cNvSpPr/>
          <p:nvPr/>
        </p:nvSpPr>
        <p:spPr>
          <a:xfrm>
            <a:off x="571500" y="2117229"/>
            <a:ext cx="40267"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00A651"/>
              </a:buClr>
              <a:buSzPts val="780"/>
              <a:buFont typeface="Calibri"/>
              <a:buNone/>
            </a:pPr>
            <a:r>
              <a:rPr b="0" i="0" lang="en-US" sz="780" u="none" cap="none" strike="noStrike">
                <a:solidFill>
                  <a:srgbClr val="00A651"/>
                </a:solidFill>
                <a:latin typeface="Calibri"/>
                <a:ea typeface="Calibri"/>
                <a:cs typeface="Calibri"/>
                <a:sym typeface="Calibri"/>
              </a:rPr>
              <a:t>•</a:t>
            </a:r>
            <a:endParaRPr b="0" i="0" sz="780" u="none" cap="none" strike="noStrike">
              <a:solidFill>
                <a:schemeClr val="dk1"/>
              </a:solidFill>
              <a:latin typeface="Calibri"/>
              <a:ea typeface="Calibri"/>
              <a:cs typeface="Calibri"/>
              <a:sym typeface="Calibri"/>
            </a:endParaRPr>
          </a:p>
        </p:txBody>
      </p:sp>
      <p:sp>
        <p:nvSpPr>
          <p:cNvPr id="334" name="Google Shape;334;p10"/>
          <p:cNvSpPr/>
          <p:nvPr/>
        </p:nvSpPr>
        <p:spPr>
          <a:xfrm>
            <a:off x="678656" y="2119015"/>
            <a:ext cx="1088724"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Security: Module-LWE</a:t>
            </a:r>
            <a:endParaRPr b="0" i="0" sz="780" u="none" cap="none" strike="noStrike">
              <a:solidFill>
                <a:schemeClr val="dk1"/>
              </a:solidFill>
              <a:latin typeface="Calibri"/>
              <a:ea typeface="Calibri"/>
              <a:cs typeface="Calibri"/>
              <a:sym typeface="Calibri"/>
            </a:endParaRPr>
          </a:p>
        </p:txBody>
      </p:sp>
      <p:pic>
        <p:nvPicPr>
          <p:cNvPr descr="preencoded.png" id="335" name="Google Shape;335;p10"/>
          <p:cNvPicPr preferRelativeResize="0"/>
          <p:nvPr/>
        </p:nvPicPr>
        <p:blipFill rotWithShape="1">
          <a:blip r:embed="rId5">
            <a:alphaModFix/>
          </a:blip>
          <a:srcRect b="0" l="0" r="0" t="0"/>
          <a:stretch/>
        </p:blipFill>
        <p:spPr>
          <a:xfrm>
            <a:off x="3286125" y="1108174"/>
            <a:ext cx="214313" cy="171450"/>
          </a:xfrm>
          <a:prstGeom prst="rect">
            <a:avLst/>
          </a:prstGeom>
          <a:noFill/>
          <a:ln>
            <a:noFill/>
          </a:ln>
        </p:spPr>
      </p:pic>
      <p:sp>
        <p:nvSpPr>
          <p:cNvPr id="336" name="Google Shape;336;p10"/>
          <p:cNvSpPr/>
          <p:nvPr/>
        </p:nvSpPr>
        <p:spPr>
          <a:xfrm>
            <a:off x="3586163" y="1095673"/>
            <a:ext cx="544516"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ML-DSA</a:t>
            </a:r>
            <a:endParaRPr b="0" i="0" sz="987" u="none" cap="none" strike="noStrike">
              <a:solidFill>
                <a:schemeClr val="dk1"/>
              </a:solidFill>
              <a:latin typeface="Calibri"/>
              <a:ea typeface="Calibri"/>
              <a:cs typeface="Calibri"/>
              <a:sym typeface="Calibri"/>
            </a:endParaRPr>
          </a:p>
        </p:txBody>
      </p:sp>
      <p:sp>
        <p:nvSpPr>
          <p:cNvPr id="337" name="Google Shape;337;p10"/>
          <p:cNvSpPr/>
          <p:nvPr/>
        </p:nvSpPr>
        <p:spPr>
          <a:xfrm>
            <a:off x="3286125" y="1367135"/>
            <a:ext cx="2571750"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5A6069"/>
              </a:buClr>
              <a:buSzPts val="727"/>
              <a:buFont typeface="Calibri"/>
              <a:buNone/>
            </a:pPr>
            <a:r>
              <a:rPr b="0" i="1" lang="en-US" sz="727" u="none" cap="none" strike="noStrike">
                <a:solidFill>
                  <a:srgbClr val="5A6069"/>
                </a:solidFill>
                <a:latin typeface="Calibri"/>
                <a:ea typeface="Calibri"/>
                <a:cs typeface="Calibri"/>
                <a:sym typeface="Calibri"/>
              </a:rPr>
              <a:t>FIPS 204 | CRYSTALS-Dilithium</a:t>
            </a:r>
            <a:endParaRPr b="0" i="0" sz="727" u="none" cap="none" strike="noStrike">
              <a:solidFill>
                <a:schemeClr val="dk1"/>
              </a:solidFill>
              <a:latin typeface="Calibri"/>
              <a:ea typeface="Calibri"/>
              <a:cs typeface="Calibri"/>
              <a:sym typeface="Calibri"/>
            </a:endParaRPr>
          </a:p>
        </p:txBody>
      </p:sp>
      <p:sp>
        <p:nvSpPr>
          <p:cNvPr id="338" name="Google Shape;338;p10"/>
          <p:cNvSpPr/>
          <p:nvPr/>
        </p:nvSpPr>
        <p:spPr>
          <a:xfrm>
            <a:off x="3286125" y="1561802"/>
            <a:ext cx="263621" cy="146447"/>
          </a:xfrm>
          <a:prstGeom prst="rect">
            <a:avLst/>
          </a:prstGeom>
          <a:noFill/>
          <a:ln>
            <a:noFill/>
          </a:ln>
        </p:spPr>
        <p:txBody>
          <a:bodyPr anchorCtr="0" anchor="t" bIns="0" lIns="0" spcFirstLastPara="1" rIns="0" wrap="square" tIns="0">
            <a:spAutoFit/>
          </a:bodyPr>
          <a:lstStyle/>
          <a:p>
            <a:pPr indent="0" lvl="0" marL="0" marR="0" rtl="0" algn="l">
              <a:lnSpc>
                <a:spcPct val="163487"/>
              </a:lnSpc>
              <a:spcBef>
                <a:spcPts val="0"/>
              </a:spcBef>
              <a:spcAft>
                <a:spcPts val="0"/>
              </a:spcAft>
              <a:buClr>
                <a:srgbClr val="5A6069"/>
              </a:buClr>
              <a:buSzPts val="734"/>
              <a:buFont typeface="Calibri"/>
              <a:buNone/>
            </a:pPr>
            <a:r>
              <a:rPr b="1" i="0" lang="en-US" sz="734" u="none" cap="none" strike="noStrike">
                <a:solidFill>
                  <a:srgbClr val="5A6069"/>
                </a:solidFill>
                <a:latin typeface="Calibri"/>
                <a:ea typeface="Calibri"/>
                <a:cs typeface="Calibri"/>
                <a:sym typeface="Calibri"/>
              </a:rPr>
              <a:t>Role:</a:t>
            </a:r>
            <a:endParaRPr b="0" i="0" sz="734" u="none" cap="none" strike="noStrike">
              <a:solidFill>
                <a:schemeClr val="dk1"/>
              </a:solidFill>
              <a:latin typeface="Calibri"/>
              <a:ea typeface="Calibri"/>
              <a:cs typeface="Calibri"/>
              <a:sym typeface="Calibri"/>
            </a:endParaRPr>
          </a:p>
        </p:txBody>
      </p:sp>
      <p:sp>
        <p:nvSpPr>
          <p:cNvPr id="339" name="Google Shape;339;p10"/>
          <p:cNvSpPr/>
          <p:nvPr/>
        </p:nvSpPr>
        <p:spPr>
          <a:xfrm>
            <a:off x="3549746" y="1561802"/>
            <a:ext cx="919088"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Digital Signatures</a:t>
            </a:r>
            <a:endParaRPr b="0" i="0" sz="780" u="none" cap="none" strike="noStrike">
              <a:solidFill>
                <a:schemeClr val="dk1"/>
              </a:solidFill>
              <a:latin typeface="Calibri"/>
              <a:ea typeface="Calibri"/>
              <a:cs typeface="Calibri"/>
              <a:sym typeface="Calibri"/>
            </a:endParaRPr>
          </a:p>
        </p:txBody>
      </p:sp>
      <p:sp>
        <p:nvSpPr>
          <p:cNvPr id="340" name="Google Shape;340;p10"/>
          <p:cNvSpPr/>
          <p:nvPr/>
        </p:nvSpPr>
        <p:spPr>
          <a:xfrm>
            <a:off x="3571875" y="1760041"/>
            <a:ext cx="40267"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00A651"/>
              </a:buClr>
              <a:buSzPts val="780"/>
              <a:buFont typeface="Calibri"/>
              <a:buNone/>
            </a:pPr>
            <a:r>
              <a:rPr b="0" i="0" lang="en-US" sz="780" u="none" cap="none" strike="noStrike">
                <a:solidFill>
                  <a:srgbClr val="00A651"/>
                </a:solidFill>
                <a:latin typeface="Calibri"/>
                <a:ea typeface="Calibri"/>
                <a:cs typeface="Calibri"/>
                <a:sym typeface="Calibri"/>
              </a:rPr>
              <a:t>•</a:t>
            </a:r>
            <a:endParaRPr b="0" i="0" sz="780" u="none" cap="none" strike="noStrike">
              <a:solidFill>
                <a:schemeClr val="dk1"/>
              </a:solidFill>
              <a:latin typeface="Calibri"/>
              <a:ea typeface="Calibri"/>
              <a:cs typeface="Calibri"/>
              <a:sym typeface="Calibri"/>
            </a:endParaRPr>
          </a:p>
        </p:txBody>
      </p:sp>
      <p:sp>
        <p:nvSpPr>
          <p:cNvPr id="341" name="Google Shape;341;p10"/>
          <p:cNvSpPr/>
          <p:nvPr/>
        </p:nvSpPr>
        <p:spPr>
          <a:xfrm>
            <a:off x="3679031" y="1761827"/>
            <a:ext cx="1412649"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Fast signing and verification</a:t>
            </a:r>
            <a:endParaRPr b="0" i="0" sz="780" u="none" cap="none" strike="noStrike">
              <a:solidFill>
                <a:schemeClr val="dk1"/>
              </a:solidFill>
              <a:latin typeface="Calibri"/>
              <a:ea typeface="Calibri"/>
              <a:cs typeface="Calibri"/>
              <a:sym typeface="Calibri"/>
            </a:endParaRPr>
          </a:p>
        </p:txBody>
      </p:sp>
      <p:sp>
        <p:nvSpPr>
          <p:cNvPr id="342" name="Google Shape;342;p10"/>
          <p:cNvSpPr/>
          <p:nvPr/>
        </p:nvSpPr>
        <p:spPr>
          <a:xfrm>
            <a:off x="3571875" y="1938635"/>
            <a:ext cx="40267"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00A651"/>
              </a:buClr>
              <a:buSzPts val="780"/>
              <a:buFont typeface="Calibri"/>
              <a:buNone/>
            </a:pPr>
            <a:r>
              <a:rPr b="0" i="0" lang="en-US" sz="780" u="none" cap="none" strike="noStrike">
                <a:solidFill>
                  <a:srgbClr val="00A651"/>
                </a:solidFill>
                <a:latin typeface="Calibri"/>
                <a:ea typeface="Calibri"/>
                <a:cs typeface="Calibri"/>
                <a:sym typeface="Calibri"/>
              </a:rPr>
              <a:t>•</a:t>
            </a:r>
            <a:endParaRPr b="0" i="0" sz="780" u="none" cap="none" strike="noStrike">
              <a:solidFill>
                <a:schemeClr val="dk1"/>
              </a:solidFill>
              <a:latin typeface="Calibri"/>
              <a:ea typeface="Calibri"/>
              <a:cs typeface="Calibri"/>
              <a:sym typeface="Calibri"/>
            </a:endParaRPr>
          </a:p>
        </p:txBody>
      </p:sp>
      <p:sp>
        <p:nvSpPr>
          <p:cNvPr id="343" name="Google Shape;343;p10"/>
          <p:cNvSpPr/>
          <p:nvPr/>
        </p:nvSpPr>
        <p:spPr>
          <a:xfrm>
            <a:off x="3679031" y="1940421"/>
            <a:ext cx="1495583"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Balanced size vs performance</a:t>
            </a:r>
            <a:endParaRPr b="0" i="0" sz="780" u="none" cap="none" strike="noStrike">
              <a:solidFill>
                <a:schemeClr val="dk1"/>
              </a:solidFill>
              <a:latin typeface="Calibri"/>
              <a:ea typeface="Calibri"/>
              <a:cs typeface="Calibri"/>
              <a:sym typeface="Calibri"/>
            </a:endParaRPr>
          </a:p>
        </p:txBody>
      </p:sp>
      <p:sp>
        <p:nvSpPr>
          <p:cNvPr id="344" name="Google Shape;344;p10"/>
          <p:cNvSpPr/>
          <p:nvPr/>
        </p:nvSpPr>
        <p:spPr>
          <a:xfrm>
            <a:off x="3571875" y="2117229"/>
            <a:ext cx="40267"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00A651"/>
              </a:buClr>
              <a:buSzPts val="780"/>
              <a:buFont typeface="Calibri"/>
              <a:buNone/>
            </a:pPr>
            <a:r>
              <a:rPr b="0" i="0" lang="en-US" sz="780" u="none" cap="none" strike="noStrike">
                <a:solidFill>
                  <a:srgbClr val="00A651"/>
                </a:solidFill>
                <a:latin typeface="Calibri"/>
                <a:ea typeface="Calibri"/>
                <a:cs typeface="Calibri"/>
                <a:sym typeface="Calibri"/>
              </a:rPr>
              <a:t>•</a:t>
            </a:r>
            <a:endParaRPr b="0" i="0" sz="780" u="none" cap="none" strike="noStrike">
              <a:solidFill>
                <a:schemeClr val="dk1"/>
              </a:solidFill>
              <a:latin typeface="Calibri"/>
              <a:ea typeface="Calibri"/>
              <a:cs typeface="Calibri"/>
              <a:sym typeface="Calibri"/>
            </a:endParaRPr>
          </a:p>
        </p:txBody>
      </p:sp>
      <p:sp>
        <p:nvSpPr>
          <p:cNvPr id="345" name="Google Shape;345;p10"/>
          <p:cNvSpPr/>
          <p:nvPr/>
        </p:nvSpPr>
        <p:spPr>
          <a:xfrm>
            <a:off x="3679031" y="2119015"/>
            <a:ext cx="1029453"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Security: Module-SIS</a:t>
            </a:r>
            <a:endParaRPr b="0" i="0" sz="780" u="none" cap="none" strike="noStrike">
              <a:solidFill>
                <a:schemeClr val="dk1"/>
              </a:solidFill>
              <a:latin typeface="Calibri"/>
              <a:ea typeface="Calibri"/>
              <a:cs typeface="Calibri"/>
              <a:sym typeface="Calibri"/>
            </a:endParaRPr>
          </a:p>
        </p:txBody>
      </p:sp>
      <p:pic>
        <p:nvPicPr>
          <p:cNvPr descr="preencoded.png" id="346" name="Google Shape;346;p10"/>
          <p:cNvPicPr preferRelativeResize="0"/>
          <p:nvPr/>
        </p:nvPicPr>
        <p:blipFill rotWithShape="1">
          <a:blip r:embed="rId6">
            <a:alphaModFix/>
          </a:blip>
          <a:srcRect b="0" l="0" r="0" t="0"/>
          <a:stretch/>
        </p:blipFill>
        <p:spPr>
          <a:xfrm>
            <a:off x="6329363" y="1108174"/>
            <a:ext cx="128588" cy="171450"/>
          </a:xfrm>
          <a:prstGeom prst="rect">
            <a:avLst/>
          </a:prstGeom>
          <a:noFill/>
          <a:ln>
            <a:noFill/>
          </a:ln>
        </p:spPr>
      </p:pic>
      <p:sp>
        <p:nvSpPr>
          <p:cNvPr id="347" name="Google Shape;347;p10"/>
          <p:cNvSpPr/>
          <p:nvPr/>
        </p:nvSpPr>
        <p:spPr>
          <a:xfrm>
            <a:off x="6586538" y="1095673"/>
            <a:ext cx="523642"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FN-DSA</a:t>
            </a:r>
            <a:endParaRPr b="0" i="0" sz="987" u="none" cap="none" strike="noStrike">
              <a:solidFill>
                <a:schemeClr val="dk1"/>
              </a:solidFill>
              <a:latin typeface="Calibri"/>
              <a:ea typeface="Calibri"/>
              <a:cs typeface="Calibri"/>
              <a:sym typeface="Calibri"/>
            </a:endParaRPr>
          </a:p>
        </p:txBody>
      </p:sp>
      <p:sp>
        <p:nvSpPr>
          <p:cNvPr id="348" name="Google Shape;348;p10"/>
          <p:cNvSpPr/>
          <p:nvPr/>
        </p:nvSpPr>
        <p:spPr>
          <a:xfrm>
            <a:off x="6286500" y="1367135"/>
            <a:ext cx="2571750"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5A6069"/>
              </a:buClr>
              <a:buSzPts val="727"/>
              <a:buFont typeface="Calibri"/>
              <a:buNone/>
            </a:pPr>
            <a:r>
              <a:rPr b="0" i="1" lang="en-US" sz="727" u="none" cap="none" strike="noStrike">
                <a:solidFill>
                  <a:srgbClr val="5A6069"/>
                </a:solidFill>
                <a:latin typeface="Calibri"/>
                <a:ea typeface="Calibri"/>
                <a:cs typeface="Calibri"/>
                <a:sym typeface="Calibri"/>
              </a:rPr>
              <a:t>FIPS 206 | Falcon</a:t>
            </a:r>
            <a:endParaRPr b="0" i="0" sz="727" u="none" cap="none" strike="noStrike">
              <a:solidFill>
                <a:schemeClr val="dk1"/>
              </a:solidFill>
              <a:latin typeface="Calibri"/>
              <a:ea typeface="Calibri"/>
              <a:cs typeface="Calibri"/>
              <a:sym typeface="Calibri"/>
            </a:endParaRPr>
          </a:p>
        </p:txBody>
      </p:sp>
      <p:sp>
        <p:nvSpPr>
          <p:cNvPr id="349" name="Google Shape;349;p10"/>
          <p:cNvSpPr/>
          <p:nvPr/>
        </p:nvSpPr>
        <p:spPr>
          <a:xfrm>
            <a:off x="6286500" y="1561802"/>
            <a:ext cx="263621" cy="146447"/>
          </a:xfrm>
          <a:prstGeom prst="rect">
            <a:avLst/>
          </a:prstGeom>
          <a:noFill/>
          <a:ln>
            <a:noFill/>
          </a:ln>
        </p:spPr>
        <p:txBody>
          <a:bodyPr anchorCtr="0" anchor="t" bIns="0" lIns="0" spcFirstLastPara="1" rIns="0" wrap="square" tIns="0">
            <a:spAutoFit/>
          </a:bodyPr>
          <a:lstStyle/>
          <a:p>
            <a:pPr indent="0" lvl="0" marL="0" marR="0" rtl="0" algn="l">
              <a:lnSpc>
                <a:spcPct val="163487"/>
              </a:lnSpc>
              <a:spcBef>
                <a:spcPts val="0"/>
              </a:spcBef>
              <a:spcAft>
                <a:spcPts val="0"/>
              </a:spcAft>
              <a:buClr>
                <a:srgbClr val="5A6069"/>
              </a:buClr>
              <a:buSzPts val="734"/>
              <a:buFont typeface="Calibri"/>
              <a:buNone/>
            </a:pPr>
            <a:r>
              <a:rPr b="1" i="0" lang="en-US" sz="734" u="none" cap="none" strike="noStrike">
                <a:solidFill>
                  <a:srgbClr val="5A6069"/>
                </a:solidFill>
                <a:latin typeface="Calibri"/>
                <a:ea typeface="Calibri"/>
                <a:cs typeface="Calibri"/>
                <a:sym typeface="Calibri"/>
              </a:rPr>
              <a:t>Role:</a:t>
            </a:r>
            <a:endParaRPr b="0" i="0" sz="734" u="none" cap="none" strike="noStrike">
              <a:solidFill>
                <a:schemeClr val="dk1"/>
              </a:solidFill>
              <a:latin typeface="Calibri"/>
              <a:ea typeface="Calibri"/>
              <a:cs typeface="Calibri"/>
              <a:sym typeface="Calibri"/>
            </a:endParaRPr>
          </a:p>
        </p:txBody>
      </p:sp>
      <p:sp>
        <p:nvSpPr>
          <p:cNvPr id="350" name="Google Shape;350;p10"/>
          <p:cNvSpPr/>
          <p:nvPr/>
        </p:nvSpPr>
        <p:spPr>
          <a:xfrm>
            <a:off x="6550121" y="1561802"/>
            <a:ext cx="919088"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Digital Signatures</a:t>
            </a:r>
            <a:endParaRPr b="0" i="0" sz="780" u="none" cap="none" strike="noStrike">
              <a:solidFill>
                <a:schemeClr val="dk1"/>
              </a:solidFill>
              <a:latin typeface="Calibri"/>
              <a:ea typeface="Calibri"/>
              <a:cs typeface="Calibri"/>
              <a:sym typeface="Calibri"/>
            </a:endParaRPr>
          </a:p>
        </p:txBody>
      </p:sp>
      <p:sp>
        <p:nvSpPr>
          <p:cNvPr id="351" name="Google Shape;351;p10"/>
          <p:cNvSpPr/>
          <p:nvPr/>
        </p:nvSpPr>
        <p:spPr>
          <a:xfrm>
            <a:off x="6572250" y="1760041"/>
            <a:ext cx="40267"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00A651"/>
              </a:buClr>
              <a:buSzPts val="780"/>
              <a:buFont typeface="Calibri"/>
              <a:buNone/>
            </a:pPr>
            <a:r>
              <a:rPr b="0" i="0" lang="en-US" sz="780" u="none" cap="none" strike="noStrike">
                <a:solidFill>
                  <a:srgbClr val="00A651"/>
                </a:solidFill>
                <a:latin typeface="Calibri"/>
                <a:ea typeface="Calibri"/>
                <a:cs typeface="Calibri"/>
                <a:sym typeface="Calibri"/>
              </a:rPr>
              <a:t>•</a:t>
            </a:r>
            <a:endParaRPr b="0" i="0" sz="780" u="none" cap="none" strike="noStrike">
              <a:solidFill>
                <a:schemeClr val="dk1"/>
              </a:solidFill>
              <a:latin typeface="Calibri"/>
              <a:ea typeface="Calibri"/>
              <a:cs typeface="Calibri"/>
              <a:sym typeface="Calibri"/>
            </a:endParaRPr>
          </a:p>
        </p:txBody>
      </p:sp>
      <p:sp>
        <p:nvSpPr>
          <p:cNvPr id="352" name="Google Shape;352;p10"/>
          <p:cNvSpPr/>
          <p:nvPr/>
        </p:nvSpPr>
        <p:spPr>
          <a:xfrm>
            <a:off x="6679406" y="1761827"/>
            <a:ext cx="1328431"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Smallest signatures (666B)</a:t>
            </a:r>
            <a:endParaRPr b="0" i="0" sz="780" u="none" cap="none" strike="noStrike">
              <a:solidFill>
                <a:schemeClr val="dk1"/>
              </a:solidFill>
              <a:latin typeface="Calibri"/>
              <a:ea typeface="Calibri"/>
              <a:cs typeface="Calibri"/>
              <a:sym typeface="Calibri"/>
            </a:endParaRPr>
          </a:p>
        </p:txBody>
      </p:sp>
      <p:sp>
        <p:nvSpPr>
          <p:cNvPr id="353" name="Google Shape;353;p10"/>
          <p:cNvSpPr/>
          <p:nvPr/>
        </p:nvSpPr>
        <p:spPr>
          <a:xfrm>
            <a:off x="6572250" y="1938635"/>
            <a:ext cx="40267"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00A651"/>
              </a:buClr>
              <a:buSzPts val="780"/>
              <a:buFont typeface="Calibri"/>
              <a:buNone/>
            </a:pPr>
            <a:r>
              <a:rPr b="0" i="0" lang="en-US" sz="780" u="none" cap="none" strike="noStrike">
                <a:solidFill>
                  <a:srgbClr val="00A651"/>
                </a:solidFill>
                <a:latin typeface="Calibri"/>
                <a:ea typeface="Calibri"/>
                <a:cs typeface="Calibri"/>
                <a:sym typeface="Calibri"/>
              </a:rPr>
              <a:t>•</a:t>
            </a:r>
            <a:endParaRPr b="0" i="0" sz="780" u="none" cap="none" strike="noStrike">
              <a:solidFill>
                <a:schemeClr val="dk1"/>
              </a:solidFill>
              <a:latin typeface="Calibri"/>
              <a:ea typeface="Calibri"/>
              <a:cs typeface="Calibri"/>
              <a:sym typeface="Calibri"/>
            </a:endParaRPr>
          </a:p>
        </p:txBody>
      </p:sp>
      <p:sp>
        <p:nvSpPr>
          <p:cNvPr id="354" name="Google Shape;354;p10"/>
          <p:cNvSpPr/>
          <p:nvPr/>
        </p:nvSpPr>
        <p:spPr>
          <a:xfrm>
            <a:off x="6679406" y="1940421"/>
            <a:ext cx="1399701"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Fastest verification (~11 ms)</a:t>
            </a:r>
            <a:endParaRPr b="0" i="0" sz="780" u="none" cap="none" strike="noStrike">
              <a:solidFill>
                <a:schemeClr val="dk1"/>
              </a:solidFill>
              <a:latin typeface="Calibri"/>
              <a:ea typeface="Calibri"/>
              <a:cs typeface="Calibri"/>
              <a:sym typeface="Calibri"/>
            </a:endParaRPr>
          </a:p>
        </p:txBody>
      </p:sp>
      <p:sp>
        <p:nvSpPr>
          <p:cNvPr id="355" name="Google Shape;355;p10"/>
          <p:cNvSpPr/>
          <p:nvPr/>
        </p:nvSpPr>
        <p:spPr>
          <a:xfrm>
            <a:off x="6572250" y="2117229"/>
            <a:ext cx="40267"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00A651"/>
              </a:buClr>
              <a:buSzPts val="780"/>
              <a:buFont typeface="Calibri"/>
              <a:buNone/>
            </a:pPr>
            <a:r>
              <a:rPr b="0" i="0" lang="en-US" sz="780" u="none" cap="none" strike="noStrike">
                <a:solidFill>
                  <a:srgbClr val="00A651"/>
                </a:solidFill>
                <a:latin typeface="Calibri"/>
                <a:ea typeface="Calibri"/>
                <a:cs typeface="Calibri"/>
                <a:sym typeface="Calibri"/>
              </a:rPr>
              <a:t>•</a:t>
            </a:r>
            <a:endParaRPr b="0" i="0" sz="780" u="none" cap="none" strike="noStrike">
              <a:solidFill>
                <a:schemeClr val="dk1"/>
              </a:solidFill>
              <a:latin typeface="Calibri"/>
              <a:ea typeface="Calibri"/>
              <a:cs typeface="Calibri"/>
              <a:sym typeface="Calibri"/>
            </a:endParaRPr>
          </a:p>
        </p:txBody>
      </p:sp>
      <p:sp>
        <p:nvSpPr>
          <p:cNvPr id="356" name="Google Shape;356;p10"/>
          <p:cNvSpPr/>
          <p:nvPr/>
        </p:nvSpPr>
        <p:spPr>
          <a:xfrm>
            <a:off x="6679406" y="2119015"/>
            <a:ext cx="1105746" cy="146447"/>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Security: NTRU Lattice</a:t>
            </a:r>
            <a:endParaRPr b="0" i="0" sz="780" u="none" cap="none" strike="noStrike">
              <a:solidFill>
                <a:schemeClr val="dk1"/>
              </a:solidFill>
              <a:latin typeface="Calibri"/>
              <a:ea typeface="Calibri"/>
              <a:cs typeface="Calibri"/>
              <a:sym typeface="Calibri"/>
            </a:endParaRPr>
          </a:p>
        </p:txBody>
      </p:sp>
      <p:sp>
        <p:nvSpPr>
          <p:cNvPr id="357" name="Google Shape;357;p10"/>
          <p:cNvSpPr/>
          <p:nvPr/>
        </p:nvSpPr>
        <p:spPr>
          <a:xfrm>
            <a:off x="285750" y="2324398"/>
            <a:ext cx="1931798" cy="326827"/>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p:nvPr/>
        </p:nvSpPr>
        <p:spPr>
          <a:xfrm>
            <a:off x="285750" y="2324398"/>
            <a:ext cx="1931798" cy="326827"/>
          </a:xfrm>
          <a:prstGeom prst="rect">
            <a:avLst/>
          </a:prstGeom>
          <a:noFill/>
          <a:ln>
            <a:noFill/>
          </a:ln>
        </p:spPr>
        <p:txBody>
          <a:bodyPr anchorCtr="0" anchor="ctr" bIns="102100" lIns="127500" spcFirstLastPara="1" rIns="127500" wrap="square" tIns="102100">
            <a:sp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Metric</a:t>
            </a:r>
            <a:endParaRPr b="0" i="0" sz="784" u="none" cap="none" strike="noStrike">
              <a:solidFill>
                <a:schemeClr val="dk1"/>
              </a:solidFill>
              <a:latin typeface="Calibri"/>
              <a:ea typeface="Calibri"/>
              <a:cs typeface="Calibri"/>
              <a:sym typeface="Calibri"/>
            </a:endParaRPr>
          </a:p>
        </p:txBody>
      </p:sp>
      <p:sp>
        <p:nvSpPr>
          <p:cNvPr id="359" name="Google Shape;359;p10"/>
          <p:cNvSpPr/>
          <p:nvPr/>
        </p:nvSpPr>
        <p:spPr>
          <a:xfrm>
            <a:off x="2217548" y="2324398"/>
            <a:ext cx="2288986" cy="326827"/>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0"/>
          <p:cNvSpPr/>
          <p:nvPr/>
        </p:nvSpPr>
        <p:spPr>
          <a:xfrm>
            <a:off x="2217548" y="2324398"/>
            <a:ext cx="2288986" cy="326827"/>
          </a:xfrm>
          <a:prstGeom prst="rect">
            <a:avLst/>
          </a:prstGeom>
          <a:noFill/>
          <a:ln>
            <a:noFill/>
          </a:ln>
        </p:spPr>
        <p:txBody>
          <a:bodyPr anchorCtr="0" anchor="ctr" bIns="102100" lIns="127500" spcFirstLastPara="1" rIns="127500" wrap="square" tIns="102100">
            <a:sp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ML-KEM-768</a:t>
            </a:r>
            <a:endParaRPr b="0" i="0" sz="784" u="none" cap="none" strike="noStrike">
              <a:solidFill>
                <a:schemeClr val="dk1"/>
              </a:solidFill>
              <a:latin typeface="Calibri"/>
              <a:ea typeface="Calibri"/>
              <a:cs typeface="Calibri"/>
              <a:sym typeface="Calibri"/>
            </a:endParaRPr>
          </a:p>
        </p:txBody>
      </p:sp>
      <p:sp>
        <p:nvSpPr>
          <p:cNvPr id="361" name="Google Shape;361;p10"/>
          <p:cNvSpPr/>
          <p:nvPr/>
        </p:nvSpPr>
        <p:spPr>
          <a:xfrm>
            <a:off x="4506534" y="2324398"/>
            <a:ext cx="2238561" cy="326827"/>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0"/>
          <p:cNvSpPr/>
          <p:nvPr/>
        </p:nvSpPr>
        <p:spPr>
          <a:xfrm>
            <a:off x="4506534" y="2324398"/>
            <a:ext cx="2238561" cy="326827"/>
          </a:xfrm>
          <a:prstGeom prst="rect">
            <a:avLst/>
          </a:prstGeom>
          <a:noFill/>
          <a:ln>
            <a:noFill/>
          </a:ln>
        </p:spPr>
        <p:txBody>
          <a:bodyPr anchorCtr="0" anchor="ctr" bIns="102100" lIns="127500" spcFirstLastPara="1" rIns="127500" wrap="square" tIns="102100">
            <a:sp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ML-DSA-2</a:t>
            </a:r>
            <a:endParaRPr b="0" i="0" sz="784" u="none" cap="none" strike="noStrike">
              <a:solidFill>
                <a:schemeClr val="dk1"/>
              </a:solidFill>
              <a:latin typeface="Calibri"/>
              <a:ea typeface="Calibri"/>
              <a:cs typeface="Calibri"/>
              <a:sym typeface="Calibri"/>
            </a:endParaRPr>
          </a:p>
        </p:txBody>
      </p:sp>
      <p:sp>
        <p:nvSpPr>
          <p:cNvPr id="363" name="Google Shape;363;p10"/>
          <p:cNvSpPr/>
          <p:nvPr/>
        </p:nvSpPr>
        <p:spPr>
          <a:xfrm>
            <a:off x="6745095" y="2324398"/>
            <a:ext cx="2113155" cy="326827"/>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0"/>
          <p:cNvSpPr/>
          <p:nvPr/>
        </p:nvSpPr>
        <p:spPr>
          <a:xfrm>
            <a:off x="6745095" y="2324398"/>
            <a:ext cx="2113155" cy="326827"/>
          </a:xfrm>
          <a:prstGeom prst="rect">
            <a:avLst/>
          </a:prstGeom>
          <a:noFill/>
          <a:ln>
            <a:noFill/>
          </a:ln>
        </p:spPr>
        <p:txBody>
          <a:bodyPr anchorCtr="0" anchor="ctr" bIns="102100" lIns="127500" spcFirstLastPara="1" rIns="127500" wrap="square" tIns="102100">
            <a:spAutoFit/>
          </a:bodyPr>
          <a:lstStyle/>
          <a:p>
            <a:pPr indent="0" lvl="0" marL="0" marR="0" rtl="0" algn="l">
              <a:lnSpc>
                <a:spcPct val="140306"/>
              </a:lnSpc>
              <a:spcBef>
                <a:spcPts val="0"/>
              </a:spcBef>
              <a:spcAft>
                <a:spcPts val="0"/>
              </a:spcAft>
              <a:buClr>
                <a:srgbClr val="FFFFFF"/>
              </a:buClr>
              <a:buSzPts val="784"/>
              <a:buFont typeface="Calibri"/>
              <a:buNone/>
            </a:pPr>
            <a:r>
              <a:rPr b="1" i="0" lang="en-US" sz="784" u="none" cap="none" strike="noStrike">
                <a:solidFill>
                  <a:srgbClr val="FFFFFF"/>
                </a:solidFill>
                <a:latin typeface="Calibri"/>
                <a:ea typeface="Calibri"/>
                <a:cs typeface="Calibri"/>
                <a:sym typeface="Calibri"/>
              </a:rPr>
              <a:t>Falcon-512</a:t>
            </a:r>
            <a:endParaRPr b="0" i="0" sz="784" u="none" cap="none" strike="noStrike">
              <a:solidFill>
                <a:schemeClr val="dk1"/>
              </a:solidFill>
              <a:latin typeface="Calibri"/>
              <a:ea typeface="Calibri"/>
              <a:cs typeface="Calibri"/>
              <a:sym typeface="Calibri"/>
            </a:endParaRPr>
          </a:p>
        </p:txBody>
      </p:sp>
      <p:sp>
        <p:nvSpPr>
          <p:cNvPr id="365" name="Google Shape;365;p10"/>
          <p:cNvSpPr/>
          <p:nvPr/>
        </p:nvSpPr>
        <p:spPr>
          <a:xfrm>
            <a:off x="392906" y="2736949"/>
            <a:ext cx="792789" cy="155377"/>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4D5259"/>
              </a:buClr>
              <a:buSzPts val="784"/>
              <a:buFont typeface="Calibri"/>
              <a:buNone/>
            </a:pPr>
            <a:r>
              <a:rPr b="1" i="0" lang="en-US" sz="784" u="none" cap="none" strike="noStrike">
                <a:solidFill>
                  <a:srgbClr val="4D5259"/>
                </a:solidFill>
                <a:latin typeface="Calibri"/>
                <a:ea typeface="Calibri"/>
                <a:cs typeface="Calibri"/>
                <a:sym typeface="Calibri"/>
              </a:rPr>
              <a:t>Security Level</a:t>
            </a:r>
            <a:endParaRPr b="0" i="0" sz="784" u="none" cap="none" strike="noStrike">
              <a:solidFill>
                <a:schemeClr val="dk1"/>
              </a:solidFill>
              <a:latin typeface="Calibri"/>
              <a:ea typeface="Calibri"/>
              <a:cs typeface="Calibri"/>
              <a:sym typeface="Calibri"/>
            </a:endParaRPr>
          </a:p>
        </p:txBody>
      </p:sp>
      <p:sp>
        <p:nvSpPr>
          <p:cNvPr id="366" name="Google Shape;366;p10"/>
          <p:cNvSpPr/>
          <p:nvPr/>
        </p:nvSpPr>
        <p:spPr>
          <a:xfrm>
            <a:off x="2217548" y="2651224"/>
            <a:ext cx="2288986" cy="330398"/>
          </a:xfrm>
          <a:prstGeom prst="rect">
            <a:avLst/>
          </a:prstGeom>
          <a:noFill/>
          <a:ln>
            <a:noFill/>
          </a:ln>
        </p:spPr>
        <p:txBody>
          <a:bodyPr anchorCtr="0" anchor="ctr" bIns="102100" lIns="127500" spcFirstLastPara="1" rIns="127500" wrap="square" tIns="10210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NIST-3</a:t>
            </a:r>
            <a:endParaRPr b="0" i="0" sz="834" u="none" cap="none" strike="noStrike">
              <a:solidFill>
                <a:schemeClr val="dk1"/>
              </a:solidFill>
              <a:latin typeface="Calibri"/>
              <a:ea typeface="Calibri"/>
              <a:cs typeface="Calibri"/>
              <a:sym typeface="Calibri"/>
            </a:endParaRPr>
          </a:p>
        </p:txBody>
      </p:sp>
      <p:sp>
        <p:nvSpPr>
          <p:cNvPr id="367" name="Google Shape;367;p10"/>
          <p:cNvSpPr/>
          <p:nvPr/>
        </p:nvSpPr>
        <p:spPr>
          <a:xfrm>
            <a:off x="4506534" y="2651224"/>
            <a:ext cx="2238561" cy="330398"/>
          </a:xfrm>
          <a:prstGeom prst="rect">
            <a:avLst/>
          </a:prstGeom>
          <a:noFill/>
          <a:ln>
            <a:noFill/>
          </a:ln>
        </p:spPr>
        <p:txBody>
          <a:bodyPr anchorCtr="0" anchor="ctr" bIns="102100" lIns="127500" spcFirstLastPara="1" rIns="127500" wrap="square" tIns="10210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NIST-2</a:t>
            </a:r>
            <a:endParaRPr b="0" i="0" sz="834" u="none" cap="none" strike="noStrike">
              <a:solidFill>
                <a:schemeClr val="dk1"/>
              </a:solidFill>
              <a:latin typeface="Calibri"/>
              <a:ea typeface="Calibri"/>
              <a:cs typeface="Calibri"/>
              <a:sym typeface="Calibri"/>
            </a:endParaRPr>
          </a:p>
        </p:txBody>
      </p:sp>
      <p:sp>
        <p:nvSpPr>
          <p:cNvPr id="368" name="Google Shape;368;p10"/>
          <p:cNvSpPr/>
          <p:nvPr/>
        </p:nvSpPr>
        <p:spPr>
          <a:xfrm>
            <a:off x="6745095" y="2651224"/>
            <a:ext cx="2113155" cy="330398"/>
          </a:xfrm>
          <a:prstGeom prst="rect">
            <a:avLst/>
          </a:prstGeom>
          <a:noFill/>
          <a:ln>
            <a:noFill/>
          </a:ln>
        </p:spPr>
        <p:txBody>
          <a:bodyPr anchorCtr="0" anchor="ctr" bIns="102100" lIns="127500" spcFirstLastPara="1" rIns="127500" wrap="square" tIns="10210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NIST-1</a:t>
            </a:r>
            <a:endParaRPr b="0" i="0" sz="834" u="none" cap="none" strike="noStrike">
              <a:solidFill>
                <a:schemeClr val="dk1"/>
              </a:solidFill>
              <a:latin typeface="Calibri"/>
              <a:ea typeface="Calibri"/>
              <a:cs typeface="Calibri"/>
              <a:sym typeface="Calibri"/>
            </a:endParaRPr>
          </a:p>
        </p:txBody>
      </p:sp>
      <p:sp>
        <p:nvSpPr>
          <p:cNvPr id="369" name="Google Shape;369;p10"/>
          <p:cNvSpPr/>
          <p:nvPr/>
        </p:nvSpPr>
        <p:spPr>
          <a:xfrm>
            <a:off x="285750" y="2981623"/>
            <a:ext cx="8572500" cy="333970"/>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0"/>
          <p:cNvSpPr/>
          <p:nvPr/>
        </p:nvSpPr>
        <p:spPr>
          <a:xfrm>
            <a:off x="392906" y="3070920"/>
            <a:ext cx="674498" cy="155377"/>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4D5259"/>
              </a:buClr>
              <a:buSzPts val="784"/>
              <a:buFont typeface="Calibri"/>
              <a:buNone/>
            </a:pPr>
            <a:r>
              <a:rPr b="1" i="0" lang="en-US" sz="784" u="none" cap="none" strike="noStrike">
                <a:solidFill>
                  <a:srgbClr val="4D5259"/>
                </a:solidFill>
                <a:latin typeface="Calibri"/>
                <a:ea typeface="Calibri"/>
                <a:cs typeface="Calibri"/>
                <a:sym typeface="Calibri"/>
              </a:rPr>
              <a:t>Key/Sig Size</a:t>
            </a:r>
            <a:endParaRPr b="0" i="0" sz="784" u="none" cap="none" strike="noStrike">
              <a:solidFill>
                <a:schemeClr val="dk1"/>
              </a:solidFill>
              <a:latin typeface="Calibri"/>
              <a:ea typeface="Calibri"/>
              <a:cs typeface="Calibri"/>
              <a:sym typeface="Calibri"/>
            </a:endParaRPr>
          </a:p>
        </p:txBody>
      </p:sp>
      <p:sp>
        <p:nvSpPr>
          <p:cNvPr id="371" name="Google Shape;371;p10"/>
          <p:cNvSpPr/>
          <p:nvPr/>
        </p:nvSpPr>
        <p:spPr>
          <a:xfrm>
            <a:off x="2217548" y="2981623"/>
            <a:ext cx="2288986" cy="333970"/>
          </a:xfrm>
          <a:prstGeom prst="rect">
            <a:avLst/>
          </a:prstGeom>
          <a:noFill/>
          <a:ln>
            <a:noFill/>
          </a:ln>
        </p:spPr>
        <p:txBody>
          <a:bodyPr anchorCtr="0" anchor="ctr" bIns="102100" lIns="127500" spcFirstLastPara="1" rIns="127500" wrap="square" tIns="10210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1184B (Public Key)</a:t>
            </a:r>
            <a:endParaRPr b="0" i="0" sz="834" u="none" cap="none" strike="noStrike">
              <a:solidFill>
                <a:schemeClr val="dk1"/>
              </a:solidFill>
              <a:latin typeface="Calibri"/>
              <a:ea typeface="Calibri"/>
              <a:cs typeface="Calibri"/>
              <a:sym typeface="Calibri"/>
            </a:endParaRPr>
          </a:p>
        </p:txBody>
      </p:sp>
      <p:sp>
        <p:nvSpPr>
          <p:cNvPr id="372" name="Google Shape;372;p10"/>
          <p:cNvSpPr/>
          <p:nvPr/>
        </p:nvSpPr>
        <p:spPr>
          <a:xfrm>
            <a:off x="4506534" y="2981623"/>
            <a:ext cx="2238561" cy="333970"/>
          </a:xfrm>
          <a:prstGeom prst="rect">
            <a:avLst/>
          </a:prstGeom>
          <a:noFill/>
          <a:ln>
            <a:noFill/>
          </a:ln>
        </p:spPr>
        <p:txBody>
          <a:bodyPr anchorCtr="0" anchor="ctr" bIns="102100" lIns="127500" spcFirstLastPara="1" rIns="127500" wrap="square" tIns="10210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2420B (Signature)</a:t>
            </a:r>
            <a:endParaRPr b="0" i="0" sz="834" u="none" cap="none" strike="noStrike">
              <a:solidFill>
                <a:schemeClr val="dk1"/>
              </a:solidFill>
              <a:latin typeface="Calibri"/>
              <a:ea typeface="Calibri"/>
              <a:cs typeface="Calibri"/>
              <a:sym typeface="Calibri"/>
            </a:endParaRPr>
          </a:p>
        </p:txBody>
      </p:sp>
      <p:sp>
        <p:nvSpPr>
          <p:cNvPr id="373" name="Google Shape;373;p10"/>
          <p:cNvSpPr/>
          <p:nvPr/>
        </p:nvSpPr>
        <p:spPr>
          <a:xfrm>
            <a:off x="6745095" y="2981623"/>
            <a:ext cx="2113155" cy="333970"/>
          </a:xfrm>
          <a:prstGeom prst="rect">
            <a:avLst/>
          </a:prstGeom>
          <a:noFill/>
          <a:ln>
            <a:noFill/>
          </a:ln>
        </p:spPr>
        <p:txBody>
          <a:bodyPr anchorCtr="0" anchor="ctr" bIns="102100" lIns="127500" spcFirstLastPara="1" rIns="127500" wrap="square" tIns="10210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666B (Signature)</a:t>
            </a:r>
            <a:endParaRPr b="0" i="0" sz="834" u="none" cap="none" strike="noStrike">
              <a:solidFill>
                <a:schemeClr val="dk1"/>
              </a:solidFill>
              <a:latin typeface="Calibri"/>
              <a:ea typeface="Calibri"/>
              <a:cs typeface="Calibri"/>
              <a:sym typeface="Calibri"/>
            </a:endParaRPr>
          </a:p>
        </p:txBody>
      </p:sp>
      <p:sp>
        <p:nvSpPr>
          <p:cNvPr id="374" name="Google Shape;374;p10"/>
          <p:cNvSpPr/>
          <p:nvPr/>
        </p:nvSpPr>
        <p:spPr>
          <a:xfrm>
            <a:off x="392906" y="3404890"/>
            <a:ext cx="735081" cy="155377"/>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4D5259"/>
              </a:buClr>
              <a:buSzPts val="784"/>
              <a:buFont typeface="Calibri"/>
              <a:buNone/>
            </a:pPr>
            <a:r>
              <a:rPr b="1" i="0" lang="en-US" sz="784" u="none" cap="none" strike="noStrike">
                <a:solidFill>
                  <a:srgbClr val="4D5259"/>
                </a:solidFill>
                <a:latin typeface="Calibri"/>
                <a:ea typeface="Calibri"/>
                <a:cs typeface="Calibri"/>
                <a:sym typeface="Calibri"/>
              </a:rPr>
              <a:t>Primary Role</a:t>
            </a:r>
            <a:endParaRPr b="0" i="0" sz="784" u="none" cap="none" strike="noStrike">
              <a:solidFill>
                <a:schemeClr val="dk1"/>
              </a:solidFill>
              <a:latin typeface="Calibri"/>
              <a:ea typeface="Calibri"/>
              <a:cs typeface="Calibri"/>
              <a:sym typeface="Calibri"/>
            </a:endParaRPr>
          </a:p>
        </p:txBody>
      </p:sp>
      <p:sp>
        <p:nvSpPr>
          <p:cNvPr id="375" name="Google Shape;375;p10"/>
          <p:cNvSpPr/>
          <p:nvPr/>
        </p:nvSpPr>
        <p:spPr>
          <a:xfrm>
            <a:off x="2217548" y="3315593"/>
            <a:ext cx="2288986" cy="333970"/>
          </a:xfrm>
          <a:prstGeom prst="rect">
            <a:avLst/>
          </a:prstGeom>
          <a:noFill/>
          <a:ln>
            <a:noFill/>
          </a:ln>
        </p:spPr>
        <p:txBody>
          <a:bodyPr anchorCtr="0" anchor="ctr" bIns="102100" lIns="127500" spcFirstLastPara="1" rIns="127500" wrap="square" tIns="10210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Key Exchange</a:t>
            </a:r>
            <a:endParaRPr b="0" i="0" sz="834" u="none" cap="none" strike="noStrike">
              <a:solidFill>
                <a:schemeClr val="dk1"/>
              </a:solidFill>
              <a:latin typeface="Calibri"/>
              <a:ea typeface="Calibri"/>
              <a:cs typeface="Calibri"/>
              <a:sym typeface="Calibri"/>
            </a:endParaRPr>
          </a:p>
        </p:txBody>
      </p:sp>
      <p:sp>
        <p:nvSpPr>
          <p:cNvPr id="376" name="Google Shape;376;p10"/>
          <p:cNvSpPr/>
          <p:nvPr/>
        </p:nvSpPr>
        <p:spPr>
          <a:xfrm>
            <a:off x="4506534" y="3315593"/>
            <a:ext cx="2238561" cy="333970"/>
          </a:xfrm>
          <a:prstGeom prst="rect">
            <a:avLst/>
          </a:prstGeom>
          <a:noFill/>
          <a:ln>
            <a:noFill/>
          </a:ln>
        </p:spPr>
        <p:txBody>
          <a:bodyPr anchorCtr="0" anchor="ctr" bIns="102100" lIns="127500" spcFirstLastPara="1" rIns="127500" wrap="square" tIns="10210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Authentication</a:t>
            </a:r>
            <a:endParaRPr b="0" i="0" sz="834" u="none" cap="none" strike="noStrike">
              <a:solidFill>
                <a:schemeClr val="dk1"/>
              </a:solidFill>
              <a:latin typeface="Calibri"/>
              <a:ea typeface="Calibri"/>
              <a:cs typeface="Calibri"/>
              <a:sym typeface="Calibri"/>
            </a:endParaRPr>
          </a:p>
        </p:txBody>
      </p:sp>
      <p:sp>
        <p:nvSpPr>
          <p:cNvPr id="377" name="Google Shape;377;p10"/>
          <p:cNvSpPr/>
          <p:nvPr/>
        </p:nvSpPr>
        <p:spPr>
          <a:xfrm>
            <a:off x="6745095" y="3315593"/>
            <a:ext cx="2113155" cy="333970"/>
          </a:xfrm>
          <a:prstGeom prst="rect">
            <a:avLst/>
          </a:prstGeom>
          <a:noFill/>
          <a:ln>
            <a:noFill/>
          </a:ln>
        </p:spPr>
        <p:txBody>
          <a:bodyPr anchorCtr="0" anchor="ctr" bIns="102100" lIns="127500" spcFirstLastPara="1" rIns="127500" wrap="square" tIns="10210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Fast Verification</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descr="preencoded.png" id="383" name="Google Shape;383;p1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84" name="Google Shape;384;p11"/>
          <p:cNvSpPr/>
          <p:nvPr/>
        </p:nvSpPr>
        <p:spPr>
          <a:xfrm>
            <a:off x="821531" y="438894"/>
            <a:ext cx="6557628"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First Results: Benchmarks on STM32H7B3I @ 280 MHz</a:t>
            </a:r>
            <a:endParaRPr b="0" i="0" sz="1602" u="none" cap="none" strike="noStrike">
              <a:solidFill>
                <a:schemeClr val="dk1"/>
              </a:solidFill>
              <a:latin typeface="Calibri"/>
              <a:ea typeface="Calibri"/>
              <a:cs typeface="Calibri"/>
              <a:sym typeface="Calibri"/>
            </a:endParaRPr>
          </a:p>
        </p:txBody>
      </p:sp>
      <p:sp>
        <p:nvSpPr>
          <p:cNvPr id="385" name="Google Shape;385;p11"/>
          <p:cNvSpPr/>
          <p:nvPr/>
        </p:nvSpPr>
        <p:spPr>
          <a:xfrm>
            <a:off x="0" y="1023147"/>
            <a:ext cx="9144000" cy="230386"/>
          </a:xfrm>
          <a:prstGeom prst="rect">
            <a:avLst/>
          </a:prstGeom>
          <a:noFill/>
          <a:ln>
            <a:noFill/>
          </a:ln>
        </p:spPr>
        <p:txBody>
          <a:bodyPr anchorCtr="0" anchor="t" bIns="0" lIns="978025" spcFirstLastPara="1" rIns="0" wrap="square" tIns="42525">
            <a:spAutoFit/>
          </a:bodyPr>
          <a:lstStyle/>
          <a:p>
            <a:pPr indent="0" lvl="0" marL="0" marR="0" rtl="0" algn="l">
              <a:lnSpc>
                <a:spcPct val="133333"/>
              </a:lnSpc>
              <a:spcBef>
                <a:spcPts val="0"/>
              </a:spcBef>
              <a:spcAft>
                <a:spcPts val="0"/>
              </a:spcAft>
              <a:buClr>
                <a:srgbClr val="00A651"/>
              </a:buClr>
              <a:buSzPts val="1050"/>
              <a:buFont typeface="Calibri"/>
              <a:buNone/>
            </a:pPr>
            <a:r>
              <a:rPr b="0" i="0" lang="en-US" sz="1050" u="none" cap="none" strike="noStrike">
                <a:solidFill>
                  <a:srgbClr val="00A651"/>
                </a:solidFill>
                <a:latin typeface="Calibri"/>
                <a:ea typeface="Calibri"/>
                <a:cs typeface="Calibri"/>
                <a:sym typeface="Calibri"/>
              </a:rPr>
              <a:t>Exceeding Published State-of-the-Art Results</a:t>
            </a:r>
            <a:endParaRPr b="0" i="0" sz="1050" u="none" cap="none" strike="noStrike">
              <a:solidFill>
                <a:schemeClr val="dk1"/>
              </a:solidFill>
              <a:latin typeface="Calibri"/>
              <a:ea typeface="Calibri"/>
              <a:cs typeface="Calibri"/>
              <a:sym typeface="Calibri"/>
            </a:endParaRPr>
          </a:p>
        </p:txBody>
      </p:sp>
      <p:sp>
        <p:nvSpPr>
          <p:cNvPr id="386" name="Google Shape;386;p11"/>
          <p:cNvSpPr/>
          <p:nvPr/>
        </p:nvSpPr>
        <p:spPr>
          <a:xfrm>
            <a:off x="428625" y="1500690"/>
            <a:ext cx="8286750" cy="51435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1"/>
          <p:cNvSpPr/>
          <p:nvPr/>
        </p:nvSpPr>
        <p:spPr>
          <a:xfrm>
            <a:off x="428625" y="1500690"/>
            <a:ext cx="42863" cy="514350"/>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8" name="Google Shape;388;p11"/>
          <p:cNvPicPr preferRelativeResize="0"/>
          <p:nvPr/>
        </p:nvPicPr>
        <p:blipFill rotWithShape="1">
          <a:blip r:embed="rId4">
            <a:alphaModFix/>
          </a:blip>
          <a:srcRect b="0" l="0" r="0" t="0"/>
          <a:stretch/>
        </p:blipFill>
        <p:spPr>
          <a:xfrm>
            <a:off x="614363" y="1602488"/>
            <a:ext cx="157163" cy="157163"/>
          </a:xfrm>
          <a:prstGeom prst="rect">
            <a:avLst/>
          </a:prstGeom>
          <a:noFill/>
          <a:ln>
            <a:noFill/>
          </a:ln>
        </p:spPr>
      </p:pic>
      <p:sp>
        <p:nvSpPr>
          <p:cNvPr id="389" name="Google Shape;389;p11"/>
          <p:cNvSpPr/>
          <p:nvPr/>
        </p:nvSpPr>
        <p:spPr>
          <a:xfrm>
            <a:off x="857250" y="1572127"/>
            <a:ext cx="7458326" cy="214313"/>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STM32H7 outperforms AURIX TC397 (300 MHz) — with just cache optimization, no internal RAM</a:t>
            </a:r>
            <a:endParaRPr b="0" i="0" sz="1090" u="none" cap="none" strike="noStrike">
              <a:solidFill>
                <a:schemeClr val="dk1"/>
              </a:solidFill>
              <a:latin typeface="Calibri"/>
              <a:ea typeface="Calibri"/>
              <a:cs typeface="Calibri"/>
              <a:sym typeface="Calibri"/>
            </a:endParaRPr>
          </a:p>
        </p:txBody>
      </p:sp>
      <p:sp>
        <p:nvSpPr>
          <p:cNvPr id="390" name="Google Shape;390;p11"/>
          <p:cNvSpPr/>
          <p:nvPr/>
        </p:nvSpPr>
        <p:spPr>
          <a:xfrm>
            <a:off x="614363" y="1786440"/>
            <a:ext cx="580876" cy="214313"/>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needed</a:t>
            </a:r>
            <a:endParaRPr b="0" i="0" sz="1090" u="none" cap="none" strike="noStrike">
              <a:solidFill>
                <a:schemeClr val="dk1"/>
              </a:solidFill>
              <a:latin typeface="Calibri"/>
              <a:ea typeface="Calibri"/>
              <a:cs typeface="Calibri"/>
              <a:sym typeface="Calibri"/>
            </a:endParaRPr>
          </a:p>
        </p:txBody>
      </p:sp>
      <p:sp>
        <p:nvSpPr>
          <p:cNvPr id="391" name="Google Shape;391;p11"/>
          <p:cNvSpPr/>
          <p:nvPr/>
        </p:nvSpPr>
        <p:spPr>
          <a:xfrm>
            <a:off x="428625" y="2100765"/>
            <a:ext cx="2468166" cy="350044"/>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1"/>
          <p:cNvSpPr/>
          <p:nvPr/>
        </p:nvSpPr>
        <p:spPr>
          <a:xfrm>
            <a:off x="428625" y="2100765"/>
            <a:ext cx="2468166" cy="350044"/>
          </a:xfrm>
          <a:prstGeom prst="rect">
            <a:avLst/>
          </a:prstGeom>
          <a:noFill/>
          <a:ln>
            <a:noFill/>
          </a:ln>
        </p:spPr>
        <p:txBody>
          <a:bodyPr anchorCtr="0" anchor="ctr" bIns="8500" lIns="170050" spcFirstLastPara="1" rIns="8500" wrap="square" tIns="102100">
            <a:sp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ML-KEM Variant</a:t>
            </a:r>
            <a:endParaRPr b="0" i="0" sz="885" u="none" cap="none" strike="noStrike">
              <a:solidFill>
                <a:schemeClr val="dk1"/>
              </a:solidFill>
              <a:latin typeface="Calibri"/>
              <a:ea typeface="Calibri"/>
              <a:cs typeface="Calibri"/>
              <a:sym typeface="Calibri"/>
            </a:endParaRPr>
          </a:p>
        </p:txBody>
      </p:sp>
      <p:sp>
        <p:nvSpPr>
          <p:cNvPr id="393" name="Google Shape;393;p11"/>
          <p:cNvSpPr/>
          <p:nvPr/>
        </p:nvSpPr>
        <p:spPr>
          <a:xfrm>
            <a:off x="2896791" y="2100765"/>
            <a:ext cx="1968968" cy="350044"/>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1"/>
          <p:cNvSpPr/>
          <p:nvPr/>
        </p:nvSpPr>
        <p:spPr>
          <a:xfrm>
            <a:off x="2896791" y="2100765"/>
            <a:ext cx="1968968" cy="350044"/>
          </a:xfrm>
          <a:prstGeom prst="rect">
            <a:avLst/>
          </a:prstGeom>
          <a:noFill/>
          <a:ln>
            <a:noFill/>
          </a:ln>
        </p:spPr>
        <p:txBody>
          <a:bodyPr anchorCtr="0" anchor="ctr" bIns="8500" lIns="170050" spcFirstLastPara="1" rIns="8500" wrap="square" tIns="102100">
            <a:sp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Keygen (ms)</a:t>
            </a:r>
            <a:endParaRPr b="0" i="0" sz="885" u="none" cap="none" strike="noStrike">
              <a:solidFill>
                <a:schemeClr val="dk1"/>
              </a:solidFill>
              <a:latin typeface="Calibri"/>
              <a:ea typeface="Calibri"/>
              <a:cs typeface="Calibri"/>
              <a:sym typeface="Calibri"/>
            </a:endParaRPr>
          </a:p>
        </p:txBody>
      </p:sp>
      <p:sp>
        <p:nvSpPr>
          <p:cNvPr id="395" name="Google Shape;395;p11"/>
          <p:cNvSpPr/>
          <p:nvPr/>
        </p:nvSpPr>
        <p:spPr>
          <a:xfrm>
            <a:off x="4865759" y="2100765"/>
            <a:ext cx="1909363" cy="350044"/>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1"/>
          <p:cNvSpPr/>
          <p:nvPr/>
        </p:nvSpPr>
        <p:spPr>
          <a:xfrm>
            <a:off x="4865759" y="2100765"/>
            <a:ext cx="1909363" cy="350044"/>
          </a:xfrm>
          <a:prstGeom prst="rect">
            <a:avLst/>
          </a:prstGeom>
          <a:noFill/>
          <a:ln>
            <a:noFill/>
          </a:ln>
        </p:spPr>
        <p:txBody>
          <a:bodyPr anchorCtr="0" anchor="ctr" bIns="8500" lIns="170050" spcFirstLastPara="1" rIns="8500" wrap="square" tIns="102100">
            <a:sp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Encaps (ms)</a:t>
            </a:r>
            <a:endParaRPr b="0" i="0" sz="885" u="none" cap="none" strike="noStrike">
              <a:solidFill>
                <a:schemeClr val="dk1"/>
              </a:solidFill>
              <a:latin typeface="Calibri"/>
              <a:ea typeface="Calibri"/>
              <a:cs typeface="Calibri"/>
              <a:sym typeface="Calibri"/>
            </a:endParaRPr>
          </a:p>
        </p:txBody>
      </p:sp>
      <p:sp>
        <p:nvSpPr>
          <p:cNvPr id="397" name="Google Shape;397;p11"/>
          <p:cNvSpPr/>
          <p:nvPr/>
        </p:nvSpPr>
        <p:spPr>
          <a:xfrm>
            <a:off x="6775121" y="2100765"/>
            <a:ext cx="1940254" cy="350044"/>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a:off x="6775121" y="2100765"/>
            <a:ext cx="1940254" cy="350044"/>
          </a:xfrm>
          <a:prstGeom prst="rect">
            <a:avLst/>
          </a:prstGeom>
          <a:noFill/>
          <a:ln>
            <a:noFill/>
          </a:ln>
        </p:spPr>
        <p:txBody>
          <a:bodyPr anchorCtr="0" anchor="ctr" bIns="8500" lIns="170050" spcFirstLastPara="1" rIns="8500" wrap="square" tIns="102100">
            <a:sp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Decaps (ms)</a:t>
            </a:r>
            <a:endParaRPr b="0" i="0" sz="885" u="none" cap="none" strike="noStrike">
              <a:solidFill>
                <a:schemeClr val="dk1"/>
              </a:solidFill>
              <a:latin typeface="Calibri"/>
              <a:ea typeface="Calibri"/>
              <a:cs typeface="Calibri"/>
              <a:sym typeface="Calibri"/>
            </a:endParaRPr>
          </a:p>
        </p:txBody>
      </p:sp>
      <p:sp>
        <p:nvSpPr>
          <p:cNvPr id="399" name="Google Shape;399;p11"/>
          <p:cNvSpPr/>
          <p:nvPr/>
        </p:nvSpPr>
        <p:spPr>
          <a:xfrm>
            <a:off x="571500" y="2577610"/>
            <a:ext cx="776046"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5A6069"/>
              </a:buClr>
              <a:buSzPts val="885"/>
              <a:buFont typeface="Calibri"/>
              <a:buNone/>
            </a:pPr>
            <a:r>
              <a:rPr b="1" i="0" lang="en-US" sz="885" u="none" cap="none" strike="noStrike">
                <a:solidFill>
                  <a:srgbClr val="5A6069"/>
                </a:solidFill>
                <a:latin typeface="Calibri"/>
                <a:ea typeface="Calibri"/>
                <a:cs typeface="Calibri"/>
                <a:sym typeface="Calibri"/>
              </a:rPr>
              <a:t>ML-KEM-512</a:t>
            </a:r>
            <a:endParaRPr b="0" i="0" sz="885" u="none" cap="none" strike="noStrike">
              <a:solidFill>
                <a:schemeClr val="dk1"/>
              </a:solidFill>
              <a:latin typeface="Calibri"/>
              <a:ea typeface="Calibri"/>
              <a:cs typeface="Calibri"/>
              <a:sym typeface="Calibri"/>
            </a:endParaRPr>
          </a:p>
        </p:txBody>
      </p:sp>
      <p:sp>
        <p:nvSpPr>
          <p:cNvPr id="400" name="Google Shape;400;p11"/>
          <p:cNvSpPr/>
          <p:nvPr/>
        </p:nvSpPr>
        <p:spPr>
          <a:xfrm>
            <a:off x="2896791" y="2450809"/>
            <a:ext cx="1968968" cy="353616"/>
          </a:xfrm>
          <a:prstGeom prst="rect">
            <a:avLst/>
          </a:prstGeom>
          <a:noFill/>
          <a:ln>
            <a:noFill/>
          </a:ln>
        </p:spPr>
        <p:txBody>
          <a:bodyPr anchorCtr="0" anchor="ctr" bIns="8500" lIns="170050" spcFirstLastPara="1" rIns="8500" wrap="square" tIns="102100">
            <a:spAutoFit/>
          </a:bodyPr>
          <a:lstStyle/>
          <a:p>
            <a:pPr indent="0" lvl="0" marL="0" marR="0" rtl="0" algn="l">
              <a:lnSpc>
                <a:spcPct val="127388"/>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1.84</a:t>
            </a:r>
            <a:endParaRPr b="0" i="0" sz="942" u="none" cap="none" strike="noStrike">
              <a:solidFill>
                <a:schemeClr val="dk1"/>
              </a:solidFill>
              <a:latin typeface="Calibri"/>
              <a:ea typeface="Calibri"/>
              <a:cs typeface="Calibri"/>
              <a:sym typeface="Calibri"/>
            </a:endParaRPr>
          </a:p>
        </p:txBody>
      </p:sp>
      <p:sp>
        <p:nvSpPr>
          <p:cNvPr id="401" name="Google Shape;401;p11"/>
          <p:cNvSpPr/>
          <p:nvPr/>
        </p:nvSpPr>
        <p:spPr>
          <a:xfrm>
            <a:off x="4865759" y="2450809"/>
            <a:ext cx="1909363" cy="353616"/>
          </a:xfrm>
          <a:prstGeom prst="rect">
            <a:avLst/>
          </a:prstGeom>
          <a:noFill/>
          <a:ln>
            <a:noFill/>
          </a:ln>
        </p:spPr>
        <p:txBody>
          <a:bodyPr anchorCtr="0" anchor="ctr" bIns="8500" lIns="170050" spcFirstLastPara="1" rIns="8500" wrap="square" tIns="102100">
            <a:spAutoFit/>
          </a:bodyPr>
          <a:lstStyle/>
          <a:p>
            <a:pPr indent="0" lvl="0" marL="0" marR="0" rtl="0" algn="l">
              <a:lnSpc>
                <a:spcPct val="127388"/>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2.42</a:t>
            </a:r>
            <a:endParaRPr b="0" i="0" sz="942" u="none" cap="none" strike="noStrike">
              <a:solidFill>
                <a:schemeClr val="dk1"/>
              </a:solidFill>
              <a:latin typeface="Calibri"/>
              <a:ea typeface="Calibri"/>
              <a:cs typeface="Calibri"/>
              <a:sym typeface="Calibri"/>
            </a:endParaRPr>
          </a:p>
        </p:txBody>
      </p:sp>
      <p:sp>
        <p:nvSpPr>
          <p:cNvPr id="402" name="Google Shape;402;p11"/>
          <p:cNvSpPr/>
          <p:nvPr/>
        </p:nvSpPr>
        <p:spPr>
          <a:xfrm>
            <a:off x="6775121" y="2450809"/>
            <a:ext cx="1940254" cy="353616"/>
          </a:xfrm>
          <a:prstGeom prst="rect">
            <a:avLst/>
          </a:prstGeom>
          <a:noFill/>
          <a:ln>
            <a:noFill/>
          </a:ln>
        </p:spPr>
        <p:txBody>
          <a:bodyPr anchorCtr="0" anchor="ctr" bIns="8500" lIns="170050" spcFirstLastPara="1" rIns="8500" wrap="square" tIns="102100">
            <a:spAutoFit/>
          </a:bodyPr>
          <a:lstStyle/>
          <a:p>
            <a:pPr indent="0" lvl="0" marL="0" marR="0" rtl="0" algn="l">
              <a:lnSpc>
                <a:spcPct val="127388"/>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2.51</a:t>
            </a:r>
            <a:endParaRPr b="0" i="0" sz="942" u="none" cap="none" strike="noStrike">
              <a:solidFill>
                <a:schemeClr val="dk1"/>
              </a:solidFill>
              <a:latin typeface="Calibri"/>
              <a:ea typeface="Calibri"/>
              <a:cs typeface="Calibri"/>
              <a:sym typeface="Calibri"/>
            </a:endParaRPr>
          </a:p>
        </p:txBody>
      </p:sp>
      <p:sp>
        <p:nvSpPr>
          <p:cNvPr id="403" name="Google Shape;403;p11"/>
          <p:cNvSpPr/>
          <p:nvPr/>
        </p:nvSpPr>
        <p:spPr>
          <a:xfrm>
            <a:off x="428625" y="2804424"/>
            <a:ext cx="8286750" cy="357188"/>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1"/>
          <p:cNvSpPr/>
          <p:nvPr/>
        </p:nvSpPr>
        <p:spPr>
          <a:xfrm>
            <a:off x="571500" y="2934798"/>
            <a:ext cx="776046"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5A6069"/>
              </a:buClr>
              <a:buSzPts val="885"/>
              <a:buFont typeface="Calibri"/>
              <a:buNone/>
            </a:pPr>
            <a:r>
              <a:rPr b="1" i="0" lang="en-US" sz="885" u="none" cap="none" strike="noStrike">
                <a:solidFill>
                  <a:srgbClr val="5A6069"/>
                </a:solidFill>
                <a:latin typeface="Calibri"/>
                <a:ea typeface="Calibri"/>
                <a:cs typeface="Calibri"/>
                <a:sym typeface="Calibri"/>
              </a:rPr>
              <a:t>ML-KEM-768</a:t>
            </a:r>
            <a:endParaRPr b="0" i="0" sz="885" u="none" cap="none" strike="noStrike">
              <a:solidFill>
                <a:schemeClr val="dk1"/>
              </a:solidFill>
              <a:latin typeface="Calibri"/>
              <a:ea typeface="Calibri"/>
              <a:cs typeface="Calibri"/>
              <a:sym typeface="Calibri"/>
            </a:endParaRPr>
          </a:p>
        </p:txBody>
      </p:sp>
      <p:sp>
        <p:nvSpPr>
          <p:cNvPr id="405" name="Google Shape;405;p11"/>
          <p:cNvSpPr/>
          <p:nvPr/>
        </p:nvSpPr>
        <p:spPr>
          <a:xfrm>
            <a:off x="2896791" y="2804424"/>
            <a:ext cx="1968968" cy="357188"/>
          </a:xfrm>
          <a:prstGeom prst="rect">
            <a:avLst/>
          </a:prstGeom>
          <a:noFill/>
          <a:ln>
            <a:noFill/>
          </a:ln>
        </p:spPr>
        <p:txBody>
          <a:bodyPr anchorCtr="0" anchor="ctr" bIns="8500" lIns="170050" spcFirstLastPara="1" rIns="8500" wrap="square" tIns="102100">
            <a:spAutoFit/>
          </a:bodyPr>
          <a:lstStyle/>
          <a:p>
            <a:pPr indent="0" lvl="0" marL="0" marR="0" rtl="0" algn="l">
              <a:lnSpc>
                <a:spcPct val="127388"/>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3.12</a:t>
            </a:r>
            <a:endParaRPr b="0" i="0" sz="942" u="none" cap="none" strike="noStrike">
              <a:solidFill>
                <a:schemeClr val="dk1"/>
              </a:solidFill>
              <a:latin typeface="Calibri"/>
              <a:ea typeface="Calibri"/>
              <a:cs typeface="Calibri"/>
              <a:sym typeface="Calibri"/>
            </a:endParaRPr>
          </a:p>
        </p:txBody>
      </p:sp>
      <p:sp>
        <p:nvSpPr>
          <p:cNvPr id="406" name="Google Shape;406;p11"/>
          <p:cNvSpPr/>
          <p:nvPr/>
        </p:nvSpPr>
        <p:spPr>
          <a:xfrm>
            <a:off x="4865759" y="2804424"/>
            <a:ext cx="1909363" cy="357188"/>
          </a:xfrm>
          <a:prstGeom prst="rect">
            <a:avLst/>
          </a:prstGeom>
          <a:noFill/>
          <a:ln>
            <a:noFill/>
          </a:ln>
        </p:spPr>
        <p:txBody>
          <a:bodyPr anchorCtr="0" anchor="ctr" bIns="8500" lIns="170050" spcFirstLastPara="1" rIns="8500" wrap="square" tIns="102100">
            <a:spAutoFit/>
          </a:bodyPr>
          <a:lstStyle/>
          <a:p>
            <a:pPr indent="0" lvl="0" marL="0" marR="0" rtl="0" algn="l">
              <a:lnSpc>
                <a:spcPct val="127388"/>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4.08</a:t>
            </a:r>
            <a:endParaRPr b="0" i="0" sz="942" u="none" cap="none" strike="noStrike">
              <a:solidFill>
                <a:schemeClr val="dk1"/>
              </a:solidFill>
              <a:latin typeface="Calibri"/>
              <a:ea typeface="Calibri"/>
              <a:cs typeface="Calibri"/>
              <a:sym typeface="Calibri"/>
            </a:endParaRPr>
          </a:p>
        </p:txBody>
      </p:sp>
      <p:sp>
        <p:nvSpPr>
          <p:cNvPr id="407" name="Google Shape;407;p11"/>
          <p:cNvSpPr/>
          <p:nvPr/>
        </p:nvSpPr>
        <p:spPr>
          <a:xfrm>
            <a:off x="6775121" y="2804424"/>
            <a:ext cx="1940254" cy="357188"/>
          </a:xfrm>
          <a:prstGeom prst="rect">
            <a:avLst/>
          </a:prstGeom>
          <a:noFill/>
          <a:ln>
            <a:noFill/>
          </a:ln>
        </p:spPr>
        <p:txBody>
          <a:bodyPr anchorCtr="0" anchor="ctr" bIns="8500" lIns="170050" spcFirstLastPara="1" rIns="8500" wrap="square" tIns="102100">
            <a:spAutoFit/>
          </a:bodyPr>
          <a:lstStyle/>
          <a:p>
            <a:pPr indent="0" lvl="0" marL="0" marR="0" rtl="0" algn="l">
              <a:lnSpc>
                <a:spcPct val="127388"/>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4.15</a:t>
            </a:r>
            <a:endParaRPr b="0" i="0" sz="942" u="none" cap="none" strike="noStrike">
              <a:solidFill>
                <a:schemeClr val="dk1"/>
              </a:solidFill>
              <a:latin typeface="Calibri"/>
              <a:ea typeface="Calibri"/>
              <a:cs typeface="Calibri"/>
              <a:sym typeface="Calibri"/>
            </a:endParaRPr>
          </a:p>
        </p:txBody>
      </p:sp>
      <p:sp>
        <p:nvSpPr>
          <p:cNvPr id="408" name="Google Shape;408;p11"/>
          <p:cNvSpPr/>
          <p:nvPr/>
        </p:nvSpPr>
        <p:spPr>
          <a:xfrm>
            <a:off x="571500" y="3291985"/>
            <a:ext cx="849604"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5A6069"/>
              </a:buClr>
              <a:buSzPts val="885"/>
              <a:buFont typeface="Calibri"/>
              <a:buNone/>
            </a:pPr>
            <a:r>
              <a:rPr b="1" i="0" lang="en-US" sz="885" u="none" cap="none" strike="noStrike">
                <a:solidFill>
                  <a:srgbClr val="5A6069"/>
                </a:solidFill>
                <a:latin typeface="Calibri"/>
                <a:ea typeface="Calibri"/>
                <a:cs typeface="Calibri"/>
                <a:sym typeface="Calibri"/>
              </a:rPr>
              <a:t>ML-KEM-1024</a:t>
            </a:r>
            <a:endParaRPr b="0" i="0" sz="885" u="none" cap="none" strike="noStrike">
              <a:solidFill>
                <a:schemeClr val="dk1"/>
              </a:solidFill>
              <a:latin typeface="Calibri"/>
              <a:ea typeface="Calibri"/>
              <a:cs typeface="Calibri"/>
              <a:sym typeface="Calibri"/>
            </a:endParaRPr>
          </a:p>
        </p:txBody>
      </p:sp>
      <p:sp>
        <p:nvSpPr>
          <p:cNvPr id="409" name="Google Shape;409;p11"/>
          <p:cNvSpPr/>
          <p:nvPr/>
        </p:nvSpPr>
        <p:spPr>
          <a:xfrm>
            <a:off x="2896791" y="3161612"/>
            <a:ext cx="1968968" cy="357188"/>
          </a:xfrm>
          <a:prstGeom prst="rect">
            <a:avLst/>
          </a:prstGeom>
          <a:noFill/>
          <a:ln>
            <a:noFill/>
          </a:ln>
        </p:spPr>
        <p:txBody>
          <a:bodyPr anchorCtr="0" anchor="ctr" bIns="8500" lIns="170050" spcFirstLastPara="1" rIns="8500" wrap="square" tIns="102100">
            <a:spAutoFit/>
          </a:bodyPr>
          <a:lstStyle/>
          <a:p>
            <a:pPr indent="0" lvl="0" marL="0" marR="0" rtl="0" algn="l">
              <a:lnSpc>
                <a:spcPct val="127388"/>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4.85</a:t>
            </a:r>
            <a:endParaRPr b="0" i="0" sz="942" u="none" cap="none" strike="noStrike">
              <a:solidFill>
                <a:schemeClr val="dk1"/>
              </a:solidFill>
              <a:latin typeface="Calibri"/>
              <a:ea typeface="Calibri"/>
              <a:cs typeface="Calibri"/>
              <a:sym typeface="Calibri"/>
            </a:endParaRPr>
          </a:p>
        </p:txBody>
      </p:sp>
      <p:sp>
        <p:nvSpPr>
          <p:cNvPr id="410" name="Google Shape;410;p11"/>
          <p:cNvSpPr/>
          <p:nvPr/>
        </p:nvSpPr>
        <p:spPr>
          <a:xfrm>
            <a:off x="4865759" y="3161612"/>
            <a:ext cx="1909363" cy="357188"/>
          </a:xfrm>
          <a:prstGeom prst="rect">
            <a:avLst/>
          </a:prstGeom>
          <a:noFill/>
          <a:ln>
            <a:noFill/>
          </a:ln>
        </p:spPr>
        <p:txBody>
          <a:bodyPr anchorCtr="0" anchor="ctr" bIns="8500" lIns="170050" spcFirstLastPara="1" rIns="8500" wrap="square" tIns="102100">
            <a:spAutoFit/>
          </a:bodyPr>
          <a:lstStyle/>
          <a:p>
            <a:pPr indent="0" lvl="0" marL="0" marR="0" rtl="0" algn="l">
              <a:lnSpc>
                <a:spcPct val="127388"/>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6.24</a:t>
            </a:r>
            <a:endParaRPr b="0" i="0" sz="942" u="none" cap="none" strike="noStrike">
              <a:solidFill>
                <a:schemeClr val="dk1"/>
              </a:solidFill>
              <a:latin typeface="Calibri"/>
              <a:ea typeface="Calibri"/>
              <a:cs typeface="Calibri"/>
              <a:sym typeface="Calibri"/>
            </a:endParaRPr>
          </a:p>
        </p:txBody>
      </p:sp>
      <p:sp>
        <p:nvSpPr>
          <p:cNvPr id="411" name="Google Shape;411;p11"/>
          <p:cNvSpPr/>
          <p:nvPr/>
        </p:nvSpPr>
        <p:spPr>
          <a:xfrm>
            <a:off x="6775121" y="3161612"/>
            <a:ext cx="1940254" cy="357188"/>
          </a:xfrm>
          <a:prstGeom prst="rect">
            <a:avLst/>
          </a:prstGeom>
          <a:noFill/>
          <a:ln>
            <a:noFill/>
          </a:ln>
        </p:spPr>
        <p:txBody>
          <a:bodyPr anchorCtr="0" anchor="ctr" bIns="8500" lIns="170050" spcFirstLastPara="1" rIns="8500" wrap="square" tIns="102100">
            <a:spAutoFit/>
          </a:bodyPr>
          <a:lstStyle/>
          <a:p>
            <a:pPr indent="0" lvl="0" marL="0" marR="0" rtl="0" algn="l">
              <a:lnSpc>
                <a:spcPct val="127388"/>
              </a:lnSpc>
              <a:spcBef>
                <a:spcPts val="0"/>
              </a:spcBef>
              <a:spcAft>
                <a:spcPts val="0"/>
              </a:spcAft>
              <a:buClr>
                <a:srgbClr val="5A6069"/>
              </a:buClr>
              <a:buSzPts val="942"/>
              <a:buFont typeface="Calibri"/>
              <a:buNone/>
            </a:pPr>
            <a:r>
              <a:rPr b="0" i="0" lang="en-US" sz="942" u="none" cap="none" strike="noStrike">
                <a:solidFill>
                  <a:srgbClr val="5A6069"/>
                </a:solidFill>
                <a:latin typeface="Calibri"/>
                <a:ea typeface="Calibri"/>
                <a:cs typeface="Calibri"/>
                <a:sym typeface="Calibri"/>
              </a:rPr>
              <a:t>6.38</a:t>
            </a:r>
            <a:endParaRPr b="0" i="0" sz="942" u="none" cap="none" strike="noStrike">
              <a:solidFill>
                <a:schemeClr val="dk1"/>
              </a:solidFill>
              <a:latin typeface="Calibri"/>
              <a:ea typeface="Calibri"/>
              <a:cs typeface="Calibri"/>
              <a:sym typeface="Calibri"/>
            </a:endParaRPr>
          </a:p>
        </p:txBody>
      </p:sp>
      <p:sp>
        <p:nvSpPr>
          <p:cNvPr id="412" name="Google Shape;412;p11"/>
          <p:cNvSpPr/>
          <p:nvPr/>
        </p:nvSpPr>
        <p:spPr>
          <a:xfrm>
            <a:off x="428625" y="3608096"/>
            <a:ext cx="8286750" cy="414338"/>
          </a:xfrm>
          <a:prstGeom prst="rect">
            <a:avLst/>
          </a:prstGeom>
          <a:solidFill>
            <a:srgbClr val="FFF8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1"/>
          <p:cNvSpPr/>
          <p:nvPr/>
        </p:nvSpPr>
        <p:spPr>
          <a:xfrm>
            <a:off x="428625" y="3608096"/>
            <a:ext cx="42863" cy="414338"/>
          </a:xfrm>
          <a:prstGeom prst="rect">
            <a:avLst/>
          </a:prstGeom>
          <a:solidFill>
            <a:srgbClr val="B5D3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1"/>
          <p:cNvSpPr/>
          <p:nvPr/>
        </p:nvSpPr>
        <p:spPr>
          <a:xfrm>
            <a:off x="542925" y="3773295"/>
            <a:ext cx="2057986" cy="155377"/>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4D5259"/>
              </a:buClr>
              <a:buSzPts val="784"/>
              <a:buFont typeface="Calibri"/>
              <a:buNone/>
            </a:pPr>
            <a:r>
              <a:rPr b="1" i="0" lang="en-US" sz="784" u="none" cap="none" strike="noStrike">
                <a:solidFill>
                  <a:srgbClr val="4D5259"/>
                </a:solidFill>
                <a:latin typeface="Calibri"/>
                <a:ea typeface="Calibri"/>
                <a:cs typeface="Calibri"/>
                <a:sym typeface="Calibri"/>
              </a:rPr>
              <a:t>IAV Paper (AURIX TC397 @ 300 MHz):</a:t>
            </a:r>
            <a:endParaRPr b="0" i="0" sz="784" u="none" cap="none" strike="noStrike">
              <a:solidFill>
                <a:schemeClr val="dk1"/>
              </a:solidFill>
              <a:latin typeface="Calibri"/>
              <a:ea typeface="Calibri"/>
              <a:cs typeface="Calibri"/>
              <a:sym typeface="Calibri"/>
            </a:endParaRPr>
          </a:p>
        </p:txBody>
      </p:sp>
      <p:sp>
        <p:nvSpPr>
          <p:cNvPr id="415" name="Google Shape;415;p11"/>
          <p:cNvSpPr/>
          <p:nvPr/>
        </p:nvSpPr>
        <p:spPr>
          <a:xfrm>
            <a:off x="2600911" y="3773295"/>
            <a:ext cx="3482383" cy="155377"/>
          </a:xfrm>
          <a:prstGeom prst="rect">
            <a:avLst/>
          </a:prstGeom>
          <a:noFill/>
          <a:ln>
            <a:noFill/>
          </a:ln>
        </p:spPr>
        <p:txBody>
          <a:bodyPr anchorCtr="0" anchor="t" bIns="0" lIns="0" spcFirstLastPara="1" rIns="0" wrap="square" tIns="0">
            <a:spAutoFit/>
          </a:bodyPr>
          <a:lstStyle/>
          <a:p>
            <a:pPr indent="0" lvl="0" marL="0" marR="0" rtl="0" algn="l">
              <a:lnSpc>
                <a:spcPct val="131894"/>
              </a:lnSpc>
              <a:spcBef>
                <a:spcPts val="0"/>
              </a:spcBef>
              <a:spcAft>
                <a:spcPts val="0"/>
              </a:spcAft>
              <a:buClr>
                <a:srgbClr val="4D5259"/>
              </a:buClr>
              <a:buSzPts val="834"/>
              <a:buFont typeface="Calibri"/>
              <a:buNone/>
            </a:pPr>
            <a:r>
              <a:rPr b="0" i="0" lang="en-US" sz="834" u="none" cap="none" strike="noStrike">
                <a:solidFill>
                  <a:srgbClr val="4D5259"/>
                </a:solidFill>
                <a:latin typeface="Calibri"/>
                <a:ea typeface="Calibri"/>
                <a:cs typeface="Calibri"/>
                <a:sym typeface="Calibri"/>
              </a:rPr>
              <a:t>ML-KEM-768 keygen = 5.1 ms / encaps = 6.7 ms / decaps = 6.8 ms</a:t>
            </a:r>
            <a:endParaRPr b="0" i="0" sz="834" u="none" cap="none" strike="noStrike">
              <a:solidFill>
                <a:schemeClr val="dk1"/>
              </a:solidFill>
              <a:latin typeface="Calibri"/>
              <a:ea typeface="Calibri"/>
              <a:cs typeface="Calibri"/>
              <a:sym typeface="Calibri"/>
            </a:endParaRPr>
          </a:p>
        </p:txBody>
      </p:sp>
      <p:pic>
        <p:nvPicPr>
          <p:cNvPr descr="preencoded.png" id="416" name="Google Shape;416;p11"/>
          <p:cNvPicPr preferRelativeResize="0"/>
          <p:nvPr/>
        </p:nvPicPr>
        <p:blipFill rotWithShape="1">
          <a:blip r:embed="rId5">
            <a:alphaModFix/>
          </a:blip>
          <a:srcRect b="0" l="0" r="0" t="0"/>
          <a:stretch/>
        </p:blipFill>
        <p:spPr>
          <a:xfrm>
            <a:off x="428625" y="4218887"/>
            <a:ext cx="100013" cy="100013"/>
          </a:xfrm>
          <a:prstGeom prst="rect">
            <a:avLst/>
          </a:prstGeom>
          <a:noFill/>
          <a:ln>
            <a:noFill/>
          </a:ln>
        </p:spPr>
      </p:pic>
      <p:sp>
        <p:nvSpPr>
          <p:cNvPr id="417" name="Google Shape;417;p11"/>
          <p:cNvSpPr/>
          <p:nvPr/>
        </p:nvSpPr>
        <p:spPr>
          <a:xfrm>
            <a:off x="528638" y="4201027"/>
            <a:ext cx="2673046"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888888"/>
              </a:buClr>
              <a:buSzPts val="727"/>
              <a:buFont typeface="Calibri"/>
              <a:buNone/>
            </a:pPr>
            <a:r>
              <a:rPr b="0" i="0" lang="en-US" sz="727" u="none" cap="none" strike="noStrike">
                <a:solidFill>
                  <a:srgbClr val="888888"/>
                </a:solidFill>
                <a:latin typeface="Calibri"/>
                <a:ea typeface="Calibri"/>
                <a:cs typeface="Calibri"/>
                <a:sym typeface="Calibri"/>
              </a:rPr>
              <a:t>ARM Cortex-M7 @ 280 MHz | I-Cache + D-Cache enabled</a:t>
            </a:r>
            <a:endParaRPr b="0" i="0" sz="727" u="none" cap="none" strike="noStrike">
              <a:solidFill>
                <a:schemeClr val="dk1"/>
              </a:solidFill>
              <a:latin typeface="Calibri"/>
              <a:ea typeface="Calibri"/>
              <a:cs typeface="Calibri"/>
              <a:sym typeface="Calibri"/>
            </a:endParaRPr>
          </a:p>
        </p:txBody>
      </p:sp>
      <p:pic>
        <p:nvPicPr>
          <p:cNvPr descr="preencoded.png" id="418" name="Google Shape;418;p11"/>
          <p:cNvPicPr preferRelativeResize="0"/>
          <p:nvPr/>
        </p:nvPicPr>
        <p:blipFill rotWithShape="1">
          <a:blip r:embed="rId6">
            <a:alphaModFix/>
          </a:blip>
          <a:srcRect b="0" l="0" r="0" t="0"/>
          <a:stretch/>
        </p:blipFill>
        <p:spPr>
          <a:xfrm>
            <a:off x="6398875" y="4218887"/>
            <a:ext cx="125016" cy="100013"/>
          </a:xfrm>
          <a:prstGeom prst="rect">
            <a:avLst/>
          </a:prstGeom>
          <a:noFill/>
          <a:ln>
            <a:noFill/>
          </a:ln>
        </p:spPr>
      </p:pic>
      <p:sp>
        <p:nvSpPr>
          <p:cNvPr id="419" name="Google Shape;419;p11"/>
          <p:cNvSpPr/>
          <p:nvPr/>
        </p:nvSpPr>
        <p:spPr>
          <a:xfrm>
            <a:off x="6523890" y="4201027"/>
            <a:ext cx="2191485"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888888"/>
              </a:buClr>
              <a:buSzPts val="727"/>
              <a:buFont typeface="Calibri"/>
              <a:buNone/>
            </a:pPr>
            <a:r>
              <a:rPr b="0" i="0" lang="en-US" sz="727" u="none" cap="none" strike="noStrike">
                <a:solidFill>
                  <a:srgbClr val="888888"/>
                </a:solidFill>
                <a:latin typeface="Calibri"/>
                <a:ea typeface="Calibri"/>
                <a:cs typeface="Calibri"/>
                <a:sym typeface="Calibri"/>
              </a:rPr>
              <a:t>-O</a:t>
            </a:r>
            <a:r>
              <a:rPr lang="en-US" sz="727">
                <a:solidFill>
                  <a:srgbClr val="888888"/>
                </a:solidFill>
                <a:latin typeface="Calibri"/>
                <a:ea typeface="Calibri"/>
                <a:cs typeface="Calibri"/>
                <a:sym typeface="Calibri"/>
              </a:rPr>
              <a:t>2</a:t>
            </a:r>
            <a:r>
              <a:rPr b="0" i="0" lang="en-US" sz="727" u="none" cap="none" strike="noStrike">
                <a:solidFill>
                  <a:srgbClr val="888888"/>
                </a:solidFill>
                <a:latin typeface="Calibri"/>
                <a:ea typeface="Calibri"/>
                <a:cs typeface="Calibri"/>
                <a:sym typeface="Calibri"/>
              </a:rPr>
              <a:t> optimization | PQCleanAutomotive library</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960f894a74_1_38"/>
          <p:cNvSpPr/>
          <p:nvPr/>
        </p:nvSpPr>
        <p:spPr>
          <a:xfrm>
            <a:off x="628650" y="675503"/>
            <a:ext cx="8001000" cy="301800"/>
          </a:xfrm>
          <a:prstGeom prst="rect">
            <a:avLst/>
          </a:prstGeom>
          <a:noFill/>
          <a:ln>
            <a:noFill/>
          </a:ln>
        </p:spPr>
        <p:txBody>
          <a:bodyPr anchorCtr="0" anchor="t" bIns="0" lIns="170050" spcFirstLastPara="1" rIns="0" wrap="square" tIns="0">
            <a:noAutofit/>
          </a:bodyPr>
          <a:lstStyle/>
          <a:p>
            <a:pPr indent="0" lvl="0" marL="0" marR="0" rtl="0" algn="l">
              <a:lnSpc>
                <a:spcPct val="137328"/>
              </a:lnSpc>
              <a:spcBef>
                <a:spcPts val="0"/>
              </a:spcBef>
              <a:spcAft>
                <a:spcPts val="0"/>
              </a:spcAft>
              <a:buClr>
                <a:srgbClr val="4D5259"/>
              </a:buClr>
              <a:buSzPts val="1602"/>
              <a:buFont typeface="Calibri"/>
              <a:buNone/>
            </a:pPr>
            <a:r>
              <a:rPr b="1" lang="en-US" sz="1602">
                <a:solidFill>
                  <a:srgbClr val="4D5259"/>
                </a:solidFill>
                <a:latin typeface="Calibri"/>
                <a:ea typeface="Calibri"/>
                <a:cs typeface="Calibri"/>
                <a:sym typeface="Calibri"/>
              </a:rPr>
              <a:t>CURRENT PROGRESS: AUTOMOTIVE TRANSPORT LAYER &amp; ISO-TP</a:t>
            </a:r>
            <a:endParaRPr b="0" i="0" sz="1602" u="none" cap="none" strike="noStrike">
              <a:solidFill>
                <a:schemeClr val="dk1"/>
              </a:solidFill>
              <a:latin typeface="Calibri"/>
              <a:ea typeface="Calibri"/>
              <a:cs typeface="Calibri"/>
              <a:sym typeface="Calibri"/>
            </a:endParaRPr>
          </a:p>
        </p:txBody>
      </p:sp>
      <p:sp>
        <p:nvSpPr>
          <p:cNvPr id="426" name="Google Shape;426;g3960f894a74_1_38"/>
          <p:cNvSpPr/>
          <p:nvPr/>
        </p:nvSpPr>
        <p:spPr>
          <a:xfrm>
            <a:off x="628650" y="1602823"/>
            <a:ext cx="3857700" cy="189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6B6D4"/>
              </a:buClr>
              <a:buSzPts val="1050"/>
              <a:buFont typeface="Roboto Mono"/>
              <a:buNone/>
            </a:pPr>
            <a:r>
              <a:rPr b="1" i="0" lang="en-US" sz="1050" u="none" cap="none" strike="noStrike">
                <a:solidFill>
                  <a:srgbClr val="00A651"/>
                </a:solidFill>
                <a:latin typeface="Roboto Mono"/>
                <a:ea typeface="Roboto Mono"/>
                <a:cs typeface="Roboto Mono"/>
                <a:sym typeface="Roboto Mono"/>
              </a:rPr>
              <a:t>THE CHALLENGE</a:t>
            </a:r>
            <a:endParaRPr b="1" i="0" sz="1050" u="none" cap="none" strike="noStrike">
              <a:solidFill>
                <a:srgbClr val="00A651"/>
              </a:solidFill>
              <a:latin typeface="Calibri"/>
              <a:ea typeface="Calibri"/>
              <a:cs typeface="Calibri"/>
              <a:sym typeface="Calibri"/>
            </a:endParaRPr>
          </a:p>
        </p:txBody>
      </p:sp>
      <p:sp>
        <p:nvSpPr>
          <p:cNvPr id="427" name="Google Shape;427;g3960f894a74_1_38"/>
          <p:cNvSpPr/>
          <p:nvPr/>
        </p:nvSpPr>
        <p:spPr>
          <a:xfrm>
            <a:off x="628650" y="1899289"/>
            <a:ext cx="38577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94A3B8"/>
              </a:buClr>
              <a:buSzPts val="942"/>
              <a:buFont typeface="Inter"/>
              <a:buNone/>
            </a:pPr>
            <a:r>
              <a:rPr b="0" i="0" lang="en-US" sz="942" u="none" cap="none" strike="noStrike">
                <a:solidFill>
                  <a:schemeClr val="dk1"/>
                </a:solidFill>
                <a:latin typeface="Inter"/>
                <a:ea typeface="Inter"/>
                <a:cs typeface="Inter"/>
                <a:sym typeface="Inter"/>
              </a:rPr>
              <a:t>PQC certificates often exceed </a:t>
            </a:r>
            <a:r>
              <a:rPr b="1" lang="en-US" sz="885">
                <a:solidFill>
                  <a:schemeClr val="dk1"/>
                </a:solidFill>
                <a:latin typeface="Inter"/>
                <a:ea typeface="Inter"/>
                <a:cs typeface="Inter"/>
                <a:sym typeface="Inter"/>
              </a:rPr>
              <a:t>4</a:t>
            </a:r>
            <a:r>
              <a:rPr b="1" i="0" lang="en-US" sz="885" u="none" cap="none" strike="noStrike">
                <a:solidFill>
                  <a:schemeClr val="dk1"/>
                </a:solidFill>
                <a:latin typeface="Inter"/>
                <a:ea typeface="Inter"/>
                <a:cs typeface="Inter"/>
                <a:sym typeface="Inter"/>
              </a:rPr>
              <a:t> KB</a:t>
            </a:r>
            <a:r>
              <a:rPr b="0" i="0" lang="en-US" sz="942" u="none" cap="none" strike="noStrike">
                <a:solidFill>
                  <a:schemeClr val="dk1"/>
                </a:solidFill>
                <a:latin typeface="Inter"/>
                <a:ea typeface="Inter"/>
                <a:cs typeface="Inter"/>
                <a:sym typeface="Inter"/>
              </a:rPr>
              <a:t>, far surpassing the </a:t>
            </a:r>
            <a:r>
              <a:rPr b="1" i="0" lang="en-US" sz="885" u="none" cap="none" strike="noStrike">
                <a:solidFill>
                  <a:schemeClr val="dk1"/>
                </a:solidFill>
                <a:latin typeface="Inter"/>
                <a:ea typeface="Inter"/>
                <a:cs typeface="Inter"/>
                <a:sym typeface="Inter"/>
              </a:rPr>
              <a:t>8-byte</a:t>
            </a:r>
            <a:r>
              <a:rPr b="0" i="0" lang="en-US" sz="942" u="none" cap="none" strike="noStrike">
                <a:solidFill>
                  <a:schemeClr val="dk1"/>
                </a:solidFill>
                <a:latin typeface="Inter"/>
                <a:ea typeface="Inter"/>
                <a:cs typeface="Inter"/>
                <a:sym typeface="Inter"/>
              </a:rPr>
              <a:t> payload limit of standard CAN frames. This requires a robust transport layer for extended data payloads.</a:t>
            </a:r>
            <a:endParaRPr b="0" i="0" sz="942" u="none" cap="none" strike="noStrike">
              <a:solidFill>
                <a:schemeClr val="dk1"/>
              </a:solidFill>
              <a:latin typeface="Calibri"/>
              <a:ea typeface="Calibri"/>
              <a:cs typeface="Calibri"/>
              <a:sym typeface="Calibri"/>
            </a:endParaRPr>
          </a:p>
        </p:txBody>
      </p:sp>
      <p:sp>
        <p:nvSpPr>
          <p:cNvPr id="428" name="Google Shape;428;g3960f894a74_1_38"/>
          <p:cNvSpPr/>
          <p:nvPr/>
        </p:nvSpPr>
        <p:spPr>
          <a:xfrm>
            <a:off x="4772025" y="1602823"/>
            <a:ext cx="3857700" cy="1893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06B6D4"/>
              </a:buClr>
              <a:buSzPts val="1050"/>
              <a:buFont typeface="Roboto Mono"/>
              <a:buNone/>
            </a:pPr>
            <a:r>
              <a:rPr b="1" i="0" lang="en-US" sz="1050" u="none" cap="none" strike="noStrike">
                <a:solidFill>
                  <a:srgbClr val="00A651"/>
                </a:solidFill>
                <a:latin typeface="Roboto Mono"/>
                <a:ea typeface="Roboto Mono"/>
                <a:cs typeface="Roboto Mono"/>
                <a:sym typeface="Roboto Mono"/>
              </a:rPr>
              <a:t>THE SOLUTION</a:t>
            </a:r>
            <a:endParaRPr b="1" i="0" sz="1050" u="none" cap="none" strike="noStrike">
              <a:solidFill>
                <a:srgbClr val="00A651"/>
              </a:solidFill>
              <a:latin typeface="Calibri"/>
              <a:ea typeface="Calibri"/>
              <a:cs typeface="Calibri"/>
              <a:sym typeface="Calibri"/>
            </a:endParaRPr>
          </a:p>
        </p:txBody>
      </p:sp>
      <p:sp>
        <p:nvSpPr>
          <p:cNvPr id="429" name="Google Shape;429;g3960f894a74_1_38"/>
          <p:cNvSpPr/>
          <p:nvPr/>
        </p:nvSpPr>
        <p:spPr>
          <a:xfrm>
            <a:off x="4772025" y="1899289"/>
            <a:ext cx="3857700" cy="617100"/>
          </a:xfrm>
          <a:prstGeom prst="rect">
            <a:avLst/>
          </a:prstGeom>
          <a:noFill/>
          <a:ln>
            <a:noFill/>
          </a:ln>
        </p:spPr>
        <p:txBody>
          <a:bodyPr anchorCtr="0" anchor="t" bIns="0" lIns="0" spcFirstLastPara="1" rIns="0" wrap="square" tIns="0">
            <a:noAutofit/>
          </a:bodyPr>
          <a:lstStyle/>
          <a:p>
            <a:pPr indent="0" lvl="0" marL="0" marR="0" rtl="0" algn="l">
              <a:lnSpc>
                <a:spcPct val="169851"/>
              </a:lnSpc>
              <a:spcBef>
                <a:spcPts val="0"/>
              </a:spcBef>
              <a:spcAft>
                <a:spcPts val="0"/>
              </a:spcAft>
              <a:buClr>
                <a:srgbClr val="94A3B8"/>
              </a:buClr>
              <a:buSzPts val="942"/>
              <a:buFont typeface="Inter"/>
              <a:buNone/>
            </a:pPr>
            <a:r>
              <a:rPr b="0" i="0" lang="en-US" sz="942" u="none" cap="none" strike="noStrike">
                <a:solidFill>
                  <a:srgbClr val="94A3B8"/>
                </a:solidFill>
                <a:latin typeface="Inter"/>
                <a:ea typeface="Inter"/>
                <a:cs typeface="Inter"/>
                <a:sym typeface="Inter"/>
              </a:rPr>
              <a:t>D</a:t>
            </a:r>
            <a:r>
              <a:rPr b="0" i="0" lang="en-US" sz="942" u="none" cap="none" strike="noStrike">
                <a:solidFill>
                  <a:schemeClr val="dk1"/>
                </a:solidFill>
                <a:latin typeface="Inter"/>
                <a:ea typeface="Inter"/>
                <a:cs typeface="Inter"/>
                <a:sym typeface="Inter"/>
              </a:rPr>
              <a:t>eveloped a custom </a:t>
            </a:r>
            <a:r>
              <a:rPr b="1" i="0" lang="en-US" sz="885" u="none" cap="none" strike="noStrike">
                <a:solidFill>
                  <a:schemeClr val="dk1"/>
                </a:solidFill>
                <a:latin typeface="Inter"/>
                <a:ea typeface="Inter"/>
                <a:cs typeface="Inter"/>
                <a:sym typeface="Inter"/>
              </a:rPr>
              <a:t>ISO-TP (ISO 15765-2)</a:t>
            </a:r>
            <a:r>
              <a:rPr b="0" i="0" lang="en-US" sz="942" u="none" cap="none" strike="noStrike">
                <a:solidFill>
                  <a:schemeClr val="dk1"/>
                </a:solidFill>
                <a:latin typeface="Inter"/>
                <a:ea typeface="Inter"/>
                <a:cs typeface="Inter"/>
                <a:sym typeface="Inter"/>
              </a:rPr>
              <a:t> library specifically for </a:t>
            </a:r>
            <a:r>
              <a:rPr b="1" i="0" lang="en-US" sz="885" u="none" cap="none" strike="noStrike">
                <a:solidFill>
                  <a:schemeClr val="dk1"/>
                </a:solidFill>
                <a:latin typeface="Inter"/>
                <a:ea typeface="Inter"/>
                <a:cs typeface="Inter"/>
                <a:sym typeface="Inter"/>
              </a:rPr>
              <a:t>CAN-FD</a:t>
            </a:r>
            <a:r>
              <a:rPr b="0" i="0" lang="en-US" sz="942" u="none" cap="none" strike="noStrike">
                <a:solidFill>
                  <a:schemeClr val="dk1"/>
                </a:solidFill>
                <a:latin typeface="Inter"/>
                <a:ea typeface="Inter"/>
                <a:cs typeface="Inter"/>
                <a:sym typeface="Inter"/>
              </a:rPr>
              <a:t> to handle extended 32-bit payloads and ensure reliable PQC data transmission.</a:t>
            </a:r>
            <a:endParaRPr b="0" i="0" sz="942" u="none" cap="none" strike="noStrike">
              <a:solidFill>
                <a:schemeClr val="dk1"/>
              </a:solidFill>
              <a:latin typeface="Calibri"/>
              <a:ea typeface="Calibri"/>
              <a:cs typeface="Calibri"/>
              <a:sym typeface="Calibri"/>
            </a:endParaRPr>
          </a:p>
        </p:txBody>
      </p:sp>
      <p:sp>
        <p:nvSpPr>
          <p:cNvPr id="430" name="Google Shape;430;g3960f894a74_1_38"/>
          <p:cNvSpPr/>
          <p:nvPr/>
        </p:nvSpPr>
        <p:spPr>
          <a:xfrm>
            <a:off x="628650" y="3016504"/>
            <a:ext cx="2571900" cy="1043100"/>
          </a:xfrm>
          <a:prstGeom prst="rect">
            <a:avLst/>
          </a:prstGeom>
          <a:solidFill>
            <a:srgbClr val="06B6D4">
              <a:alpha val="1960"/>
            </a:srgbClr>
          </a:solidFill>
          <a:ln cap="flat" cmpd="sng" w="9525">
            <a:solidFill>
              <a:srgbClr val="06B6D4">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1" name="Google Shape;431;g3960f894a74_1_38"/>
          <p:cNvPicPr preferRelativeResize="0"/>
          <p:nvPr/>
        </p:nvPicPr>
        <p:blipFill rotWithShape="1">
          <a:blip r:embed="rId3">
            <a:alphaModFix/>
          </a:blip>
          <a:srcRect b="0" l="0" r="0" t="0"/>
          <a:stretch/>
        </p:blipFill>
        <p:spPr>
          <a:xfrm>
            <a:off x="771525" y="3212957"/>
            <a:ext cx="114300" cy="114300"/>
          </a:xfrm>
          <a:prstGeom prst="rect">
            <a:avLst/>
          </a:prstGeom>
          <a:noFill/>
          <a:ln>
            <a:noFill/>
          </a:ln>
        </p:spPr>
      </p:pic>
      <p:sp>
        <p:nvSpPr>
          <p:cNvPr id="432" name="Google Shape;432;g3960f894a74_1_38"/>
          <p:cNvSpPr/>
          <p:nvPr/>
        </p:nvSpPr>
        <p:spPr>
          <a:xfrm>
            <a:off x="957263" y="3195098"/>
            <a:ext cx="14253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6B6D4"/>
              </a:buClr>
              <a:buSzPts val="834"/>
              <a:buFont typeface="Roboto Mono"/>
              <a:buNone/>
            </a:pPr>
            <a:r>
              <a:rPr b="0" i="0" lang="en-US" sz="834" u="none" cap="none" strike="noStrike">
                <a:solidFill>
                  <a:srgbClr val="00A651"/>
                </a:solidFill>
                <a:latin typeface="Roboto Mono"/>
                <a:ea typeface="Roboto Mono"/>
                <a:cs typeface="Roboto Mono"/>
                <a:sym typeface="Roboto Mono"/>
              </a:rPr>
              <a:t>Multi-frame Messaging</a:t>
            </a:r>
            <a:endParaRPr b="0" i="0" sz="834" u="none" cap="none" strike="noStrike">
              <a:solidFill>
                <a:srgbClr val="00A651"/>
              </a:solidFill>
              <a:latin typeface="Calibri"/>
              <a:ea typeface="Calibri"/>
              <a:cs typeface="Calibri"/>
              <a:sym typeface="Calibri"/>
            </a:endParaRPr>
          </a:p>
        </p:txBody>
      </p:sp>
      <p:sp>
        <p:nvSpPr>
          <p:cNvPr id="433" name="Google Shape;433;g3960f894a74_1_38"/>
          <p:cNvSpPr/>
          <p:nvPr/>
        </p:nvSpPr>
        <p:spPr>
          <a:xfrm>
            <a:off x="771525" y="3416554"/>
            <a:ext cx="2286000" cy="450000"/>
          </a:xfrm>
          <a:prstGeom prst="rect">
            <a:avLst/>
          </a:prstGeom>
          <a:noFill/>
          <a:ln>
            <a:noFill/>
          </a:ln>
        </p:spPr>
        <p:txBody>
          <a:bodyPr anchorCtr="0" anchor="t" bIns="0" lIns="0" spcFirstLastPara="1" rIns="0" wrap="square" tIns="0">
            <a:noAutofit/>
          </a:bodyPr>
          <a:lstStyle/>
          <a:p>
            <a:pPr indent="0" lvl="0" marL="0" marR="0" rtl="0" algn="l">
              <a:lnSpc>
                <a:spcPct val="165061"/>
              </a:lnSpc>
              <a:spcBef>
                <a:spcPts val="0"/>
              </a:spcBef>
              <a:spcAft>
                <a:spcPts val="0"/>
              </a:spcAft>
              <a:buClr>
                <a:srgbClr val="94A3B8"/>
              </a:buClr>
              <a:buSzPts val="727"/>
              <a:buFont typeface="Inter"/>
              <a:buNone/>
            </a:pPr>
            <a:r>
              <a:rPr b="0" i="0" lang="en-US" sz="727" u="none" cap="none" strike="noStrike">
                <a:solidFill>
                  <a:schemeClr val="dk1"/>
                </a:solidFill>
                <a:latin typeface="Inter"/>
                <a:ea typeface="Inter"/>
                <a:cs typeface="Inter"/>
                <a:sym typeface="Inter"/>
              </a:rPr>
              <a:t>Implements efficient segmentation and reassembly of large data packets across multiple CAN-FD frames.</a:t>
            </a:r>
            <a:endParaRPr b="0" i="0" sz="727" u="none" cap="none" strike="noStrike">
              <a:solidFill>
                <a:schemeClr val="dk1"/>
              </a:solidFill>
              <a:latin typeface="Calibri"/>
              <a:ea typeface="Calibri"/>
              <a:cs typeface="Calibri"/>
              <a:sym typeface="Calibri"/>
            </a:endParaRPr>
          </a:p>
        </p:txBody>
      </p:sp>
      <p:sp>
        <p:nvSpPr>
          <p:cNvPr id="434" name="Google Shape;434;g3960f894a74_1_38"/>
          <p:cNvSpPr/>
          <p:nvPr/>
        </p:nvSpPr>
        <p:spPr>
          <a:xfrm>
            <a:off x="3343275" y="3016504"/>
            <a:ext cx="2571900" cy="1043100"/>
          </a:xfrm>
          <a:prstGeom prst="rect">
            <a:avLst/>
          </a:prstGeom>
          <a:solidFill>
            <a:srgbClr val="06B6D4">
              <a:alpha val="1960"/>
            </a:srgbClr>
          </a:solidFill>
          <a:ln cap="flat" cmpd="sng" w="9525">
            <a:solidFill>
              <a:srgbClr val="06B6D4">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5" name="Google Shape;435;g3960f894a74_1_38"/>
          <p:cNvPicPr preferRelativeResize="0"/>
          <p:nvPr/>
        </p:nvPicPr>
        <p:blipFill rotWithShape="1">
          <a:blip r:embed="rId4">
            <a:alphaModFix/>
          </a:blip>
          <a:srcRect b="0" l="0" r="0" t="0"/>
          <a:stretch/>
        </p:blipFill>
        <p:spPr>
          <a:xfrm>
            <a:off x="3486150" y="3212957"/>
            <a:ext cx="114300" cy="114300"/>
          </a:xfrm>
          <a:prstGeom prst="rect">
            <a:avLst/>
          </a:prstGeom>
          <a:noFill/>
          <a:ln>
            <a:noFill/>
          </a:ln>
        </p:spPr>
      </p:pic>
      <p:sp>
        <p:nvSpPr>
          <p:cNvPr id="436" name="Google Shape;436;g3960f894a74_1_38"/>
          <p:cNvSpPr/>
          <p:nvPr/>
        </p:nvSpPr>
        <p:spPr>
          <a:xfrm>
            <a:off x="3671888" y="3195098"/>
            <a:ext cx="8145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6B6D4"/>
              </a:buClr>
              <a:buSzPts val="834"/>
              <a:buFont typeface="Roboto Mono"/>
              <a:buNone/>
            </a:pPr>
            <a:r>
              <a:rPr b="0" i="0" lang="en-US" sz="834" u="none" cap="none" strike="noStrike">
                <a:solidFill>
                  <a:srgbClr val="00A651"/>
                </a:solidFill>
                <a:latin typeface="Roboto Mono"/>
                <a:ea typeface="Roboto Mono"/>
                <a:cs typeface="Roboto Mono"/>
                <a:sym typeface="Roboto Mono"/>
              </a:rPr>
              <a:t>Flow Control</a:t>
            </a:r>
            <a:endParaRPr b="0" i="0" sz="834" u="none" cap="none" strike="noStrike">
              <a:solidFill>
                <a:srgbClr val="00A651"/>
              </a:solidFill>
              <a:latin typeface="Calibri"/>
              <a:ea typeface="Calibri"/>
              <a:cs typeface="Calibri"/>
              <a:sym typeface="Calibri"/>
            </a:endParaRPr>
          </a:p>
        </p:txBody>
      </p:sp>
      <p:sp>
        <p:nvSpPr>
          <p:cNvPr id="437" name="Google Shape;437;g3960f894a74_1_38"/>
          <p:cNvSpPr/>
          <p:nvPr/>
        </p:nvSpPr>
        <p:spPr>
          <a:xfrm>
            <a:off x="3486150" y="3416554"/>
            <a:ext cx="2286000" cy="450000"/>
          </a:xfrm>
          <a:prstGeom prst="rect">
            <a:avLst/>
          </a:prstGeom>
          <a:noFill/>
          <a:ln>
            <a:noFill/>
          </a:ln>
        </p:spPr>
        <p:txBody>
          <a:bodyPr anchorCtr="0" anchor="t" bIns="0" lIns="0" spcFirstLastPara="1" rIns="0" wrap="square" tIns="0">
            <a:noAutofit/>
          </a:bodyPr>
          <a:lstStyle/>
          <a:p>
            <a:pPr indent="0" lvl="0" marL="0" marR="0" rtl="0" algn="l">
              <a:lnSpc>
                <a:spcPct val="165061"/>
              </a:lnSpc>
              <a:spcBef>
                <a:spcPts val="0"/>
              </a:spcBef>
              <a:spcAft>
                <a:spcPts val="0"/>
              </a:spcAft>
              <a:buClr>
                <a:srgbClr val="94A3B8"/>
              </a:buClr>
              <a:buSzPts val="727"/>
              <a:buFont typeface="Inter"/>
              <a:buNone/>
            </a:pPr>
            <a:r>
              <a:rPr b="0" i="0" lang="en-US" sz="727" u="none" cap="none" strike="noStrike">
                <a:solidFill>
                  <a:schemeClr val="dk1"/>
                </a:solidFill>
                <a:latin typeface="Inter"/>
                <a:ea typeface="Inter"/>
                <a:cs typeface="Inter"/>
                <a:sym typeface="Inter"/>
              </a:rPr>
              <a:t>Manages data flow between sender and receiver to prevent buffer overflows and ensure synchronization.</a:t>
            </a:r>
            <a:endParaRPr b="0" i="0" sz="727" u="none" cap="none" strike="noStrike">
              <a:solidFill>
                <a:schemeClr val="dk1"/>
              </a:solidFill>
              <a:latin typeface="Calibri"/>
              <a:ea typeface="Calibri"/>
              <a:cs typeface="Calibri"/>
              <a:sym typeface="Calibri"/>
            </a:endParaRPr>
          </a:p>
        </p:txBody>
      </p:sp>
      <p:sp>
        <p:nvSpPr>
          <p:cNvPr id="438" name="Google Shape;438;g3960f894a74_1_38"/>
          <p:cNvSpPr/>
          <p:nvPr/>
        </p:nvSpPr>
        <p:spPr>
          <a:xfrm>
            <a:off x="6057900" y="3016504"/>
            <a:ext cx="2571900" cy="1043100"/>
          </a:xfrm>
          <a:prstGeom prst="rect">
            <a:avLst/>
          </a:prstGeom>
          <a:solidFill>
            <a:srgbClr val="06B6D4">
              <a:alpha val="1960"/>
            </a:srgbClr>
          </a:solidFill>
          <a:ln cap="flat" cmpd="sng" w="9525">
            <a:solidFill>
              <a:srgbClr val="06B6D4">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39" name="Google Shape;439;g3960f894a74_1_38"/>
          <p:cNvPicPr preferRelativeResize="0"/>
          <p:nvPr/>
        </p:nvPicPr>
        <p:blipFill rotWithShape="1">
          <a:blip r:embed="rId5">
            <a:alphaModFix/>
          </a:blip>
          <a:srcRect b="0" l="0" r="0" t="0"/>
          <a:stretch/>
        </p:blipFill>
        <p:spPr>
          <a:xfrm>
            <a:off x="6200775" y="3212957"/>
            <a:ext cx="114300" cy="114300"/>
          </a:xfrm>
          <a:prstGeom prst="rect">
            <a:avLst/>
          </a:prstGeom>
          <a:noFill/>
          <a:ln>
            <a:noFill/>
          </a:ln>
        </p:spPr>
      </p:pic>
      <p:sp>
        <p:nvSpPr>
          <p:cNvPr id="440" name="Google Shape;440;g3960f894a74_1_38"/>
          <p:cNvSpPr/>
          <p:nvPr/>
        </p:nvSpPr>
        <p:spPr>
          <a:xfrm>
            <a:off x="6386513" y="3195098"/>
            <a:ext cx="9501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06B6D4"/>
              </a:buClr>
              <a:buSzPts val="834"/>
              <a:buFont typeface="Roboto Mono"/>
              <a:buNone/>
            </a:pPr>
            <a:r>
              <a:rPr b="0" i="0" lang="en-US" sz="834" u="none" cap="none" strike="noStrike">
                <a:solidFill>
                  <a:srgbClr val="00A651"/>
                </a:solidFill>
                <a:latin typeface="Roboto Mono"/>
                <a:ea typeface="Roboto Mono"/>
                <a:cs typeface="Roboto Mono"/>
                <a:sym typeface="Roboto Mono"/>
              </a:rPr>
              <a:t>Error Handling</a:t>
            </a:r>
            <a:endParaRPr b="0" i="0" sz="834" u="none" cap="none" strike="noStrike">
              <a:solidFill>
                <a:srgbClr val="00A651"/>
              </a:solidFill>
              <a:latin typeface="Calibri"/>
              <a:ea typeface="Calibri"/>
              <a:cs typeface="Calibri"/>
              <a:sym typeface="Calibri"/>
            </a:endParaRPr>
          </a:p>
        </p:txBody>
      </p:sp>
      <p:sp>
        <p:nvSpPr>
          <p:cNvPr id="441" name="Google Shape;441;g3960f894a74_1_38"/>
          <p:cNvSpPr/>
          <p:nvPr/>
        </p:nvSpPr>
        <p:spPr>
          <a:xfrm>
            <a:off x="6200775" y="3416554"/>
            <a:ext cx="2286000" cy="450000"/>
          </a:xfrm>
          <a:prstGeom prst="rect">
            <a:avLst/>
          </a:prstGeom>
          <a:noFill/>
          <a:ln>
            <a:noFill/>
          </a:ln>
        </p:spPr>
        <p:txBody>
          <a:bodyPr anchorCtr="0" anchor="t" bIns="0" lIns="0" spcFirstLastPara="1" rIns="0" wrap="square" tIns="0">
            <a:noAutofit/>
          </a:bodyPr>
          <a:lstStyle/>
          <a:p>
            <a:pPr indent="0" lvl="0" marL="0" marR="0" rtl="0" algn="l">
              <a:lnSpc>
                <a:spcPct val="165061"/>
              </a:lnSpc>
              <a:spcBef>
                <a:spcPts val="0"/>
              </a:spcBef>
              <a:spcAft>
                <a:spcPts val="0"/>
              </a:spcAft>
              <a:buClr>
                <a:srgbClr val="94A3B8"/>
              </a:buClr>
              <a:buSzPts val="727"/>
              <a:buFont typeface="Inter"/>
              <a:buNone/>
            </a:pPr>
            <a:r>
              <a:rPr b="0" i="0" lang="en-US" sz="727" u="none" cap="none" strike="noStrike">
                <a:solidFill>
                  <a:schemeClr val="dk1"/>
                </a:solidFill>
                <a:latin typeface="Inter"/>
                <a:ea typeface="Inter"/>
                <a:cs typeface="Inter"/>
                <a:sym typeface="Inter"/>
              </a:rPr>
              <a:t>Incorporates mechanisms for detecting and recovering from transmission errors or timeouts.</a:t>
            </a:r>
            <a:endParaRPr b="0" i="0" sz="727" u="none" cap="none" strike="noStrike">
              <a:solidFill>
                <a:schemeClr val="dk1"/>
              </a:solidFill>
              <a:latin typeface="Calibri"/>
              <a:ea typeface="Calibri"/>
              <a:cs typeface="Calibri"/>
              <a:sym typeface="Calibri"/>
            </a:endParaRPr>
          </a:p>
        </p:txBody>
      </p:sp>
      <p:sp>
        <p:nvSpPr>
          <p:cNvPr id="442" name="Google Shape;442;g3960f894a74_1_38"/>
          <p:cNvSpPr/>
          <p:nvPr/>
        </p:nvSpPr>
        <p:spPr>
          <a:xfrm>
            <a:off x="628650" y="4688142"/>
            <a:ext cx="8001000" cy="378600"/>
          </a:xfrm>
          <a:prstGeom prst="rect">
            <a:avLst/>
          </a:prstGeom>
          <a:solidFill>
            <a:srgbClr val="B5D333"/>
          </a:solidFill>
          <a:ln cap="flat" cmpd="sng" w="9525">
            <a:solidFill>
              <a:srgbClr val="B5D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B5D333"/>
              </a:solidFill>
            </a:endParaRPr>
          </a:p>
        </p:txBody>
      </p:sp>
      <p:pic>
        <p:nvPicPr>
          <p:cNvPr descr="preencoded.png" id="443" name="Google Shape;443;g3960f894a74_1_38"/>
          <p:cNvPicPr preferRelativeResize="0"/>
          <p:nvPr/>
        </p:nvPicPr>
        <p:blipFill rotWithShape="1">
          <a:blip r:embed="rId6">
            <a:alphaModFix/>
          </a:blip>
          <a:srcRect b="0" l="0" r="0" t="0"/>
          <a:stretch/>
        </p:blipFill>
        <p:spPr>
          <a:xfrm>
            <a:off x="907256" y="4814943"/>
            <a:ext cx="114300" cy="114300"/>
          </a:xfrm>
          <a:prstGeom prst="rect">
            <a:avLst/>
          </a:prstGeom>
          <a:noFill/>
          <a:ln>
            <a:noFill/>
          </a:ln>
        </p:spPr>
      </p:pic>
      <p:sp>
        <p:nvSpPr>
          <p:cNvPr id="444" name="Google Shape;444;g3960f894a74_1_38"/>
          <p:cNvSpPr/>
          <p:nvPr/>
        </p:nvSpPr>
        <p:spPr>
          <a:xfrm>
            <a:off x="1021556" y="4795298"/>
            <a:ext cx="7329600" cy="150000"/>
          </a:xfrm>
          <a:prstGeom prst="rect">
            <a:avLst/>
          </a:prstGeom>
          <a:noFill/>
          <a:ln>
            <a:noFill/>
          </a:ln>
        </p:spPr>
        <p:txBody>
          <a:bodyPr anchorCtr="0" anchor="t" bIns="0" lIns="0" spcFirstLastPara="1" rIns="0" wrap="square" tIns="0">
            <a:noAutofit/>
          </a:bodyPr>
          <a:lstStyle/>
          <a:p>
            <a:pPr indent="0" lvl="0" marL="0" marR="0" rtl="0" algn="ctr">
              <a:lnSpc>
                <a:spcPct val="131894"/>
              </a:lnSpc>
              <a:spcBef>
                <a:spcPts val="0"/>
              </a:spcBef>
              <a:spcAft>
                <a:spcPts val="0"/>
              </a:spcAft>
              <a:buClr>
                <a:srgbClr val="E2E8F0"/>
              </a:buClr>
              <a:buSzPts val="834"/>
              <a:buFont typeface="Roboto Mono"/>
              <a:buNone/>
            </a:pPr>
            <a:r>
              <a:rPr b="0" i="0" lang="en-US" sz="834" u="none" cap="none" strike="noStrike">
                <a:solidFill>
                  <a:schemeClr val="dk1"/>
                </a:solidFill>
                <a:latin typeface="Roboto Mono"/>
                <a:ea typeface="Roboto Mono"/>
                <a:cs typeface="Roboto Mono"/>
                <a:sym typeface="Roboto Mono"/>
              </a:rPr>
              <a:t>VALIDATION: Successfully tested library's ability to transport large PQC data across a live CAN-FD network.</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960f894a74_1_65"/>
          <p:cNvSpPr/>
          <p:nvPr/>
        </p:nvSpPr>
        <p:spPr>
          <a:xfrm>
            <a:off x="628650" y="675503"/>
            <a:ext cx="8001000" cy="301800"/>
          </a:xfrm>
          <a:prstGeom prst="rect">
            <a:avLst/>
          </a:prstGeom>
          <a:noFill/>
          <a:ln>
            <a:noFill/>
          </a:ln>
        </p:spPr>
        <p:txBody>
          <a:bodyPr anchorCtr="0" anchor="t" bIns="0" lIns="170050" spcFirstLastPara="1" rIns="0" wrap="square" tIns="0">
            <a:noAutofit/>
          </a:bodyPr>
          <a:lstStyle/>
          <a:p>
            <a:pPr indent="0" lvl="0" marL="0" marR="0" rtl="0" algn="l">
              <a:lnSpc>
                <a:spcPct val="137328"/>
              </a:lnSpc>
              <a:spcBef>
                <a:spcPts val="0"/>
              </a:spcBef>
              <a:spcAft>
                <a:spcPts val="0"/>
              </a:spcAft>
              <a:buClr>
                <a:srgbClr val="4D5259"/>
              </a:buClr>
              <a:buSzPts val="1602"/>
              <a:buFont typeface="Calibri"/>
              <a:buNone/>
            </a:pPr>
            <a:r>
              <a:rPr b="1" lang="en-US" sz="1602">
                <a:solidFill>
                  <a:srgbClr val="4D5259"/>
                </a:solidFill>
                <a:latin typeface="Calibri"/>
                <a:ea typeface="Calibri"/>
                <a:cs typeface="Calibri"/>
                <a:sym typeface="Calibri"/>
              </a:rPr>
              <a:t>CURRENT PROGRESS: CLASSICAL CRYPTOGRAPHY BASELINE</a:t>
            </a:r>
            <a:endParaRPr b="1" sz="1602">
              <a:solidFill>
                <a:srgbClr val="4D5259"/>
              </a:solidFill>
              <a:latin typeface="Calibri"/>
              <a:ea typeface="Calibri"/>
              <a:cs typeface="Calibri"/>
              <a:sym typeface="Calibri"/>
            </a:endParaRPr>
          </a:p>
        </p:txBody>
      </p:sp>
      <p:pic>
        <p:nvPicPr>
          <p:cNvPr descr="preencoded.png" id="451" name="Google Shape;451;g3960f894a74_1_65"/>
          <p:cNvPicPr preferRelativeResize="0"/>
          <p:nvPr/>
        </p:nvPicPr>
        <p:blipFill rotWithShape="1">
          <a:blip r:embed="rId3">
            <a:alphaModFix/>
          </a:blip>
          <a:srcRect b="0" l="0" r="0" t="0"/>
          <a:stretch/>
        </p:blipFill>
        <p:spPr>
          <a:xfrm>
            <a:off x="850106" y="1770701"/>
            <a:ext cx="87511" cy="100013"/>
          </a:xfrm>
          <a:prstGeom prst="rect">
            <a:avLst/>
          </a:prstGeom>
          <a:noFill/>
          <a:ln>
            <a:noFill/>
          </a:ln>
        </p:spPr>
      </p:pic>
      <p:sp>
        <p:nvSpPr>
          <p:cNvPr id="452" name="Google Shape;452;g3960f894a74_1_65"/>
          <p:cNvSpPr/>
          <p:nvPr/>
        </p:nvSpPr>
        <p:spPr>
          <a:xfrm>
            <a:off x="1044773" y="1745698"/>
            <a:ext cx="7464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b="0" i="0" lang="en-US" sz="834" u="none" cap="none" strike="noStrike">
                <a:solidFill>
                  <a:schemeClr val="dk1"/>
                </a:solidFill>
                <a:latin typeface="Roboto Mono"/>
                <a:ea typeface="Roboto Mono"/>
                <a:cs typeface="Roboto Mono"/>
                <a:sym typeface="Roboto Mono"/>
              </a:rPr>
              <a:t>AES-256-GCM</a:t>
            </a:r>
            <a:endParaRPr b="0" i="0" sz="834" u="none" cap="none" strike="noStrike">
              <a:solidFill>
                <a:schemeClr val="dk1"/>
              </a:solidFill>
              <a:latin typeface="Calibri"/>
              <a:ea typeface="Calibri"/>
              <a:cs typeface="Calibri"/>
              <a:sym typeface="Calibri"/>
            </a:endParaRPr>
          </a:p>
        </p:txBody>
      </p:sp>
      <p:sp>
        <p:nvSpPr>
          <p:cNvPr id="453" name="Google Shape;453;g3960f894a74_1_65"/>
          <p:cNvSpPr/>
          <p:nvPr/>
        </p:nvSpPr>
        <p:spPr>
          <a:xfrm>
            <a:off x="2538403" y="1757307"/>
            <a:ext cx="292800" cy="126900"/>
          </a:xfrm>
          <a:prstGeom prst="rect">
            <a:avLst/>
          </a:prstGeom>
          <a:noFill/>
          <a:ln>
            <a:noFill/>
          </a:ln>
        </p:spPr>
        <p:txBody>
          <a:bodyPr anchorCtr="0" anchor="t" bIns="0" lIns="42525" spcFirstLastPara="1" rIns="4252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621" u="none" cap="none" strike="noStrike">
                <a:solidFill>
                  <a:srgbClr val="06B6D4"/>
                </a:solidFill>
                <a:latin typeface="Roboto Mono"/>
                <a:ea typeface="Roboto Mono"/>
                <a:cs typeface="Roboto Mono"/>
                <a:sym typeface="Roboto Mono"/>
              </a:rPr>
              <a:t>PASS</a:t>
            </a:r>
            <a:endParaRPr b="0" i="0" sz="621" u="none" cap="none" strike="noStrike">
              <a:solidFill>
                <a:schemeClr val="dk1"/>
              </a:solidFill>
              <a:latin typeface="Calibri"/>
              <a:ea typeface="Calibri"/>
              <a:cs typeface="Calibri"/>
              <a:sym typeface="Calibri"/>
            </a:endParaRPr>
          </a:p>
        </p:txBody>
      </p:sp>
      <p:pic>
        <p:nvPicPr>
          <p:cNvPr descr="preencoded.png" id="454" name="Google Shape;454;g3960f894a74_1_65"/>
          <p:cNvPicPr preferRelativeResize="0"/>
          <p:nvPr/>
        </p:nvPicPr>
        <p:blipFill rotWithShape="1">
          <a:blip r:embed="rId4">
            <a:alphaModFix/>
          </a:blip>
          <a:srcRect b="0" l="0" r="0" t="0"/>
          <a:stretch/>
        </p:blipFill>
        <p:spPr>
          <a:xfrm>
            <a:off x="2974172" y="1770701"/>
            <a:ext cx="87511" cy="100013"/>
          </a:xfrm>
          <a:prstGeom prst="rect">
            <a:avLst/>
          </a:prstGeom>
          <a:noFill/>
          <a:ln>
            <a:noFill/>
          </a:ln>
        </p:spPr>
      </p:pic>
      <p:sp>
        <p:nvSpPr>
          <p:cNvPr id="455" name="Google Shape;455;g3960f894a74_1_65"/>
          <p:cNvSpPr/>
          <p:nvPr/>
        </p:nvSpPr>
        <p:spPr>
          <a:xfrm>
            <a:off x="3168839" y="1745698"/>
            <a:ext cx="4752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b="0" i="0" lang="en-US" sz="834" u="none" cap="none" strike="noStrike">
                <a:solidFill>
                  <a:schemeClr val="dk1"/>
                </a:solidFill>
                <a:latin typeface="Roboto Mono"/>
                <a:ea typeface="Roboto Mono"/>
                <a:cs typeface="Roboto Mono"/>
                <a:sym typeface="Roboto Mono"/>
              </a:rPr>
              <a:t>SHA-256</a:t>
            </a:r>
            <a:endParaRPr b="0" i="0" sz="834" u="none" cap="none" strike="noStrike">
              <a:solidFill>
                <a:schemeClr val="dk1"/>
              </a:solidFill>
              <a:latin typeface="Calibri"/>
              <a:ea typeface="Calibri"/>
              <a:cs typeface="Calibri"/>
              <a:sym typeface="Calibri"/>
            </a:endParaRPr>
          </a:p>
        </p:txBody>
      </p:sp>
      <p:sp>
        <p:nvSpPr>
          <p:cNvPr id="456" name="Google Shape;456;g3960f894a74_1_65"/>
          <p:cNvSpPr/>
          <p:nvPr/>
        </p:nvSpPr>
        <p:spPr>
          <a:xfrm>
            <a:off x="4662469" y="1757307"/>
            <a:ext cx="292800" cy="126900"/>
          </a:xfrm>
          <a:prstGeom prst="rect">
            <a:avLst/>
          </a:prstGeom>
          <a:noFill/>
          <a:ln>
            <a:noFill/>
          </a:ln>
        </p:spPr>
        <p:txBody>
          <a:bodyPr anchorCtr="0" anchor="t" bIns="0" lIns="42525" spcFirstLastPara="1" rIns="4252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621" u="none" cap="none" strike="noStrike">
                <a:solidFill>
                  <a:srgbClr val="06B6D4"/>
                </a:solidFill>
                <a:latin typeface="Roboto Mono"/>
                <a:ea typeface="Roboto Mono"/>
                <a:cs typeface="Roboto Mono"/>
                <a:sym typeface="Roboto Mono"/>
              </a:rPr>
              <a:t>PASS</a:t>
            </a:r>
            <a:endParaRPr b="0" i="0" sz="621" u="none" cap="none" strike="noStrike">
              <a:solidFill>
                <a:schemeClr val="dk1"/>
              </a:solidFill>
              <a:latin typeface="Calibri"/>
              <a:ea typeface="Calibri"/>
              <a:cs typeface="Calibri"/>
              <a:sym typeface="Calibri"/>
            </a:endParaRPr>
          </a:p>
        </p:txBody>
      </p:sp>
      <p:pic>
        <p:nvPicPr>
          <p:cNvPr descr="preencoded.png" id="457" name="Google Shape;457;g3960f894a74_1_65"/>
          <p:cNvPicPr preferRelativeResize="0"/>
          <p:nvPr/>
        </p:nvPicPr>
        <p:blipFill rotWithShape="1">
          <a:blip r:embed="rId3">
            <a:alphaModFix/>
          </a:blip>
          <a:srcRect b="0" l="0" r="0" t="0"/>
          <a:stretch/>
        </p:blipFill>
        <p:spPr>
          <a:xfrm>
            <a:off x="850106" y="2213614"/>
            <a:ext cx="87511" cy="100013"/>
          </a:xfrm>
          <a:prstGeom prst="rect">
            <a:avLst/>
          </a:prstGeom>
          <a:noFill/>
          <a:ln>
            <a:noFill/>
          </a:ln>
        </p:spPr>
      </p:pic>
      <p:sp>
        <p:nvSpPr>
          <p:cNvPr id="458" name="Google Shape;458;g3960f894a74_1_65"/>
          <p:cNvSpPr/>
          <p:nvPr/>
        </p:nvSpPr>
        <p:spPr>
          <a:xfrm>
            <a:off x="1044773" y="2188611"/>
            <a:ext cx="7464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b="0" i="0" lang="en-US" sz="834" u="none" cap="none" strike="noStrike">
                <a:solidFill>
                  <a:schemeClr val="dk1"/>
                </a:solidFill>
                <a:latin typeface="Roboto Mono"/>
                <a:ea typeface="Roboto Mono"/>
                <a:cs typeface="Roboto Mono"/>
                <a:sym typeface="Roboto Mono"/>
              </a:rPr>
              <a:t>HMAC-SHA256</a:t>
            </a:r>
            <a:endParaRPr b="0" i="0" sz="834" u="none" cap="none" strike="noStrike">
              <a:solidFill>
                <a:schemeClr val="dk1"/>
              </a:solidFill>
              <a:latin typeface="Calibri"/>
              <a:ea typeface="Calibri"/>
              <a:cs typeface="Calibri"/>
              <a:sym typeface="Calibri"/>
            </a:endParaRPr>
          </a:p>
        </p:txBody>
      </p:sp>
      <p:sp>
        <p:nvSpPr>
          <p:cNvPr id="459" name="Google Shape;459;g3960f894a74_1_65"/>
          <p:cNvSpPr/>
          <p:nvPr/>
        </p:nvSpPr>
        <p:spPr>
          <a:xfrm>
            <a:off x="2538403" y="2200219"/>
            <a:ext cx="292800" cy="126900"/>
          </a:xfrm>
          <a:prstGeom prst="rect">
            <a:avLst/>
          </a:prstGeom>
          <a:noFill/>
          <a:ln>
            <a:noFill/>
          </a:ln>
        </p:spPr>
        <p:txBody>
          <a:bodyPr anchorCtr="0" anchor="t" bIns="0" lIns="42525" spcFirstLastPara="1" rIns="4252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621" u="none" cap="none" strike="noStrike">
                <a:solidFill>
                  <a:srgbClr val="06B6D4"/>
                </a:solidFill>
                <a:latin typeface="Roboto Mono"/>
                <a:ea typeface="Roboto Mono"/>
                <a:cs typeface="Roboto Mono"/>
                <a:sym typeface="Roboto Mono"/>
              </a:rPr>
              <a:t>PASS</a:t>
            </a:r>
            <a:endParaRPr b="0" i="0" sz="621" u="none" cap="none" strike="noStrike">
              <a:solidFill>
                <a:schemeClr val="dk1"/>
              </a:solidFill>
              <a:latin typeface="Calibri"/>
              <a:ea typeface="Calibri"/>
              <a:cs typeface="Calibri"/>
              <a:sym typeface="Calibri"/>
            </a:endParaRPr>
          </a:p>
        </p:txBody>
      </p:sp>
      <p:pic>
        <p:nvPicPr>
          <p:cNvPr descr="preencoded.png" id="460" name="Google Shape;460;g3960f894a74_1_65"/>
          <p:cNvPicPr preferRelativeResize="0"/>
          <p:nvPr/>
        </p:nvPicPr>
        <p:blipFill rotWithShape="1">
          <a:blip r:embed="rId4">
            <a:alphaModFix/>
          </a:blip>
          <a:srcRect b="0" l="0" r="0" t="0"/>
          <a:stretch/>
        </p:blipFill>
        <p:spPr>
          <a:xfrm>
            <a:off x="2974172" y="2213614"/>
            <a:ext cx="87511" cy="100013"/>
          </a:xfrm>
          <a:prstGeom prst="rect">
            <a:avLst/>
          </a:prstGeom>
          <a:noFill/>
          <a:ln>
            <a:noFill/>
          </a:ln>
        </p:spPr>
      </p:pic>
      <p:sp>
        <p:nvSpPr>
          <p:cNvPr id="461" name="Google Shape;461;g3960f894a74_1_65"/>
          <p:cNvSpPr/>
          <p:nvPr/>
        </p:nvSpPr>
        <p:spPr>
          <a:xfrm>
            <a:off x="3168839" y="2188611"/>
            <a:ext cx="2715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b="0" i="0" lang="en-US" sz="834" u="none" cap="none" strike="noStrike">
                <a:solidFill>
                  <a:schemeClr val="dk1"/>
                </a:solidFill>
                <a:latin typeface="Roboto Mono"/>
                <a:ea typeface="Roboto Mono"/>
                <a:cs typeface="Roboto Mono"/>
                <a:sym typeface="Roboto Mono"/>
              </a:rPr>
              <a:t>HKDF</a:t>
            </a:r>
            <a:endParaRPr b="0" i="0" sz="834" u="none" cap="none" strike="noStrike">
              <a:solidFill>
                <a:schemeClr val="dk1"/>
              </a:solidFill>
              <a:latin typeface="Calibri"/>
              <a:ea typeface="Calibri"/>
              <a:cs typeface="Calibri"/>
              <a:sym typeface="Calibri"/>
            </a:endParaRPr>
          </a:p>
        </p:txBody>
      </p:sp>
      <p:sp>
        <p:nvSpPr>
          <p:cNvPr id="462" name="Google Shape;462;g3960f894a74_1_65"/>
          <p:cNvSpPr/>
          <p:nvPr/>
        </p:nvSpPr>
        <p:spPr>
          <a:xfrm>
            <a:off x="4662469" y="2200219"/>
            <a:ext cx="292800" cy="126900"/>
          </a:xfrm>
          <a:prstGeom prst="rect">
            <a:avLst/>
          </a:prstGeom>
          <a:noFill/>
          <a:ln>
            <a:noFill/>
          </a:ln>
        </p:spPr>
        <p:txBody>
          <a:bodyPr anchorCtr="0" anchor="t" bIns="0" lIns="42525" spcFirstLastPara="1" rIns="4252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621" u="none" cap="none" strike="noStrike">
                <a:solidFill>
                  <a:srgbClr val="06B6D4"/>
                </a:solidFill>
                <a:latin typeface="Roboto Mono"/>
                <a:ea typeface="Roboto Mono"/>
                <a:cs typeface="Roboto Mono"/>
                <a:sym typeface="Roboto Mono"/>
              </a:rPr>
              <a:t>PASS</a:t>
            </a:r>
            <a:endParaRPr b="0" i="0" sz="621" u="none" cap="none" strike="noStrike">
              <a:solidFill>
                <a:schemeClr val="dk1"/>
              </a:solidFill>
              <a:latin typeface="Calibri"/>
              <a:ea typeface="Calibri"/>
              <a:cs typeface="Calibri"/>
              <a:sym typeface="Calibri"/>
            </a:endParaRPr>
          </a:p>
        </p:txBody>
      </p:sp>
      <p:pic>
        <p:nvPicPr>
          <p:cNvPr descr="preencoded.png" id="463" name="Google Shape;463;g3960f894a74_1_65"/>
          <p:cNvPicPr preferRelativeResize="0"/>
          <p:nvPr/>
        </p:nvPicPr>
        <p:blipFill rotWithShape="1">
          <a:blip r:embed="rId3">
            <a:alphaModFix/>
          </a:blip>
          <a:srcRect b="0" l="0" r="0" t="0"/>
          <a:stretch/>
        </p:blipFill>
        <p:spPr>
          <a:xfrm>
            <a:off x="850106" y="2656526"/>
            <a:ext cx="87511" cy="100013"/>
          </a:xfrm>
          <a:prstGeom prst="rect">
            <a:avLst/>
          </a:prstGeom>
          <a:noFill/>
          <a:ln>
            <a:noFill/>
          </a:ln>
        </p:spPr>
      </p:pic>
      <p:sp>
        <p:nvSpPr>
          <p:cNvPr id="464" name="Google Shape;464;g3960f894a74_1_65"/>
          <p:cNvSpPr/>
          <p:nvPr/>
        </p:nvSpPr>
        <p:spPr>
          <a:xfrm>
            <a:off x="1044773" y="2631523"/>
            <a:ext cx="7464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b="0" i="0" lang="en-US" sz="834" u="none" cap="none" strike="noStrike">
                <a:solidFill>
                  <a:schemeClr val="dk1"/>
                </a:solidFill>
                <a:latin typeface="Roboto Mono"/>
                <a:ea typeface="Roboto Mono"/>
                <a:cs typeface="Roboto Mono"/>
                <a:sym typeface="Roboto Mono"/>
              </a:rPr>
              <a:t>ECC (P-256)</a:t>
            </a:r>
            <a:endParaRPr b="0" i="0" sz="834" u="none" cap="none" strike="noStrike">
              <a:solidFill>
                <a:schemeClr val="dk1"/>
              </a:solidFill>
              <a:latin typeface="Calibri"/>
              <a:ea typeface="Calibri"/>
              <a:cs typeface="Calibri"/>
              <a:sym typeface="Calibri"/>
            </a:endParaRPr>
          </a:p>
        </p:txBody>
      </p:sp>
      <p:sp>
        <p:nvSpPr>
          <p:cNvPr id="465" name="Google Shape;465;g3960f894a74_1_65"/>
          <p:cNvSpPr/>
          <p:nvPr/>
        </p:nvSpPr>
        <p:spPr>
          <a:xfrm>
            <a:off x="2538403" y="2643132"/>
            <a:ext cx="292800" cy="126900"/>
          </a:xfrm>
          <a:prstGeom prst="rect">
            <a:avLst/>
          </a:prstGeom>
          <a:noFill/>
          <a:ln>
            <a:noFill/>
          </a:ln>
        </p:spPr>
        <p:txBody>
          <a:bodyPr anchorCtr="0" anchor="t" bIns="0" lIns="42525" spcFirstLastPara="1" rIns="4252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621" u="none" cap="none" strike="noStrike">
                <a:solidFill>
                  <a:srgbClr val="06B6D4"/>
                </a:solidFill>
                <a:latin typeface="Roboto Mono"/>
                <a:ea typeface="Roboto Mono"/>
                <a:cs typeface="Roboto Mono"/>
                <a:sym typeface="Roboto Mono"/>
              </a:rPr>
              <a:t>PASS</a:t>
            </a:r>
            <a:endParaRPr b="0" i="0" sz="621" u="none" cap="none" strike="noStrike">
              <a:solidFill>
                <a:schemeClr val="dk1"/>
              </a:solidFill>
              <a:latin typeface="Calibri"/>
              <a:ea typeface="Calibri"/>
              <a:cs typeface="Calibri"/>
              <a:sym typeface="Calibri"/>
            </a:endParaRPr>
          </a:p>
        </p:txBody>
      </p:sp>
      <p:pic>
        <p:nvPicPr>
          <p:cNvPr descr="preencoded.png" id="466" name="Google Shape;466;g3960f894a74_1_65"/>
          <p:cNvPicPr preferRelativeResize="0"/>
          <p:nvPr/>
        </p:nvPicPr>
        <p:blipFill rotWithShape="1">
          <a:blip r:embed="rId4">
            <a:alphaModFix/>
          </a:blip>
          <a:srcRect b="0" l="0" r="0" t="0"/>
          <a:stretch/>
        </p:blipFill>
        <p:spPr>
          <a:xfrm>
            <a:off x="2974172" y="2656526"/>
            <a:ext cx="87511" cy="100013"/>
          </a:xfrm>
          <a:prstGeom prst="rect">
            <a:avLst/>
          </a:prstGeom>
          <a:noFill/>
          <a:ln>
            <a:noFill/>
          </a:ln>
        </p:spPr>
      </p:pic>
      <p:sp>
        <p:nvSpPr>
          <p:cNvPr id="467" name="Google Shape;467;g3960f894a74_1_65"/>
          <p:cNvSpPr/>
          <p:nvPr/>
        </p:nvSpPr>
        <p:spPr>
          <a:xfrm>
            <a:off x="3168839" y="2631523"/>
            <a:ext cx="2715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b="0" i="0" lang="en-US" sz="834" u="none" cap="none" strike="noStrike">
                <a:solidFill>
                  <a:schemeClr val="dk1"/>
                </a:solidFill>
                <a:latin typeface="Roboto Mono"/>
                <a:ea typeface="Roboto Mono"/>
                <a:cs typeface="Roboto Mono"/>
                <a:sym typeface="Roboto Mono"/>
              </a:rPr>
              <a:t>ECDH</a:t>
            </a:r>
            <a:endParaRPr b="0" i="0" sz="834" u="none" cap="none" strike="noStrike">
              <a:solidFill>
                <a:schemeClr val="dk1"/>
              </a:solidFill>
              <a:latin typeface="Calibri"/>
              <a:ea typeface="Calibri"/>
              <a:cs typeface="Calibri"/>
              <a:sym typeface="Calibri"/>
            </a:endParaRPr>
          </a:p>
        </p:txBody>
      </p:sp>
      <p:sp>
        <p:nvSpPr>
          <p:cNvPr id="468" name="Google Shape;468;g3960f894a74_1_65"/>
          <p:cNvSpPr/>
          <p:nvPr/>
        </p:nvSpPr>
        <p:spPr>
          <a:xfrm>
            <a:off x="4662469" y="2643132"/>
            <a:ext cx="292800" cy="126900"/>
          </a:xfrm>
          <a:prstGeom prst="rect">
            <a:avLst/>
          </a:prstGeom>
          <a:noFill/>
          <a:ln>
            <a:noFill/>
          </a:ln>
        </p:spPr>
        <p:txBody>
          <a:bodyPr anchorCtr="0" anchor="t" bIns="0" lIns="42525" spcFirstLastPara="1" rIns="4252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621" u="none" cap="none" strike="noStrike">
                <a:solidFill>
                  <a:srgbClr val="06B6D4"/>
                </a:solidFill>
                <a:latin typeface="Roboto Mono"/>
                <a:ea typeface="Roboto Mono"/>
                <a:cs typeface="Roboto Mono"/>
                <a:sym typeface="Roboto Mono"/>
              </a:rPr>
              <a:t>PASS</a:t>
            </a:r>
            <a:endParaRPr b="0" i="0" sz="621" u="none" cap="none" strike="noStrike">
              <a:solidFill>
                <a:schemeClr val="dk1"/>
              </a:solidFill>
              <a:latin typeface="Calibri"/>
              <a:ea typeface="Calibri"/>
              <a:cs typeface="Calibri"/>
              <a:sym typeface="Calibri"/>
            </a:endParaRPr>
          </a:p>
        </p:txBody>
      </p:sp>
      <p:pic>
        <p:nvPicPr>
          <p:cNvPr descr="preencoded.png" id="469" name="Google Shape;469;g3960f894a74_1_65"/>
          <p:cNvPicPr preferRelativeResize="0"/>
          <p:nvPr/>
        </p:nvPicPr>
        <p:blipFill rotWithShape="1">
          <a:blip r:embed="rId3">
            <a:alphaModFix/>
          </a:blip>
          <a:srcRect b="0" l="0" r="0" t="0"/>
          <a:stretch/>
        </p:blipFill>
        <p:spPr>
          <a:xfrm>
            <a:off x="850106" y="3099439"/>
            <a:ext cx="87511" cy="100013"/>
          </a:xfrm>
          <a:prstGeom prst="rect">
            <a:avLst/>
          </a:prstGeom>
          <a:noFill/>
          <a:ln>
            <a:noFill/>
          </a:ln>
        </p:spPr>
      </p:pic>
      <p:sp>
        <p:nvSpPr>
          <p:cNvPr id="470" name="Google Shape;470;g3960f894a74_1_65"/>
          <p:cNvSpPr/>
          <p:nvPr/>
        </p:nvSpPr>
        <p:spPr>
          <a:xfrm>
            <a:off x="1044773" y="3074436"/>
            <a:ext cx="3393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b="0" i="0" lang="en-US" sz="834" u="none" cap="none" strike="noStrike">
                <a:solidFill>
                  <a:schemeClr val="dk1"/>
                </a:solidFill>
                <a:latin typeface="Roboto Mono"/>
                <a:ea typeface="Roboto Mono"/>
                <a:cs typeface="Roboto Mono"/>
                <a:sym typeface="Roboto Mono"/>
              </a:rPr>
              <a:t>ECDSA</a:t>
            </a:r>
            <a:endParaRPr b="0" i="0" sz="834" u="none" cap="none" strike="noStrike">
              <a:solidFill>
                <a:schemeClr val="dk1"/>
              </a:solidFill>
              <a:latin typeface="Calibri"/>
              <a:ea typeface="Calibri"/>
              <a:cs typeface="Calibri"/>
              <a:sym typeface="Calibri"/>
            </a:endParaRPr>
          </a:p>
        </p:txBody>
      </p:sp>
      <p:sp>
        <p:nvSpPr>
          <p:cNvPr id="471" name="Google Shape;471;g3960f894a74_1_65"/>
          <p:cNvSpPr/>
          <p:nvPr/>
        </p:nvSpPr>
        <p:spPr>
          <a:xfrm>
            <a:off x="2538403" y="3086044"/>
            <a:ext cx="292800" cy="126900"/>
          </a:xfrm>
          <a:prstGeom prst="rect">
            <a:avLst/>
          </a:prstGeom>
          <a:noFill/>
          <a:ln>
            <a:noFill/>
          </a:ln>
        </p:spPr>
        <p:txBody>
          <a:bodyPr anchorCtr="0" anchor="t" bIns="0" lIns="42525" spcFirstLastPara="1" rIns="4252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621" u="none" cap="none" strike="noStrike">
                <a:solidFill>
                  <a:srgbClr val="06B6D4"/>
                </a:solidFill>
                <a:latin typeface="Roboto Mono"/>
                <a:ea typeface="Roboto Mono"/>
                <a:cs typeface="Roboto Mono"/>
                <a:sym typeface="Roboto Mono"/>
              </a:rPr>
              <a:t>PASS</a:t>
            </a:r>
            <a:endParaRPr b="0" i="0" sz="621" u="none" cap="none" strike="noStrike">
              <a:solidFill>
                <a:schemeClr val="dk1"/>
              </a:solidFill>
              <a:latin typeface="Calibri"/>
              <a:ea typeface="Calibri"/>
              <a:cs typeface="Calibri"/>
              <a:sym typeface="Calibri"/>
            </a:endParaRPr>
          </a:p>
        </p:txBody>
      </p:sp>
      <p:pic>
        <p:nvPicPr>
          <p:cNvPr descr="preencoded.png" id="472" name="Google Shape;472;g3960f894a74_1_65"/>
          <p:cNvPicPr preferRelativeResize="0"/>
          <p:nvPr/>
        </p:nvPicPr>
        <p:blipFill rotWithShape="1">
          <a:blip r:embed="rId4">
            <a:alphaModFix/>
          </a:blip>
          <a:srcRect b="0" l="0" r="0" t="0"/>
          <a:stretch/>
        </p:blipFill>
        <p:spPr>
          <a:xfrm>
            <a:off x="2974172" y="3099439"/>
            <a:ext cx="87511" cy="100013"/>
          </a:xfrm>
          <a:prstGeom prst="rect">
            <a:avLst/>
          </a:prstGeom>
          <a:noFill/>
          <a:ln>
            <a:noFill/>
          </a:ln>
        </p:spPr>
      </p:pic>
      <p:sp>
        <p:nvSpPr>
          <p:cNvPr id="473" name="Google Shape;473;g3960f894a74_1_65"/>
          <p:cNvSpPr/>
          <p:nvPr/>
        </p:nvSpPr>
        <p:spPr>
          <a:xfrm>
            <a:off x="3168839" y="3074436"/>
            <a:ext cx="882300" cy="150000"/>
          </a:xfrm>
          <a:prstGeom prst="rect">
            <a:avLst/>
          </a:prstGeom>
          <a:noFill/>
          <a:ln>
            <a:noFill/>
          </a:ln>
        </p:spPr>
        <p:txBody>
          <a:bodyPr anchorCtr="0" anchor="t" bIns="0" lIns="0" spcFirstLastPara="1" rIns="0" wrap="square" tIns="0">
            <a:noAutofit/>
          </a:bodyPr>
          <a:lstStyle/>
          <a:p>
            <a:pPr indent="0" lvl="0" marL="0" marR="0" rtl="0" algn="l">
              <a:lnSpc>
                <a:spcPct val="131894"/>
              </a:lnSpc>
              <a:spcBef>
                <a:spcPts val="0"/>
              </a:spcBef>
              <a:spcAft>
                <a:spcPts val="0"/>
              </a:spcAft>
              <a:buClr>
                <a:srgbClr val="E2E8F0"/>
              </a:buClr>
              <a:buSzPts val="834"/>
              <a:buFont typeface="Roboto Mono"/>
              <a:buNone/>
            </a:pPr>
            <a:r>
              <a:rPr b="0" i="0" lang="en-US" sz="834" u="none" cap="none" strike="noStrike">
                <a:solidFill>
                  <a:schemeClr val="dk1"/>
                </a:solidFill>
                <a:latin typeface="Roboto Mono"/>
                <a:ea typeface="Roboto Mono"/>
                <a:cs typeface="Roboto Mono"/>
                <a:sym typeface="Roboto Mono"/>
              </a:rPr>
              <a:t>X.509 Parsing</a:t>
            </a:r>
            <a:endParaRPr b="0" i="0" sz="834" u="none" cap="none" strike="noStrike">
              <a:solidFill>
                <a:schemeClr val="dk1"/>
              </a:solidFill>
              <a:latin typeface="Calibri"/>
              <a:ea typeface="Calibri"/>
              <a:cs typeface="Calibri"/>
              <a:sym typeface="Calibri"/>
            </a:endParaRPr>
          </a:p>
        </p:txBody>
      </p:sp>
      <p:sp>
        <p:nvSpPr>
          <p:cNvPr id="474" name="Google Shape;474;g3960f894a74_1_65"/>
          <p:cNvSpPr/>
          <p:nvPr/>
        </p:nvSpPr>
        <p:spPr>
          <a:xfrm>
            <a:off x="4662469" y="3086044"/>
            <a:ext cx="292800" cy="126900"/>
          </a:xfrm>
          <a:prstGeom prst="rect">
            <a:avLst/>
          </a:prstGeom>
          <a:noFill/>
          <a:ln>
            <a:noFill/>
          </a:ln>
        </p:spPr>
        <p:txBody>
          <a:bodyPr anchorCtr="0" anchor="t" bIns="0" lIns="42525" spcFirstLastPara="1" rIns="4252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621" u="none" cap="none" strike="noStrike">
                <a:solidFill>
                  <a:srgbClr val="06B6D4"/>
                </a:solidFill>
                <a:latin typeface="Roboto Mono"/>
                <a:ea typeface="Roboto Mono"/>
                <a:cs typeface="Roboto Mono"/>
                <a:sym typeface="Roboto Mono"/>
              </a:rPr>
              <a:t>PASS</a:t>
            </a:r>
            <a:endParaRPr b="0" i="0" sz="621" u="none" cap="none" strike="noStrike">
              <a:solidFill>
                <a:schemeClr val="dk1"/>
              </a:solidFill>
              <a:latin typeface="Calibri"/>
              <a:ea typeface="Calibri"/>
              <a:cs typeface="Calibri"/>
              <a:sym typeface="Calibri"/>
            </a:endParaRPr>
          </a:p>
        </p:txBody>
      </p:sp>
      <p:sp>
        <p:nvSpPr>
          <p:cNvPr id="475" name="Google Shape;475;g3960f894a74_1_65"/>
          <p:cNvSpPr/>
          <p:nvPr/>
        </p:nvSpPr>
        <p:spPr>
          <a:xfrm>
            <a:off x="850106" y="3517348"/>
            <a:ext cx="4105200" cy="800100"/>
          </a:xfrm>
          <a:prstGeom prst="rect">
            <a:avLst/>
          </a:prstGeom>
          <a:noFill/>
          <a:ln>
            <a:noFill/>
          </a:ln>
        </p:spPr>
        <p:txBody>
          <a:bodyPr anchorCtr="0" anchor="t" bIns="0" lIns="0" spcFirstLastPara="1" rIns="0" wrap="square" tIns="0">
            <a:noAutofit/>
          </a:bodyPr>
          <a:lstStyle/>
          <a:p>
            <a:pPr indent="0" lvl="0" marL="0" marR="0" rtl="0" algn="l">
              <a:lnSpc>
                <a:spcPct val="178817"/>
              </a:lnSpc>
              <a:spcBef>
                <a:spcPts val="0"/>
              </a:spcBef>
              <a:spcAft>
                <a:spcPts val="0"/>
              </a:spcAft>
              <a:buClr>
                <a:srgbClr val="94A3B8"/>
              </a:buClr>
              <a:buSzPts val="727"/>
              <a:buFont typeface="Roboto Mono"/>
              <a:buNone/>
            </a:pPr>
            <a:r>
              <a:rPr b="0" i="0" lang="en-US" sz="727" u="none" cap="none" strike="noStrike">
                <a:solidFill>
                  <a:srgbClr val="94A3B8"/>
                </a:solidFill>
                <a:latin typeface="Roboto Mono"/>
                <a:ea typeface="Roboto Mono"/>
                <a:cs typeface="Roboto Mono"/>
                <a:sym typeface="Roboto Mono"/>
              </a:rPr>
              <a:t>&gt; Initializing mbedTLS stack... [OK]</a:t>
            </a:r>
            <a:br>
              <a:rPr b="0" i="0" lang="en-US" sz="727" u="none" cap="none" strike="noStrike">
                <a:solidFill>
                  <a:srgbClr val="94A3B8"/>
                </a:solidFill>
                <a:latin typeface="Roboto Mono"/>
                <a:ea typeface="Roboto Mono"/>
                <a:cs typeface="Roboto Mono"/>
                <a:sym typeface="Roboto Mono"/>
              </a:rPr>
            </a:br>
            <a:r>
              <a:rPr b="0" i="0" lang="en-US" sz="727" u="none" cap="none" strike="noStrike">
                <a:solidFill>
                  <a:srgbClr val="94A3B8"/>
                </a:solidFill>
                <a:latin typeface="Roboto Mono"/>
                <a:ea typeface="Roboto Mono"/>
                <a:cs typeface="Roboto Mono"/>
                <a:sym typeface="Roboto Mono"/>
              </a:rPr>
              <a:t>&gt; Running cryptographic self-tests... [OK]</a:t>
            </a:r>
            <a:br>
              <a:rPr b="0" i="0" lang="en-US" sz="727" u="none" cap="none" strike="noStrike">
                <a:solidFill>
                  <a:srgbClr val="94A3B8"/>
                </a:solidFill>
                <a:latin typeface="Roboto Mono"/>
                <a:ea typeface="Roboto Mono"/>
                <a:cs typeface="Roboto Mono"/>
                <a:sym typeface="Roboto Mono"/>
              </a:rPr>
            </a:br>
            <a:r>
              <a:rPr b="0" i="0" lang="en-US" sz="727" u="none" cap="none" strike="noStrike">
                <a:solidFill>
                  <a:srgbClr val="94A3B8"/>
                </a:solidFill>
                <a:latin typeface="Roboto Mono"/>
                <a:ea typeface="Roboto Mono"/>
                <a:cs typeface="Roboto Mono"/>
                <a:sym typeface="Roboto Mono"/>
              </a:rPr>
              <a:t>&gt; Validating NIST P-256 curve operations... [OK]</a:t>
            </a:r>
            <a:br>
              <a:rPr b="0" i="0" lang="en-US" sz="727" u="none" cap="none" strike="noStrike">
                <a:solidFill>
                  <a:srgbClr val="94A3B8"/>
                </a:solidFill>
                <a:latin typeface="Roboto Mono"/>
                <a:ea typeface="Roboto Mono"/>
                <a:cs typeface="Roboto Mono"/>
                <a:sym typeface="Roboto Mono"/>
              </a:rPr>
            </a:br>
            <a:r>
              <a:rPr b="0" i="0" lang="en-US" sz="727" u="none" cap="none" strike="noStrike">
                <a:solidFill>
                  <a:srgbClr val="94A3B8"/>
                </a:solidFill>
                <a:latin typeface="Roboto Mono"/>
                <a:ea typeface="Roboto Mono"/>
                <a:cs typeface="Roboto Mono"/>
                <a:sym typeface="Roboto Mono"/>
              </a:rPr>
              <a:t>&gt; Parsing DER-encoded certificates... [OK]</a:t>
            </a:r>
            <a:br>
              <a:rPr b="0" i="0" lang="en-US" sz="727" u="none" cap="none" strike="noStrike">
                <a:solidFill>
                  <a:srgbClr val="94A3B8"/>
                </a:solidFill>
                <a:latin typeface="Roboto Mono"/>
                <a:ea typeface="Roboto Mono"/>
                <a:cs typeface="Roboto Mono"/>
                <a:sym typeface="Roboto Mono"/>
              </a:rPr>
            </a:br>
            <a:r>
              <a:rPr b="0" i="0" lang="en-US" sz="727" u="none" cap="none" strike="noStrike">
                <a:solidFill>
                  <a:srgbClr val="94A3B8"/>
                </a:solidFill>
                <a:latin typeface="Roboto Mono"/>
                <a:ea typeface="Roboto Mono"/>
                <a:cs typeface="Roboto Mono"/>
                <a:sym typeface="Roboto Mono"/>
              </a:rPr>
              <a:t>&gt; All classical primitives verified on STM32H7.</a:t>
            </a:r>
            <a:endParaRPr b="0" i="0" sz="727" u="none" cap="none" strike="noStrike">
              <a:solidFill>
                <a:schemeClr val="dk1"/>
              </a:solidFill>
              <a:latin typeface="Calibri"/>
              <a:ea typeface="Calibri"/>
              <a:cs typeface="Calibri"/>
              <a:sym typeface="Calibri"/>
            </a:endParaRPr>
          </a:p>
        </p:txBody>
      </p:sp>
      <p:sp>
        <p:nvSpPr>
          <p:cNvPr id="476" name="Google Shape;476;g3960f894a74_1_65"/>
          <p:cNvSpPr/>
          <p:nvPr/>
        </p:nvSpPr>
        <p:spPr>
          <a:xfrm>
            <a:off x="5462569" y="1602823"/>
            <a:ext cx="3167100" cy="169800"/>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06B6D4"/>
              </a:buClr>
              <a:buSzPts val="942"/>
              <a:buFont typeface="Roboto Mono"/>
              <a:buNone/>
            </a:pPr>
            <a:r>
              <a:rPr b="1" i="0" lang="en-US" sz="942" u="none" cap="none" strike="noStrike">
                <a:solidFill>
                  <a:srgbClr val="00A651"/>
                </a:solidFill>
                <a:latin typeface="Roboto Mono"/>
                <a:ea typeface="Roboto Mono"/>
                <a:cs typeface="Roboto Mono"/>
                <a:sym typeface="Roboto Mono"/>
              </a:rPr>
              <a:t>OBJECTIVE</a:t>
            </a:r>
            <a:endParaRPr b="1" i="0" sz="942" u="none" cap="none" strike="noStrike">
              <a:solidFill>
                <a:srgbClr val="00A651"/>
              </a:solidFill>
              <a:latin typeface="Calibri"/>
              <a:ea typeface="Calibri"/>
              <a:cs typeface="Calibri"/>
              <a:sym typeface="Calibri"/>
            </a:endParaRPr>
          </a:p>
        </p:txBody>
      </p:sp>
      <p:sp>
        <p:nvSpPr>
          <p:cNvPr id="477" name="Google Shape;477;g3960f894a74_1_65"/>
          <p:cNvSpPr/>
          <p:nvPr/>
        </p:nvSpPr>
        <p:spPr>
          <a:xfrm>
            <a:off x="5462569" y="1879643"/>
            <a:ext cx="3167100" cy="54870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94A3B8"/>
              </a:buClr>
              <a:buSzPts val="834"/>
              <a:buFont typeface="Inter"/>
              <a:buNone/>
            </a:pPr>
            <a:r>
              <a:rPr b="0" i="0" lang="en-US" sz="834" u="none" cap="none" strike="noStrike">
                <a:solidFill>
                  <a:schemeClr val="dk1"/>
                </a:solidFill>
                <a:latin typeface="Inter"/>
                <a:ea typeface="Inter"/>
                <a:cs typeface="Inter"/>
                <a:sym typeface="Inter"/>
              </a:rPr>
              <a:t>Establish a </a:t>
            </a:r>
            <a:r>
              <a:rPr b="1" i="0" lang="en-US" sz="784" u="none" cap="none" strike="noStrike">
                <a:solidFill>
                  <a:schemeClr val="dk1"/>
                </a:solidFill>
                <a:latin typeface="Inter"/>
                <a:ea typeface="Inter"/>
                <a:cs typeface="Inter"/>
                <a:sym typeface="Inter"/>
              </a:rPr>
              <a:t>validated classical baseline</a:t>
            </a:r>
            <a:r>
              <a:rPr b="0" i="0" lang="en-US" sz="834" u="none" cap="none" strike="noStrike">
                <a:solidFill>
                  <a:schemeClr val="dk1"/>
                </a:solidFill>
                <a:latin typeface="Inter"/>
                <a:ea typeface="Inter"/>
                <a:cs typeface="Inter"/>
                <a:sym typeface="Inter"/>
              </a:rPr>
              <a:t> using mbedTLS to serve as a reference for the UDS 0x29 service before PQC integration.</a:t>
            </a:r>
            <a:endParaRPr b="0" i="0" sz="834" u="none" cap="none" strike="noStrike">
              <a:solidFill>
                <a:schemeClr val="dk1"/>
              </a:solidFill>
              <a:latin typeface="Calibri"/>
              <a:ea typeface="Calibri"/>
              <a:cs typeface="Calibri"/>
              <a:sym typeface="Calibri"/>
            </a:endParaRPr>
          </a:p>
        </p:txBody>
      </p:sp>
      <p:sp>
        <p:nvSpPr>
          <p:cNvPr id="478" name="Google Shape;478;g3960f894a74_1_65"/>
          <p:cNvSpPr/>
          <p:nvPr/>
        </p:nvSpPr>
        <p:spPr>
          <a:xfrm>
            <a:off x="5462569" y="2864002"/>
            <a:ext cx="3167100" cy="169800"/>
          </a:xfrm>
          <a:prstGeom prst="rect">
            <a:avLst/>
          </a:prstGeom>
          <a:noFill/>
          <a:ln>
            <a:noFill/>
          </a:ln>
        </p:spPr>
        <p:txBody>
          <a:bodyPr anchorCtr="0" anchor="t" bIns="0" lIns="0" spcFirstLastPara="1" rIns="0" wrap="square" tIns="0">
            <a:noAutofit/>
          </a:bodyPr>
          <a:lstStyle/>
          <a:p>
            <a:pPr indent="0" lvl="0" marL="0" marR="0" rtl="0" algn="l">
              <a:lnSpc>
                <a:spcPct val="127388"/>
              </a:lnSpc>
              <a:spcBef>
                <a:spcPts val="0"/>
              </a:spcBef>
              <a:spcAft>
                <a:spcPts val="0"/>
              </a:spcAft>
              <a:buClr>
                <a:srgbClr val="06B6D4"/>
              </a:buClr>
              <a:buSzPts val="942"/>
              <a:buFont typeface="Roboto Mono"/>
              <a:buNone/>
            </a:pPr>
            <a:r>
              <a:rPr b="1" i="0" lang="en-US" sz="942" u="none" cap="none" strike="noStrike">
                <a:solidFill>
                  <a:srgbClr val="00A651"/>
                </a:solidFill>
                <a:latin typeface="Roboto Mono"/>
                <a:ea typeface="Roboto Mono"/>
                <a:cs typeface="Roboto Mono"/>
                <a:sym typeface="Roboto Mono"/>
              </a:rPr>
              <a:t>OUTCOME</a:t>
            </a:r>
            <a:endParaRPr b="1" i="0" sz="942" u="none" cap="none" strike="noStrike">
              <a:solidFill>
                <a:srgbClr val="00A651"/>
              </a:solidFill>
              <a:latin typeface="Calibri"/>
              <a:ea typeface="Calibri"/>
              <a:cs typeface="Calibri"/>
              <a:sym typeface="Calibri"/>
            </a:endParaRPr>
          </a:p>
        </p:txBody>
      </p:sp>
      <p:sp>
        <p:nvSpPr>
          <p:cNvPr id="479" name="Google Shape;479;g3960f894a74_1_65"/>
          <p:cNvSpPr/>
          <p:nvPr/>
        </p:nvSpPr>
        <p:spPr>
          <a:xfrm>
            <a:off x="5462569" y="3140822"/>
            <a:ext cx="3167100" cy="548700"/>
          </a:xfrm>
          <a:prstGeom prst="rect">
            <a:avLst/>
          </a:prstGeom>
          <a:noFill/>
          <a:ln>
            <a:noFill/>
          </a:ln>
        </p:spPr>
        <p:txBody>
          <a:bodyPr anchorCtr="0" anchor="t" bIns="0" lIns="0" spcFirstLastPara="1" rIns="0" wrap="square" tIns="0">
            <a:noAutofit/>
          </a:bodyPr>
          <a:lstStyle/>
          <a:p>
            <a:pPr indent="0" lvl="0" marL="0" marR="0" rtl="0" algn="l">
              <a:lnSpc>
                <a:spcPct val="167865"/>
              </a:lnSpc>
              <a:spcBef>
                <a:spcPts val="0"/>
              </a:spcBef>
              <a:spcAft>
                <a:spcPts val="0"/>
              </a:spcAft>
              <a:buClr>
                <a:srgbClr val="94A3B8"/>
              </a:buClr>
              <a:buSzPts val="834"/>
              <a:buFont typeface="Inter"/>
              <a:buNone/>
            </a:pPr>
            <a:r>
              <a:rPr b="0" i="0" lang="en-US" sz="834" u="none" cap="none" strike="noStrike">
                <a:solidFill>
                  <a:schemeClr val="dk1"/>
                </a:solidFill>
                <a:latin typeface="Inter"/>
                <a:ea typeface="Inter"/>
                <a:cs typeface="Inter"/>
                <a:sym typeface="Inter"/>
              </a:rPr>
              <a:t>Confirmed a </a:t>
            </a:r>
            <a:r>
              <a:rPr b="1" i="0" lang="en-US" sz="784" u="none" cap="none" strike="noStrike">
                <a:solidFill>
                  <a:schemeClr val="dk1"/>
                </a:solidFill>
                <a:latin typeface="Inter"/>
                <a:ea typeface="Inter"/>
                <a:cs typeface="Inter"/>
                <a:sym typeface="Inter"/>
              </a:rPr>
              <a:t>robust foundation</a:t>
            </a:r>
            <a:r>
              <a:rPr b="0" i="0" lang="en-US" sz="834" u="none" cap="none" strike="noStrike">
                <a:solidFill>
                  <a:schemeClr val="dk1"/>
                </a:solidFill>
                <a:latin typeface="Inter"/>
                <a:ea typeface="Inter"/>
                <a:cs typeface="Inter"/>
                <a:sym typeface="Inter"/>
              </a:rPr>
              <a:t>, ensuring that the system's state transitions and memory limits are well-understood. Ready for hybrid PQC implementation.</a:t>
            </a:r>
            <a:endParaRPr b="0" i="0" sz="834"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960f894a74_1_104"/>
          <p:cNvSpPr/>
          <p:nvPr/>
        </p:nvSpPr>
        <p:spPr>
          <a:xfrm>
            <a:off x="628650" y="1452804"/>
            <a:ext cx="1075200" cy="241200"/>
          </a:xfrm>
          <a:prstGeom prst="rect">
            <a:avLst/>
          </a:prstGeom>
          <a:noFill/>
          <a:ln>
            <a:noFill/>
          </a:ln>
        </p:spPr>
        <p:txBody>
          <a:bodyPr anchorCtr="0" anchor="t" bIns="0" lIns="0" spcFirstLastPara="1" rIns="0" wrap="square" tIns="85075">
            <a:noAutofit/>
          </a:bodyPr>
          <a:lstStyle/>
          <a:p>
            <a:pPr indent="0" lvl="0" marL="0" marR="0" rtl="0" algn="l">
              <a:lnSpc>
                <a:spcPct val="127388"/>
              </a:lnSpc>
              <a:spcBef>
                <a:spcPts val="0"/>
              </a:spcBef>
              <a:spcAft>
                <a:spcPts val="0"/>
              </a:spcAft>
              <a:buClr>
                <a:srgbClr val="06B6D4"/>
              </a:buClr>
              <a:buSzPts val="942"/>
              <a:buFont typeface="Roboto Mono"/>
              <a:buNone/>
            </a:pPr>
            <a:r>
              <a:rPr b="0" i="0" lang="en-US" sz="942" u="none" cap="none" strike="noStrike">
                <a:solidFill>
                  <a:srgbClr val="06B6D4"/>
                </a:solidFill>
                <a:latin typeface="Roboto Mono"/>
                <a:ea typeface="Roboto Mono"/>
                <a:cs typeface="Roboto Mono"/>
                <a:sym typeface="Roboto Mono"/>
              </a:rPr>
              <a:t>[ VCI CLIENT ]</a:t>
            </a:r>
            <a:endParaRPr b="0" i="0" sz="942" u="none" cap="none" strike="noStrike">
              <a:solidFill>
                <a:schemeClr val="dk1"/>
              </a:solidFill>
              <a:latin typeface="Calibri"/>
              <a:ea typeface="Calibri"/>
              <a:cs typeface="Calibri"/>
              <a:sym typeface="Calibri"/>
            </a:endParaRPr>
          </a:p>
        </p:txBody>
      </p:sp>
      <p:sp>
        <p:nvSpPr>
          <p:cNvPr id="486" name="Google Shape;486;g3960f894a74_1_104"/>
          <p:cNvSpPr/>
          <p:nvPr/>
        </p:nvSpPr>
        <p:spPr>
          <a:xfrm>
            <a:off x="7554516" y="1452804"/>
            <a:ext cx="1075200" cy="241200"/>
          </a:xfrm>
          <a:prstGeom prst="rect">
            <a:avLst/>
          </a:prstGeom>
          <a:noFill/>
          <a:ln>
            <a:noFill/>
          </a:ln>
        </p:spPr>
        <p:txBody>
          <a:bodyPr anchorCtr="0" anchor="t" bIns="0" lIns="0" spcFirstLastPara="1" rIns="0" wrap="square" tIns="85075">
            <a:noAutofit/>
          </a:bodyPr>
          <a:lstStyle/>
          <a:p>
            <a:pPr indent="0" lvl="0" marL="0" marR="0" rtl="0" algn="l">
              <a:lnSpc>
                <a:spcPct val="127388"/>
              </a:lnSpc>
              <a:spcBef>
                <a:spcPts val="0"/>
              </a:spcBef>
              <a:spcAft>
                <a:spcPts val="0"/>
              </a:spcAft>
              <a:buClr>
                <a:srgbClr val="06B6D4"/>
              </a:buClr>
              <a:buSzPts val="942"/>
              <a:buFont typeface="Roboto Mono"/>
              <a:buNone/>
            </a:pPr>
            <a:r>
              <a:rPr b="0" i="0" lang="en-US" sz="942" u="none" cap="none" strike="noStrike">
                <a:solidFill>
                  <a:srgbClr val="06B6D4"/>
                </a:solidFill>
                <a:latin typeface="Roboto Mono"/>
                <a:ea typeface="Roboto Mono"/>
                <a:cs typeface="Roboto Mono"/>
                <a:sym typeface="Roboto Mono"/>
              </a:rPr>
              <a:t>[ ECU SERVER ]</a:t>
            </a:r>
            <a:endParaRPr b="0" i="0" sz="942" u="none" cap="none" strike="noStrike">
              <a:solidFill>
                <a:schemeClr val="dk1"/>
              </a:solidFill>
              <a:latin typeface="Calibri"/>
              <a:ea typeface="Calibri"/>
              <a:cs typeface="Calibri"/>
              <a:sym typeface="Calibri"/>
            </a:endParaRPr>
          </a:p>
        </p:txBody>
      </p:sp>
      <p:sp>
        <p:nvSpPr>
          <p:cNvPr id="487" name="Google Shape;487;g3960f894a74_1_104"/>
          <p:cNvSpPr/>
          <p:nvPr/>
        </p:nvSpPr>
        <p:spPr>
          <a:xfrm>
            <a:off x="628650" y="1986800"/>
            <a:ext cx="2143200" cy="423600"/>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2E8F0"/>
              </a:buClr>
              <a:buSzPts val="683"/>
              <a:buFont typeface="Roboto Mono"/>
              <a:buNone/>
            </a:pPr>
            <a:r>
              <a:rPr b="1" i="0" lang="en-US" sz="883" u="none" cap="none" strike="noStrike">
                <a:solidFill>
                  <a:schemeClr val="dk1"/>
                </a:solidFill>
                <a:latin typeface="Roboto Mono"/>
                <a:ea typeface="Roboto Mono"/>
                <a:cs typeface="Roboto Mono"/>
                <a:sym typeface="Roboto Mono"/>
              </a:rPr>
              <a:t>0x01: Initiation</a:t>
            </a:r>
            <a:br>
              <a:rPr b="0" i="0" lang="en-US" sz="927" u="none" cap="none" strike="noStrike">
                <a:solidFill>
                  <a:schemeClr val="dk1"/>
                </a:solidFill>
                <a:latin typeface="Inter"/>
                <a:ea typeface="Inter"/>
                <a:cs typeface="Inter"/>
                <a:sym typeface="Inter"/>
              </a:rPr>
            </a:br>
            <a:r>
              <a:rPr b="0" i="0" lang="en-US" sz="927" u="none" cap="none" strike="noStrike">
                <a:solidFill>
                  <a:schemeClr val="dk1"/>
                </a:solidFill>
                <a:latin typeface="Inter"/>
                <a:ea typeface="Inter"/>
                <a:cs typeface="Inter"/>
                <a:sym typeface="Inter"/>
              </a:rPr>
              <a:t>Sends cert_client (~588B) + challenge_client (32B)</a:t>
            </a:r>
            <a:endParaRPr b="0" i="0" sz="927" u="none" cap="none" strike="noStrike">
              <a:solidFill>
                <a:schemeClr val="dk1"/>
              </a:solidFill>
              <a:latin typeface="Calibri"/>
              <a:ea typeface="Calibri"/>
              <a:cs typeface="Calibri"/>
              <a:sym typeface="Calibri"/>
            </a:endParaRPr>
          </a:p>
        </p:txBody>
      </p:sp>
      <p:sp>
        <p:nvSpPr>
          <p:cNvPr id="488" name="Google Shape;488;g3960f894a74_1_104"/>
          <p:cNvSpPr/>
          <p:nvPr/>
        </p:nvSpPr>
        <p:spPr>
          <a:xfrm>
            <a:off x="2914650" y="2195001"/>
            <a:ext cx="3429000" cy="7200"/>
          </a:xfrm>
          <a:prstGeom prst="rect">
            <a:avLst/>
          </a:prstGeom>
          <a:solidFill>
            <a:srgbClr val="06B6D4">
              <a:alpha val="501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g3960f894a74_1_104"/>
          <p:cNvSpPr/>
          <p:nvPr/>
        </p:nvSpPr>
        <p:spPr>
          <a:xfrm>
            <a:off x="3771900" y="2016407"/>
            <a:ext cx="1714500" cy="225000"/>
          </a:xfrm>
          <a:prstGeom prst="rect">
            <a:avLst/>
          </a:prstGeom>
          <a:solidFill>
            <a:srgbClr val="0B1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3960f894a74_1_104"/>
          <p:cNvSpPr/>
          <p:nvPr/>
        </p:nvSpPr>
        <p:spPr>
          <a:xfrm>
            <a:off x="3343025" y="2016400"/>
            <a:ext cx="2572200" cy="283500"/>
          </a:xfrm>
          <a:prstGeom prst="rect">
            <a:avLst/>
          </a:prstGeom>
          <a:solidFill>
            <a:schemeClr val="lt1"/>
          </a:solidFill>
          <a:ln>
            <a:noFill/>
          </a:ln>
        </p:spPr>
        <p:txBody>
          <a:bodyPr anchorCtr="0" anchor="t" bIns="0" lIns="85075" spcFirstLastPara="1" rIns="8507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1121" u="none" cap="none" strike="noStrike">
                <a:solidFill>
                  <a:srgbClr val="38761D"/>
                </a:solidFill>
                <a:latin typeface="Roboto Mono"/>
                <a:ea typeface="Roboto Mono"/>
                <a:cs typeface="Roboto Mono"/>
                <a:sym typeface="Roboto Mono"/>
              </a:rPr>
              <a:t>Request: [29 01] </a:t>
            </a:r>
            <a:r>
              <a:rPr b="0" i="0" lang="en-US" sz="1121" u="none" cap="none" strike="noStrike">
                <a:solidFill>
                  <a:srgbClr val="38761D"/>
                </a:solidFill>
                <a:latin typeface="Roboto Mono"/>
                <a:ea typeface="Roboto Mono"/>
                <a:cs typeface="Roboto Mono"/>
                <a:sym typeface="Roboto Mono"/>
              </a:rPr>
              <a:t>+</a:t>
            </a:r>
            <a:r>
              <a:rPr b="0" i="0" lang="en-US" sz="1121" u="none" cap="none" strike="noStrike">
                <a:solidFill>
                  <a:srgbClr val="38761D"/>
                </a:solidFill>
                <a:latin typeface="Roboto Mono"/>
                <a:ea typeface="Roboto Mono"/>
                <a:cs typeface="Roboto Mono"/>
                <a:sym typeface="Roboto Mono"/>
              </a:rPr>
              <a:t> Cert + Challenge</a:t>
            </a:r>
            <a:endParaRPr b="0" i="0" sz="1121" u="none" cap="none" strike="noStrike">
              <a:solidFill>
                <a:srgbClr val="38761D"/>
              </a:solidFill>
              <a:latin typeface="Calibri"/>
              <a:ea typeface="Calibri"/>
              <a:cs typeface="Calibri"/>
              <a:sym typeface="Calibri"/>
            </a:endParaRPr>
          </a:p>
        </p:txBody>
      </p:sp>
      <p:sp>
        <p:nvSpPr>
          <p:cNvPr id="491" name="Google Shape;491;g3960f894a74_1_104"/>
          <p:cNvSpPr/>
          <p:nvPr/>
        </p:nvSpPr>
        <p:spPr>
          <a:xfrm>
            <a:off x="6486525" y="2056786"/>
            <a:ext cx="2143200" cy="283500"/>
          </a:xfrm>
          <a:prstGeom prst="rect">
            <a:avLst/>
          </a:prstGeom>
          <a:noFill/>
          <a:ln>
            <a:noFill/>
          </a:ln>
        </p:spPr>
        <p:txBody>
          <a:bodyPr anchorCtr="0" anchor="t" bIns="0" lIns="0" spcFirstLastPara="1" rIns="0" wrap="square" tIns="0">
            <a:noAutofit/>
          </a:bodyPr>
          <a:lstStyle/>
          <a:p>
            <a:pPr indent="0" lvl="0" marL="0" marR="0" rtl="0" algn="r">
              <a:lnSpc>
                <a:spcPct val="151306"/>
              </a:lnSpc>
              <a:spcBef>
                <a:spcPts val="0"/>
              </a:spcBef>
              <a:spcAft>
                <a:spcPts val="0"/>
              </a:spcAft>
              <a:buClr>
                <a:srgbClr val="E2E8F0"/>
              </a:buClr>
              <a:buSzPts val="683"/>
              <a:buFont typeface="Roboto Mono"/>
              <a:buNone/>
            </a:pPr>
            <a:r>
              <a:rPr b="1" i="0" lang="en-US" sz="883" u="none" cap="none" strike="noStrike">
                <a:solidFill>
                  <a:schemeClr val="dk1"/>
                </a:solidFill>
                <a:latin typeface="Roboto Mono"/>
                <a:ea typeface="Roboto Mono"/>
                <a:cs typeface="Roboto Mono"/>
                <a:sym typeface="Roboto Mono"/>
              </a:rPr>
              <a:t>Prerequisites</a:t>
            </a:r>
            <a:br>
              <a:rPr b="0" i="0" lang="en-US" sz="927" u="none" cap="none" strike="noStrike">
                <a:solidFill>
                  <a:schemeClr val="dk1"/>
                </a:solidFill>
                <a:latin typeface="Inter"/>
                <a:ea typeface="Inter"/>
                <a:cs typeface="Inter"/>
                <a:sym typeface="Inter"/>
              </a:rPr>
            </a:br>
            <a:r>
              <a:rPr b="0" i="0" lang="en-US" sz="927" u="none" cap="none" strike="noStrike">
                <a:solidFill>
                  <a:schemeClr val="dk1"/>
                </a:solidFill>
                <a:latin typeface="Inter"/>
                <a:ea typeface="Inter"/>
                <a:cs typeface="Inter"/>
                <a:sym typeface="Inter"/>
              </a:rPr>
              <a:t>ECU has cert_ca</a:t>
            </a:r>
            <a:endParaRPr b="0" i="0" sz="927" u="none" cap="none" strike="noStrike">
              <a:solidFill>
                <a:schemeClr val="dk1"/>
              </a:solidFill>
              <a:latin typeface="Calibri"/>
              <a:ea typeface="Calibri"/>
              <a:cs typeface="Calibri"/>
              <a:sym typeface="Calibri"/>
            </a:endParaRPr>
          </a:p>
        </p:txBody>
      </p:sp>
      <p:sp>
        <p:nvSpPr>
          <p:cNvPr id="492" name="Google Shape;492;g3960f894a74_1_104"/>
          <p:cNvSpPr/>
          <p:nvPr/>
        </p:nvSpPr>
        <p:spPr>
          <a:xfrm>
            <a:off x="628650" y="2801829"/>
            <a:ext cx="2143200" cy="283500"/>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2E8F0"/>
              </a:buClr>
              <a:buSzPts val="683"/>
              <a:buFont typeface="Roboto Mono"/>
              <a:buNone/>
            </a:pPr>
            <a:r>
              <a:rPr b="1" i="0" lang="en-US" sz="883" cap="none" strike="noStrike">
                <a:solidFill>
                  <a:schemeClr val="dk1"/>
                </a:solidFill>
                <a:latin typeface="Roboto Mono"/>
                <a:ea typeface="Roboto Mono"/>
                <a:cs typeface="Roboto Mono"/>
                <a:sym typeface="Roboto Mono"/>
              </a:rPr>
              <a:t>Processing</a:t>
            </a:r>
            <a:br>
              <a:rPr b="0" i="0" lang="en-US" sz="927" cap="none" strike="noStrike">
                <a:solidFill>
                  <a:schemeClr val="dk1"/>
                </a:solidFill>
                <a:latin typeface="Inter"/>
                <a:ea typeface="Inter"/>
                <a:cs typeface="Inter"/>
                <a:sym typeface="Inter"/>
              </a:rPr>
            </a:br>
            <a:r>
              <a:rPr b="0" i="0" lang="en-US" sz="927" cap="none" strike="noStrike">
                <a:solidFill>
                  <a:schemeClr val="dk1"/>
                </a:solidFill>
                <a:latin typeface="Inter"/>
                <a:ea typeface="Inter"/>
                <a:cs typeface="Inter"/>
                <a:sym typeface="Inter"/>
              </a:rPr>
              <a:t>Waiting for server challenge</a:t>
            </a:r>
            <a:endParaRPr b="0" i="0" sz="927" cap="none" strike="noStrike">
              <a:solidFill>
                <a:schemeClr val="dk1"/>
              </a:solidFill>
              <a:latin typeface="Calibri"/>
              <a:ea typeface="Calibri"/>
              <a:cs typeface="Calibri"/>
              <a:sym typeface="Calibri"/>
            </a:endParaRPr>
          </a:p>
        </p:txBody>
      </p:sp>
      <p:sp>
        <p:nvSpPr>
          <p:cNvPr id="493" name="Google Shape;493;g3960f894a74_1_104"/>
          <p:cNvSpPr/>
          <p:nvPr/>
        </p:nvSpPr>
        <p:spPr>
          <a:xfrm>
            <a:off x="2914650" y="2940044"/>
            <a:ext cx="3429000" cy="7200"/>
          </a:xfrm>
          <a:prstGeom prst="rect">
            <a:avLst/>
          </a:prstGeom>
          <a:solidFill>
            <a:srgbClr val="06B6D4">
              <a:alpha val="501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g3960f894a74_1_104"/>
          <p:cNvSpPr/>
          <p:nvPr/>
        </p:nvSpPr>
        <p:spPr>
          <a:xfrm>
            <a:off x="3771900" y="2761450"/>
            <a:ext cx="1714500" cy="225000"/>
          </a:xfrm>
          <a:prstGeom prst="rect">
            <a:avLst/>
          </a:prstGeom>
          <a:solidFill>
            <a:srgbClr val="0B1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960f894a74_1_104"/>
          <p:cNvSpPr/>
          <p:nvPr/>
        </p:nvSpPr>
        <p:spPr>
          <a:xfrm>
            <a:off x="3440750" y="2761450"/>
            <a:ext cx="2635500" cy="225000"/>
          </a:xfrm>
          <a:prstGeom prst="rect">
            <a:avLst/>
          </a:prstGeom>
          <a:solidFill>
            <a:schemeClr val="lt1"/>
          </a:solidFill>
          <a:ln>
            <a:noFill/>
          </a:ln>
        </p:spPr>
        <p:txBody>
          <a:bodyPr anchorCtr="0" anchor="t" bIns="0" lIns="85075" spcFirstLastPara="1" rIns="8507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1121" u="none" cap="none" strike="noStrike">
                <a:solidFill>
                  <a:srgbClr val="38761D"/>
                </a:solidFill>
                <a:latin typeface="Roboto Mono"/>
                <a:ea typeface="Roboto Mono"/>
                <a:cs typeface="Roboto Mono"/>
                <a:sym typeface="Roboto Mono"/>
              </a:rPr>
              <a:t>Response: [69 01] + Challenge_S + PubKey_S</a:t>
            </a:r>
            <a:endParaRPr b="0" i="0" sz="1121" u="none" cap="none" strike="noStrike">
              <a:solidFill>
                <a:srgbClr val="38761D"/>
              </a:solidFill>
              <a:latin typeface="Calibri"/>
              <a:ea typeface="Calibri"/>
              <a:cs typeface="Calibri"/>
              <a:sym typeface="Calibri"/>
            </a:endParaRPr>
          </a:p>
        </p:txBody>
      </p:sp>
      <p:sp>
        <p:nvSpPr>
          <p:cNvPr id="496" name="Google Shape;496;g3960f894a74_1_104"/>
          <p:cNvSpPr/>
          <p:nvPr/>
        </p:nvSpPr>
        <p:spPr>
          <a:xfrm>
            <a:off x="6486525" y="2731843"/>
            <a:ext cx="2143200" cy="423600"/>
          </a:xfrm>
          <a:prstGeom prst="rect">
            <a:avLst/>
          </a:prstGeom>
          <a:noFill/>
          <a:ln>
            <a:noFill/>
          </a:ln>
        </p:spPr>
        <p:txBody>
          <a:bodyPr anchorCtr="0" anchor="t" bIns="0" lIns="0" spcFirstLastPara="1" rIns="0" wrap="square" tIns="0">
            <a:noAutofit/>
          </a:bodyPr>
          <a:lstStyle/>
          <a:p>
            <a:pPr indent="0" lvl="0" marL="0" marR="0" rtl="0" algn="r">
              <a:lnSpc>
                <a:spcPct val="151306"/>
              </a:lnSpc>
              <a:spcBef>
                <a:spcPts val="0"/>
              </a:spcBef>
              <a:spcAft>
                <a:spcPts val="0"/>
              </a:spcAft>
              <a:buClr>
                <a:srgbClr val="E2E8F0"/>
              </a:buClr>
              <a:buSzPts val="683"/>
              <a:buFont typeface="Roboto Mono"/>
              <a:buNone/>
            </a:pPr>
            <a:r>
              <a:rPr b="1" i="0" lang="en-US" sz="883" u="none" cap="none" strike="noStrike">
                <a:solidFill>
                  <a:schemeClr val="dk1"/>
                </a:solidFill>
                <a:latin typeface="Roboto Mono"/>
                <a:ea typeface="Roboto Mono"/>
                <a:cs typeface="Roboto Mono"/>
                <a:sym typeface="Roboto Mono"/>
              </a:rPr>
              <a:t>Verification</a:t>
            </a:r>
            <a:br>
              <a:rPr b="0" i="0" lang="en-US" sz="927" u="none" cap="none" strike="noStrike">
                <a:solidFill>
                  <a:schemeClr val="dk1"/>
                </a:solidFill>
                <a:latin typeface="Inter"/>
                <a:ea typeface="Inter"/>
                <a:cs typeface="Inter"/>
                <a:sym typeface="Inter"/>
              </a:rPr>
            </a:br>
            <a:r>
              <a:rPr b="0" i="0" lang="en-US" sz="927" u="none" cap="none" strike="noStrike">
                <a:solidFill>
                  <a:schemeClr val="dk1"/>
                </a:solidFill>
                <a:latin typeface="Inter"/>
                <a:ea typeface="Inter"/>
                <a:cs typeface="Inter"/>
                <a:sym typeface="Inter"/>
              </a:rPr>
              <a:t>Validates cert_client &amp; generates challenge_server</a:t>
            </a:r>
            <a:endParaRPr b="0" i="0" sz="927" u="none" cap="none" strike="noStrike">
              <a:solidFill>
                <a:schemeClr val="dk1"/>
              </a:solidFill>
              <a:latin typeface="Calibri"/>
              <a:ea typeface="Calibri"/>
              <a:cs typeface="Calibri"/>
              <a:sym typeface="Calibri"/>
            </a:endParaRPr>
          </a:p>
        </p:txBody>
      </p:sp>
      <p:sp>
        <p:nvSpPr>
          <p:cNvPr id="497" name="Google Shape;497;g3960f894a74_1_104"/>
          <p:cNvSpPr/>
          <p:nvPr/>
        </p:nvSpPr>
        <p:spPr>
          <a:xfrm>
            <a:off x="628650" y="3476885"/>
            <a:ext cx="2143200" cy="283500"/>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2E8F0"/>
              </a:buClr>
              <a:buSzPts val="683"/>
              <a:buFont typeface="Roboto Mono"/>
              <a:buNone/>
            </a:pPr>
            <a:r>
              <a:rPr b="1" i="0" lang="en-US" sz="883" u="none" cap="none" strike="noStrike">
                <a:solidFill>
                  <a:schemeClr val="dk1"/>
                </a:solidFill>
                <a:latin typeface="Roboto Mono"/>
                <a:ea typeface="Roboto Mono"/>
                <a:cs typeface="Roboto Mono"/>
                <a:sym typeface="Roboto Mono"/>
              </a:rPr>
              <a:t>0x03: Proof</a:t>
            </a:r>
            <a:br>
              <a:rPr b="0" i="0" lang="en-US" sz="927" u="none" cap="none" strike="noStrike">
                <a:solidFill>
                  <a:schemeClr val="dk1"/>
                </a:solidFill>
                <a:latin typeface="Inter"/>
                <a:ea typeface="Inter"/>
                <a:cs typeface="Inter"/>
                <a:sym typeface="Inter"/>
              </a:rPr>
            </a:br>
            <a:r>
              <a:rPr b="0" i="0" lang="en-US" sz="927" u="none" cap="none" strike="noStrike">
                <a:solidFill>
                  <a:schemeClr val="dk1"/>
                </a:solidFill>
                <a:latin typeface="Inter"/>
                <a:ea typeface="Inter"/>
                <a:cs typeface="Inter"/>
                <a:sym typeface="Inter"/>
              </a:rPr>
              <a:t>Signs challenge_S &amp; sends PubKey_C</a:t>
            </a:r>
            <a:endParaRPr b="0" i="0" sz="927" u="none" cap="none" strike="noStrike">
              <a:solidFill>
                <a:schemeClr val="dk1"/>
              </a:solidFill>
              <a:latin typeface="Calibri"/>
              <a:ea typeface="Calibri"/>
              <a:cs typeface="Calibri"/>
              <a:sym typeface="Calibri"/>
            </a:endParaRPr>
          </a:p>
        </p:txBody>
      </p:sp>
      <p:sp>
        <p:nvSpPr>
          <p:cNvPr id="498" name="Google Shape;498;g3960f894a74_1_104"/>
          <p:cNvSpPr/>
          <p:nvPr/>
        </p:nvSpPr>
        <p:spPr>
          <a:xfrm>
            <a:off x="2914650" y="3615100"/>
            <a:ext cx="3429000" cy="7200"/>
          </a:xfrm>
          <a:prstGeom prst="rect">
            <a:avLst/>
          </a:prstGeom>
          <a:solidFill>
            <a:srgbClr val="06B6D4">
              <a:alpha val="501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g3960f894a74_1_104"/>
          <p:cNvSpPr/>
          <p:nvPr/>
        </p:nvSpPr>
        <p:spPr>
          <a:xfrm>
            <a:off x="3771900" y="3436507"/>
            <a:ext cx="1714500" cy="225000"/>
          </a:xfrm>
          <a:prstGeom prst="rect">
            <a:avLst/>
          </a:prstGeom>
          <a:solidFill>
            <a:srgbClr val="0B1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3960f894a74_1_104"/>
          <p:cNvSpPr/>
          <p:nvPr/>
        </p:nvSpPr>
        <p:spPr>
          <a:xfrm>
            <a:off x="3440750" y="3436500"/>
            <a:ext cx="2403300" cy="225000"/>
          </a:xfrm>
          <a:prstGeom prst="rect">
            <a:avLst/>
          </a:prstGeom>
          <a:solidFill>
            <a:schemeClr val="lt1"/>
          </a:solidFill>
          <a:ln>
            <a:noFill/>
          </a:ln>
        </p:spPr>
        <p:txBody>
          <a:bodyPr anchorCtr="0" anchor="t" bIns="0" lIns="85075" spcFirstLastPara="1" rIns="8507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1121" u="none" cap="none" strike="noStrike">
                <a:solidFill>
                  <a:srgbClr val="38761D"/>
                </a:solidFill>
                <a:latin typeface="Roboto Mono"/>
                <a:ea typeface="Roboto Mono"/>
                <a:cs typeface="Roboto Mono"/>
                <a:sym typeface="Roboto Mono"/>
              </a:rPr>
              <a:t>Request: [29 03] + Signature + PubKey_C</a:t>
            </a:r>
            <a:endParaRPr b="0" i="0" sz="1121" u="none" cap="none" strike="noStrike">
              <a:solidFill>
                <a:srgbClr val="38761D"/>
              </a:solidFill>
              <a:latin typeface="Calibri"/>
              <a:ea typeface="Calibri"/>
              <a:cs typeface="Calibri"/>
              <a:sym typeface="Calibri"/>
            </a:endParaRPr>
          </a:p>
        </p:txBody>
      </p:sp>
      <p:sp>
        <p:nvSpPr>
          <p:cNvPr id="501" name="Google Shape;501;g3960f894a74_1_104"/>
          <p:cNvSpPr/>
          <p:nvPr/>
        </p:nvSpPr>
        <p:spPr>
          <a:xfrm>
            <a:off x="6486525" y="3476885"/>
            <a:ext cx="2143200" cy="283500"/>
          </a:xfrm>
          <a:prstGeom prst="rect">
            <a:avLst/>
          </a:prstGeom>
          <a:noFill/>
          <a:ln>
            <a:noFill/>
          </a:ln>
        </p:spPr>
        <p:txBody>
          <a:bodyPr anchorCtr="0" anchor="t" bIns="0" lIns="0" spcFirstLastPara="1" rIns="0" wrap="square" tIns="0">
            <a:noAutofit/>
          </a:bodyPr>
          <a:lstStyle/>
          <a:p>
            <a:pPr indent="0" lvl="0" marL="0" marR="0" rtl="0" algn="r">
              <a:lnSpc>
                <a:spcPct val="151306"/>
              </a:lnSpc>
              <a:spcBef>
                <a:spcPts val="0"/>
              </a:spcBef>
              <a:spcAft>
                <a:spcPts val="0"/>
              </a:spcAft>
              <a:buClr>
                <a:srgbClr val="E2E8F0"/>
              </a:buClr>
              <a:buSzPts val="683"/>
              <a:buFont typeface="Roboto Mono"/>
              <a:buNone/>
            </a:pPr>
            <a:r>
              <a:rPr b="1" i="0" lang="en-US" sz="883" u="none" cap="none" strike="noStrike">
                <a:solidFill>
                  <a:schemeClr val="dk1"/>
                </a:solidFill>
                <a:latin typeface="Roboto Mono"/>
                <a:ea typeface="Roboto Mono"/>
                <a:cs typeface="Roboto Mono"/>
                <a:sym typeface="Roboto Mono"/>
              </a:rPr>
              <a:t>Derivation</a:t>
            </a:r>
            <a:br>
              <a:rPr b="0" i="0" lang="en-US" sz="927" u="none" cap="none" strike="noStrike">
                <a:solidFill>
                  <a:schemeClr val="dk1"/>
                </a:solidFill>
                <a:latin typeface="Inter"/>
                <a:ea typeface="Inter"/>
                <a:cs typeface="Inter"/>
                <a:sym typeface="Inter"/>
              </a:rPr>
            </a:br>
            <a:r>
              <a:rPr b="0" i="0" lang="en-US" sz="927" u="none" cap="none" strike="noStrike">
                <a:solidFill>
                  <a:schemeClr val="dk1"/>
                </a:solidFill>
                <a:latin typeface="Inter"/>
                <a:ea typeface="Inter"/>
                <a:cs typeface="Inter"/>
                <a:sym typeface="Inter"/>
              </a:rPr>
              <a:t>Generates ephemeral keypair</a:t>
            </a:r>
            <a:endParaRPr b="0" i="0" sz="927" u="none" cap="none" strike="noStrike">
              <a:solidFill>
                <a:schemeClr val="dk1"/>
              </a:solidFill>
              <a:latin typeface="Calibri"/>
              <a:ea typeface="Calibri"/>
              <a:cs typeface="Calibri"/>
              <a:sym typeface="Calibri"/>
            </a:endParaRPr>
          </a:p>
        </p:txBody>
      </p:sp>
      <p:sp>
        <p:nvSpPr>
          <p:cNvPr id="502" name="Google Shape;502;g3960f894a74_1_104"/>
          <p:cNvSpPr/>
          <p:nvPr/>
        </p:nvSpPr>
        <p:spPr>
          <a:xfrm>
            <a:off x="628650" y="4081928"/>
            <a:ext cx="2143200" cy="283500"/>
          </a:xfrm>
          <a:prstGeom prst="rect">
            <a:avLst/>
          </a:prstGeom>
          <a:noFill/>
          <a:ln>
            <a:noFill/>
          </a:ln>
        </p:spPr>
        <p:txBody>
          <a:bodyPr anchorCtr="0" anchor="t" bIns="0" lIns="0" spcFirstLastPara="1" rIns="0" wrap="square" tIns="0">
            <a:noAutofit/>
          </a:bodyPr>
          <a:lstStyle/>
          <a:p>
            <a:pPr indent="0" lvl="0" marL="0" marR="0" rtl="0" algn="l">
              <a:lnSpc>
                <a:spcPct val="151306"/>
              </a:lnSpc>
              <a:spcBef>
                <a:spcPts val="0"/>
              </a:spcBef>
              <a:spcAft>
                <a:spcPts val="0"/>
              </a:spcAft>
              <a:buClr>
                <a:srgbClr val="E2E8F0"/>
              </a:buClr>
              <a:buSzPts val="683"/>
              <a:buFont typeface="Roboto Mono"/>
              <a:buNone/>
            </a:pPr>
            <a:r>
              <a:rPr b="1" i="0" lang="en-US" sz="883" cap="none" strike="noStrike">
                <a:solidFill>
                  <a:schemeClr val="dk1"/>
                </a:solidFill>
                <a:latin typeface="Roboto Mono"/>
                <a:ea typeface="Roboto Mono"/>
                <a:cs typeface="Roboto Mono"/>
                <a:sym typeface="Roboto Mono"/>
              </a:rPr>
              <a:t>Finalization</a:t>
            </a:r>
            <a:br>
              <a:rPr b="0" i="0" lang="en-US" sz="927" cap="none" strike="noStrike">
                <a:solidFill>
                  <a:schemeClr val="dk1"/>
                </a:solidFill>
                <a:latin typeface="Inter"/>
                <a:ea typeface="Inter"/>
                <a:cs typeface="Inter"/>
                <a:sym typeface="Inter"/>
              </a:rPr>
            </a:br>
            <a:r>
              <a:rPr b="0" i="0" lang="en-US" sz="927" cap="none" strike="noStrike">
                <a:solidFill>
                  <a:schemeClr val="dk1"/>
                </a:solidFill>
                <a:latin typeface="Inter"/>
                <a:ea typeface="Inter"/>
                <a:cs typeface="Inter"/>
                <a:sym typeface="Inter"/>
              </a:rPr>
              <a:t>Derives session_key via HKDF</a:t>
            </a:r>
            <a:endParaRPr b="0" i="0" sz="927" cap="none" strike="noStrike">
              <a:solidFill>
                <a:schemeClr val="dk1"/>
              </a:solidFill>
              <a:latin typeface="Calibri"/>
              <a:ea typeface="Calibri"/>
              <a:cs typeface="Calibri"/>
              <a:sym typeface="Calibri"/>
            </a:endParaRPr>
          </a:p>
        </p:txBody>
      </p:sp>
      <p:sp>
        <p:nvSpPr>
          <p:cNvPr id="503" name="Google Shape;503;g3960f894a74_1_104"/>
          <p:cNvSpPr/>
          <p:nvPr/>
        </p:nvSpPr>
        <p:spPr>
          <a:xfrm>
            <a:off x="2914650" y="4220142"/>
            <a:ext cx="3429000" cy="7200"/>
          </a:xfrm>
          <a:prstGeom prst="rect">
            <a:avLst/>
          </a:prstGeom>
          <a:solidFill>
            <a:srgbClr val="06B6D4">
              <a:alpha val="501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3960f894a74_1_104"/>
          <p:cNvSpPr/>
          <p:nvPr/>
        </p:nvSpPr>
        <p:spPr>
          <a:xfrm>
            <a:off x="3858518" y="4041549"/>
            <a:ext cx="1541400" cy="112500"/>
          </a:xfrm>
          <a:prstGeom prst="rect">
            <a:avLst/>
          </a:prstGeom>
          <a:solidFill>
            <a:srgbClr val="0B11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3960f894a74_1_104"/>
          <p:cNvSpPr/>
          <p:nvPr/>
        </p:nvSpPr>
        <p:spPr>
          <a:xfrm>
            <a:off x="3440750" y="4041550"/>
            <a:ext cx="2753100" cy="114300"/>
          </a:xfrm>
          <a:prstGeom prst="rect">
            <a:avLst/>
          </a:prstGeom>
          <a:solidFill>
            <a:schemeClr val="lt1"/>
          </a:solidFill>
          <a:ln>
            <a:noFill/>
          </a:ln>
        </p:spPr>
        <p:txBody>
          <a:bodyPr anchorCtr="0" anchor="t" bIns="0" lIns="85075" spcFirstLastPara="1" rIns="85075" wrap="square" tIns="0">
            <a:noAutofit/>
          </a:bodyPr>
          <a:lstStyle/>
          <a:p>
            <a:pPr indent="0" lvl="0" marL="0" marR="0" rtl="0" algn="l">
              <a:lnSpc>
                <a:spcPct val="128824"/>
              </a:lnSpc>
              <a:spcBef>
                <a:spcPts val="0"/>
              </a:spcBef>
              <a:spcAft>
                <a:spcPts val="0"/>
              </a:spcAft>
              <a:buClr>
                <a:srgbClr val="06B6D4"/>
              </a:buClr>
              <a:buSzPts val="621"/>
              <a:buFont typeface="Roboto Mono"/>
              <a:buNone/>
            </a:pPr>
            <a:r>
              <a:rPr b="0" i="0" lang="en-US" sz="1121" u="none" cap="none" strike="noStrike">
                <a:solidFill>
                  <a:srgbClr val="38761D"/>
                </a:solidFill>
                <a:latin typeface="Roboto Mono"/>
                <a:ea typeface="Roboto Mono"/>
                <a:cs typeface="Roboto Mono"/>
                <a:sym typeface="Roboto Mono"/>
              </a:rPr>
              <a:t>Response: [69 03] + Success</a:t>
            </a:r>
            <a:endParaRPr b="0" i="0" sz="1121" u="none" cap="none" strike="noStrike">
              <a:solidFill>
                <a:srgbClr val="38761D"/>
              </a:solidFill>
              <a:latin typeface="Calibri"/>
              <a:ea typeface="Calibri"/>
              <a:cs typeface="Calibri"/>
              <a:sym typeface="Calibri"/>
            </a:endParaRPr>
          </a:p>
        </p:txBody>
      </p:sp>
      <p:sp>
        <p:nvSpPr>
          <p:cNvPr id="506" name="Google Shape;506;g3960f894a74_1_104"/>
          <p:cNvSpPr/>
          <p:nvPr/>
        </p:nvSpPr>
        <p:spPr>
          <a:xfrm>
            <a:off x="6125175" y="4081925"/>
            <a:ext cx="2504400" cy="283500"/>
          </a:xfrm>
          <a:prstGeom prst="rect">
            <a:avLst/>
          </a:prstGeom>
          <a:noFill/>
          <a:ln>
            <a:noFill/>
          </a:ln>
        </p:spPr>
        <p:txBody>
          <a:bodyPr anchorCtr="0" anchor="t" bIns="0" lIns="0" spcFirstLastPara="1" rIns="0" wrap="square" tIns="0">
            <a:noAutofit/>
          </a:bodyPr>
          <a:lstStyle/>
          <a:p>
            <a:pPr indent="0" lvl="0" marL="0" marR="0" rtl="0" algn="r">
              <a:lnSpc>
                <a:spcPct val="151306"/>
              </a:lnSpc>
              <a:spcBef>
                <a:spcPts val="0"/>
              </a:spcBef>
              <a:spcAft>
                <a:spcPts val="0"/>
              </a:spcAft>
              <a:buClr>
                <a:srgbClr val="E2E8F0"/>
              </a:buClr>
              <a:buSzPts val="683"/>
              <a:buFont typeface="Roboto Mono"/>
              <a:buNone/>
            </a:pPr>
            <a:r>
              <a:rPr b="1" i="0" lang="en-US" sz="883" u="none" cap="none" strike="noStrike">
                <a:solidFill>
                  <a:schemeClr val="dk1"/>
                </a:solidFill>
                <a:latin typeface="Roboto Mono"/>
                <a:ea typeface="Roboto Mono"/>
                <a:cs typeface="Roboto Mono"/>
                <a:sym typeface="Roboto Mono"/>
              </a:rPr>
              <a:t>Access Granted</a:t>
            </a:r>
            <a:br>
              <a:rPr b="0" i="0" lang="en-US" sz="927" u="none" cap="none" strike="noStrike">
                <a:solidFill>
                  <a:schemeClr val="dk1"/>
                </a:solidFill>
                <a:latin typeface="Inter"/>
                <a:ea typeface="Inter"/>
                <a:cs typeface="Inter"/>
                <a:sym typeface="Inter"/>
              </a:rPr>
            </a:br>
            <a:r>
              <a:rPr b="0" i="0" lang="en-US" sz="927" u="none" cap="none" strike="noStrike">
                <a:solidFill>
                  <a:schemeClr val="dk1"/>
                </a:solidFill>
                <a:latin typeface="Inter"/>
                <a:ea typeface="Inter"/>
                <a:cs typeface="Inter"/>
                <a:sym typeface="Inter"/>
              </a:rPr>
              <a:t>Verifies signature &amp; derives session_key</a:t>
            </a:r>
            <a:endParaRPr b="0" i="0" sz="927" u="none" cap="none" strike="noStrike">
              <a:solidFill>
                <a:schemeClr val="dk1"/>
              </a:solidFill>
              <a:latin typeface="Calibri"/>
              <a:ea typeface="Calibri"/>
              <a:cs typeface="Calibri"/>
              <a:sym typeface="Calibri"/>
            </a:endParaRPr>
          </a:p>
        </p:txBody>
      </p:sp>
      <p:pic>
        <p:nvPicPr>
          <p:cNvPr descr="preencoded.png" id="507" name="Google Shape;507;g3960f894a74_1_104"/>
          <p:cNvPicPr preferRelativeResize="0"/>
          <p:nvPr/>
        </p:nvPicPr>
        <p:blipFill rotWithShape="1">
          <a:blip r:embed="rId3">
            <a:alphaModFix/>
          </a:blip>
          <a:srcRect b="0" l="0" r="0" t="0"/>
          <a:stretch/>
        </p:blipFill>
        <p:spPr>
          <a:xfrm>
            <a:off x="1796653" y="4856634"/>
            <a:ext cx="100013" cy="114300"/>
          </a:xfrm>
          <a:prstGeom prst="rect">
            <a:avLst/>
          </a:prstGeom>
          <a:noFill/>
          <a:ln>
            <a:noFill/>
          </a:ln>
        </p:spPr>
      </p:pic>
      <p:sp>
        <p:nvSpPr>
          <p:cNvPr id="508" name="Google Shape;508;g3960f894a74_1_104"/>
          <p:cNvSpPr/>
          <p:nvPr/>
        </p:nvSpPr>
        <p:spPr>
          <a:xfrm>
            <a:off x="1896666" y="4836988"/>
            <a:ext cx="5565000" cy="150000"/>
          </a:xfrm>
          <a:prstGeom prst="rect">
            <a:avLst/>
          </a:prstGeom>
          <a:noFill/>
          <a:ln>
            <a:noFill/>
          </a:ln>
        </p:spPr>
        <p:txBody>
          <a:bodyPr anchorCtr="0" anchor="t" bIns="0" lIns="0" spcFirstLastPara="1" rIns="0" wrap="square" tIns="0">
            <a:noAutofit/>
          </a:bodyPr>
          <a:lstStyle/>
          <a:p>
            <a:pPr indent="0" lvl="0" marL="0" marR="0" rtl="0" algn="ctr">
              <a:lnSpc>
                <a:spcPct val="131894"/>
              </a:lnSpc>
              <a:spcBef>
                <a:spcPts val="0"/>
              </a:spcBef>
              <a:spcAft>
                <a:spcPts val="0"/>
              </a:spcAft>
              <a:buClr>
                <a:srgbClr val="06B6D4"/>
              </a:buClr>
              <a:buSzPts val="834"/>
              <a:buFont typeface="Roboto Mono"/>
              <a:buNone/>
            </a:pPr>
            <a:r>
              <a:rPr b="0" i="0" lang="en-US" sz="834" u="none" cap="none" strike="noStrike">
                <a:solidFill>
                  <a:srgbClr val="38761D"/>
                </a:solidFill>
                <a:latin typeface="Roboto Mono"/>
                <a:ea typeface="Roboto Mono"/>
                <a:cs typeface="Roboto Mono"/>
                <a:sym typeface="Roboto Mono"/>
              </a:rPr>
              <a:t>AUTHENTICATED SESSION ESTABLISHED: Subsequent messages encrypted with AES-256-GCM</a:t>
            </a:r>
            <a:endParaRPr b="0" i="0" sz="834" u="none" cap="none" strike="noStrike">
              <a:solidFill>
                <a:srgbClr val="38761D"/>
              </a:solidFill>
              <a:latin typeface="Calibri"/>
              <a:ea typeface="Calibri"/>
              <a:cs typeface="Calibri"/>
              <a:sym typeface="Calibri"/>
            </a:endParaRPr>
          </a:p>
        </p:txBody>
      </p:sp>
      <p:sp>
        <p:nvSpPr>
          <p:cNvPr id="509" name="Google Shape;509;g3960f894a74_1_104"/>
          <p:cNvSpPr/>
          <p:nvPr/>
        </p:nvSpPr>
        <p:spPr>
          <a:xfrm>
            <a:off x="628650" y="675503"/>
            <a:ext cx="8001000" cy="301800"/>
          </a:xfrm>
          <a:prstGeom prst="rect">
            <a:avLst/>
          </a:prstGeom>
          <a:noFill/>
          <a:ln>
            <a:noFill/>
          </a:ln>
        </p:spPr>
        <p:txBody>
          <a:bodyPr anchorCtr="0" anchor="t" bIns="0" lIns="170050" spcFirstLastPara="1" rIns="0" wrap="square" tIns="0">
            <a:noAutofit/>
          </a:bodyPr>
          <a:lstStyle/>
          <a:p>
            <a:pPr indent="0" lvl="0" marL="0" marR="0" rtl="0" algn="l">
              <a:lnSpc>
                <a:spcPct val="137328"/>
              </a:lnSpc>
              <a:spcBef>
                <a:spcPts val="0"/>
              </a:spcBef>
              <a:spcAft>
                <a:spcPts val="0"/>
              </a:spcAft>
              <a:buClr>
                <a:srgbClr val="E2E8F0"/>
              </a:buClr>
              <a:buSzPts val="1602"/>
              <a:buFont typeface="Roboto Mono"/>
              <a:buNone/>
            </a:pPr>
            <a:r>
              <a:rPr b="1" lang="en-US" sz="1602">
                <a:solidFill>
                  <a:srgbClr val="4D5259"/>
                </a:solidFill>
                <a:latin typeface="Calibri"/>
                <a:ea typeface="Calibri"/>
                <a:cs typeface="Calibri"/>
                <a:sym typeface="Calibri"/>
              </a:rPr>
              <a:t>UDS 0X29 AUTHENTICATION FLOW: ISO 14229-1:2020 PKI</a:t>
            </a:r>
            <a:endParaRPr b="0" i="0" sz="1602" u="none" cap="none" strike="noStrik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4" name="Shape 514"/>
        <p:cNvGrpSpPr/>
        <p:nvPr/>
      </p:nvGrpSpPr>
      <p:grpSpPr>
        <a:xfrm>
          <a:off x="0" y="0"/>
          <a:ext cx="0" cy="0"/>
          <a:chOff x="0" y="0"/>
          <a:chExt cx="0" cy="0"/>
        </a:xfrm>
      </p:grpSpPr>
      <p:pic>
        <p:nvPicPr>
          <p:cNvPr descr="preencoded.png" id="515" name="Google Shape;515;p1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16" name="Google Shape;516;p12"/>
          <p:cNvSpPr/>
          <p:nvPr/>
        </p:nvSpPr>
        <p:spPr>
          <a:xfrm>
            <a:off x="821531" y="438894"/>
            <a:ext cx="5880283"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Next Phase: Algorithm Theory &amp; Optimization</a:t>
            </a:r>
            <a:endParaRPr b="0" i="0" sz="1602" u="none" cap="none" strike="noStrike">
              <a:solidFill>
                <a:schemeClr val="dk1"/>
              </a:solidFill>
              <a:latin typeface="Calibri"/>
              <a:ea typeface="Calibri"/>
              <a:cs typeface="Calibri"/>
              <a:sym typeface="Calibri"/>
            </a:endParaRPr>
          </a:p>
        </p:txBody>
      </p:sp>
      <p:sp>
        <p:nvSpPr>
          <p:cNvPr id="517" name="Google Shape;517;p12"/>
          <p:cNvSpPr/>
          <p:nvPr/>
        </p:nvSpPr>
        <p:spPr>
          <a:xfrm>
            <a:off x="428625" y="1004590"/>
            <a:ext cx="725621" cy="173236"/>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2"/>
          <p:cNvSpPr/>
          <p:nvPr/>
        </p:nvSpPr>
        <p:spPr>
          <a:xfrm>
            <a:off x="428625" y="1004590"/>
            <a:ext cx="725621" cy="173236"/>
          </a:xfrm>
          <a:prstGeom prst="rect">
            <a:avLst/>
          </a:prstGeom>
          <a:noFill/>
          <a:ln>
            <a:noFill/>
          </a:ln>
        </p:spPr>
        <p:txBody>
          <a:bodyPr anchorCtr="0" anchor="t" bIns="34025" lIns="68050" spcFirstLastPara="1" rIns="68050" wrap="square" tIns="34025">
            <a:spAutoFit/>
          </a:bodyPr>
          <a:lstStyle/>
          <a:p>
            <a:pPr indent="0" lvl="0" marL="0" marR="0" rtl="0" algn="l">
              <a:lnSpc>
                <a:spcPct val="136986"/>
              </a:lnSpc>
              <a:spcBef>
                <a:spcPts val="0"/>
              </a:spcBef>
              <a:spcAft>
                <a:spcPts val="0"/>
              </a:spcAft>
              <a:buClr>
                <a:srgbClr val="FFFFFF"/>
              </a:buClr>
              <a:buSzPts val="584"/>
              <a:buFont typeface="Calibri"/>
              <a:buNone/>
            </a:pPr>
            <a:r>
              <a:rPr b="1" i="0" lang="en-US" sz="584" u="none" cap="none" strike="noStrike">
                <a:solidFill>
                  <a:srgbClr val="FFFFFF"/>
                </a:solidFill>
                <a:latin typeface="Calibri"/>
                <a:ea typeface="Calibri"/>
                <a:cs typeface="Calibri"/>
                <a:sym typeface="Calibri"/>
              </a:rPr>
              <a:t>YOU ARE HERE</a:t>
            </a:r>
            <a:endParaRPr b="0" i="0" sz="584" u="none" cap="none" strike="noStrike">
              <a:solidFill>
                <a:schemeClr val="dk1"/>
              </a:solidFill>
              <a:latin typeface="Calibri"/>
              <a:ea typeface="Calibri"/>
              <a:cs typeface="Calibri"/>
              <a:sym typeface="Calibri"/>
            </a:endParaRPr>
          </a:p>
        </p:txBody>
      </p:sp>
      <p:sp>
        <p:nvSpPr>
          <p:cNvPr id="519" name="Google Shape;519;p12"/>
          <p:cNvSpPr/>
          <p:nvPr/>
        </p:nvSpPr>
        <p:spPr>
          <a:xfrm>
            <a:off x="428625" y="1218902"/>
            <a:ext cx="1928813" cy="242888"/>
          </a:xfrm>
          <a:prstGeom prst="rect">
            <a:avLst/>
          </a:prstGeom>
          <a:noFill/>
          <a:ln>
            <a:noFill/>
          </a:ln>
        </p:spPr>
        <p:txBody>
          <a:bodyPr anchorCtr="0" anchor="t" bIns="0" lIns="0" spcFirstLastPara="1" rIns="0" wrap="square" tIns="127500">
            <a:spAutoFit/>
          </a:bodyPr>
          <a:lstStyle/>
          <a:p>
            <a:pPr indent="0" lvl="0" marL="0" marR="0" rtl="0" algn="l">
              <a:lnSpc>
                <a:spcPct val="131771"/>
              </a:lnSpc>
              <a:spcBef>
                <a:spcPts val="0"/>
              </a:spcBef>
              <a:spcAft>
                <a:spcPts val="0"/>
              </a:spcAft>
              <a:buClr>
                <a:srgbClr val="00A651"/>
              </a:buClr>
              <a:buSzPts val="683"/>
              <a:buFont typeface="Calibri"/>
              <a:buNone/>
            </a:pPr>
            <a:r>
              <a:rPr b="1" i="0" lang="en-US" sz="683" u="none" cap="none" strike="noStrike">
                <a:solidFill>
                  <a:srgbClr val="00A651"/>
                </a:solidFill>
                <a:latin typeface="Calibri"/>
                <a:ea typeface="Calibri"/>
                <a:cs typeface="Calibri"/>
                <a:sym typeface="Calibri"/>
              </a:rPr>
              <a:t>Week 1</a:t>
            </a:r>
            <a:endParaRPr b="0" i="0" sz="683" u="none" cap="none" strike="noStrike">
              <a:solidFill>
                <a:schemeClr val="dk1"/>
              </a:solidFill>
              <a:latin typeface="Calibri"/>
              <a:ea typeface="Calibri"/>
              <a:cs typeface="Calibri"/>
              <a:sym typeface="Calibri"/>
            </a:endParaRPr>
          </a:p>
        </p:txBody>
      </p:sp>
      <p:sp>
        <p:nvSpPr>
          <p:cNvPr id="520" name="Google Shape;520;p12"/>
          <p:cNvSpPr/>
          <p:nvPr/>
        </p:nvSpPr>
        <p:spPr>
          <a:xfrm>
            <a:off x="428625" y="1533227"/>
            <a:ext cx="1928813" cy="350044"/>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ML-KEM (Kyber) Theory &amp; Optimization</a:t>
            </a:r>
            <a:endParaRPr b="0" i="0" sz="885" u="none" cap="none" strike="noStrike">
              <a:solidFill>
                <a:schemeClr val="dk1"/>
              </a:solidFill>
              <a:latin typeface="Calibri"/>
              <a:ea typeface="Calibri"/>
              <a:cs typeface="Calibri"/>
              <a:sym typeface="Calibri"/>
            </a:endParaRPr>
          </a:p>
        </p:txBody>
      </p:sp>
      <p:pic>
        <p:nvPicPr>
          <p:cNvPr descr="preencoded.png" id="521" name="Google Shape;521;p12"/>
          <p:cNvPicPr preferRelativeResize="0"/>
          <p:nvPr/>
        </p:nvPicPr>
        <p:blipFill rotWithShape="1">
          <a:blip r:embed="rId4">
            <a:alphaModFix/>
          </a:blip>
          <a:srcRect b="0" l="0" r="0" t="0"/>
          <a:stretch/>
        </p:blipFill>
        <p:spPr>
          <a:xfrm>
            <a:off x="428625" y="2026146"/>
            <a:ext cx="44648" cy="280002"/>
          </a:xfrm>
          <a:prstGeom prst="rect">
            <a:avLst/>
          </a:prstGeom>
          <a:noFill/>
          <a:ln>
            <a:noFill/>
          </a:ln>
        </p:spPr>
      </p:pic>
      <p:sp>
        <p:nvSpPr>
          <p:cNvPr id="522" name="Google Shape;522;p12"/>
          <p:cNvSpPr/>
          <p:nvPr/>
        </p:nvSpPr>
        <p:spPr>
          <a:xfrm>
            <a:off x="544711" y="2026146"/>
            <a:ext cx="1812727" cy="28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Polynomial ring mathematics: R_q = Z_q[X]/(X^256 + 1)</a:t>
            </a:r>
            <a:endParaRPr b="0" i="0" sz="727" u="none" cap="none" strike="noStrike">
              <a:solidFill>
                <a:schemeClr val="dk1"/>
              </a:solidFill>
              <a:latin typeface="Calibri"/>
              <a:ea typeface="Calibri"/>
              <a:cs typeface="Calibri"/>
              <a:sym typeface="Calibri"/>
            </a:endParaRPr>
          </a:p>
        </p:txBody>
      </p:sp>
      <p:pic>
        <p:nvPicPr>
          <p:cNvPr descr="preencoded.png" id="523" name="Google Shape;523;p12"/>
          <p:cNvPicPr preferRelativeResize="0"/>
          <p:nvPr/>
        </p:nvPicPr>
        <p:blipFill rotWithShape="1">
          <a:blip r:embed="rId5">
            <a:alphaModFix/>
          </a:blip>
          <a:srcRect b="0" l="0" r="0" t="0"/>
          <a:stretch/>
        </p:blipFill>
        <p:spPr>
          <a:xfrm>
            <a:off x="428625" y="2349010"/>
            <a:ext cx="44648" cy="280002"/>
          </a:xfrm>
          <a:prstGeom prst="rect">
            <a:avLst/>
          </a:prstGeom>
          <a:noFill/>
          <a:ln>
            <a:noFill/>
          </a:ln>
        </p:spPr>
      </p:pic>
      <p:sp>
        <p:nvSpPr>
          <p:cNvPr id="524" name="Google Shape;524;p12"/>
          <p:cNvSpPr/>
          <p:nvPr/>
        </p:nvSpPr>
        <p:spPr>
          <a:xfrm>
            <a:off x="544711" y="2349010"/>
            <a:ext cx="1812727" cy="28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Number Theoretic Transform (NTT) optimization</a:t>
            </a:r>
            <a:endParaRPr b="0" i="0" sz="727" u="none" cap="none" strike="noStrike">
              <a:solidFill>
                <a:schemeClr val="dk1"/>
              </a:solidFill>
              <a:latin typeface="Calibri"/>
              <a:ea typeface="Calibri"/>
              <a:cs typeface="Calibri"/>
              <a:sym typeface="Calibri"/>
            </a:endParaRPr>
          </a:p>
        </p:txBody>
      </p:sp>
      <p:pic>
        <p:nvPicPr>
          <p:cNvPr descr="preencoded.png" id="525" name="Google Shape;525;p12"/>
          <p:cNvPicPr preferRelativeResize="0"/>
          <p:nvPr/>
        </p:nvPicPr>
        <p:blipFill rotWithShape="1">
          <a:blip r:embed="rId6">
            <a:alphaModFix/>
          </a:blip>
          <a:srcRect b="0" l="0" r="0" t="0"/>
          <a:stretch/>
        </p:blipFill>
        <p:spPr>
          <a:xfrm>
            <a:off x="428625" y="2671874"/>
            <a:ext cx="44648" cy="280002"/>
          </a:xfrm>
          <a:prstGeom prst="rect">
            <a:avLst/>
          </a:prstGeom>
          <a:noFill/>
          <a:ln>
            <a:noFill/>
          </a:ln>
        </p:spPr>
      </p:pic>
      <p:sp>
        <p:nvSpPr>
          <p:cNvPr id="526" name="Google Shape;526;p12"/>
          <p:cNvSpPr/>
          <p:nvPr/>
        </p:nvSpPr>
        <p:spPr>
          <a:xfrm>
            <a:off x="544711" y="2671874"/>
            <a:ext cx="1812727" cy="28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ITCM/DTCM memory placement for speedup</a:t>
            </a:r>
            <a:endParaRPr b="0" i="0" sz="727" u="none" cap="none" strike="noStrike">
              <a:solidFill>
                <a:schemeClr val="dk1"/>
              </a:solidFill>
              <a:latin typeface="Calibri"/>
              <a:ea typeface="Calibri"/>
              <a:cs typeface="Calibri"/>
              <a:sym typeface="Calibri"/>
            </a:endParaRPr>
          </a:p>
        </p:txBody>
      </p:sp>
      <p:sp>
        <p:nvSpPr>
          <p:cNvPr id="527" name="Google Shape;527;p12"/>
          <p:cNvSpPr/>
          <p:nvPr/>
        </p:nvSpPr>
        <p:spPr>
          <a:xfrm>
            <a:off x="2547919" y="1218902"/>
            <a:ext cx="1928813" cy="242888"/>
          </a:xfrm>
          <a:prstGeom prst="rect">
            <a:avLst/>
          </a:prstGeom>
          <a:noFill/>
          <a:ln>
            <a:noFill/>
          </a:ln>
        </p:spPr>
        <p:txBody>
          <a:bodyPr anchorCtr="0" anchor="t" bIns="0" lIns="0" spcFirstLastPara="1" rIns="0" wrap="square" tIns="127500">
            <a:spAutoFit/>
          </a:bodyPr>
          <a:lstStyle/>
          <a:p>
            <a:pPr indent="0" lvl="0" marL="0" marR="0" rtl="0" algn="l">
              <a:lnSpc>
                <a:spcPct val="131771"/>
              </a:lnSpc>
              <a:spcBef>
                <a:spcPts val="0"/>
              </a:spcBef>
              <a:spcAft>
                <a:spcPts val="0"/>
              </a:spcAft>
              <a:buClr>
                <a:srgbClr val="00A651"/>
              </a:buClr>
              <a:buSzPts val="683"/>
              <a:buFont typeface="Calibri"/>
              <a:buNone/>
            </a:pPr>
            <a:r>
              <a:rPr b="1" i="0" lang="en-US" sz="683" u="none" cap="none" strike="noStrike">
                <a:solidFill>
                  <a:srgbClr val="00A651"/>
                </a:solidFill>
                <a:latin typeface="Calibri"/>
                <a:ea typeface="Calibri"/>
                <a:cs typeface="Calibri"/>
                <a:sym typeface="Calibri"/>
              </a:rPr>
              <a:t>Week 2</a:t>
            </a:r>
            <a:endParaRPr b="0" i="0" sz="683" u="none" cap="none" strike="noStrike">
              <a:solidFill>
                <a:schemeClr val="dk1"/>
              </a:solidFill>
              <a:latin typeface="Calibri"/>
              <a:ea typeface="Calibri"/>
              <a:cs typeface="Calibri"/>
              <a:sym typeface="Calibri"/>
            </a:endParaRPr>
          </a:p>
        </p:txBody>
      </p:sp>
      <p:sp>
        <p:nvSpPr>
          <p:cNvPr id="528" name="Google Shape;528;p12"/>
          <p:cNvSpPr/>
          <p:nvPr/>
        </p:nvSpPr>
        <p:spPr>
          <a:xfrm>
            <a:off x="2547919" y="1533227"/>
            <a:ext cx="1928813" cy="350044"/>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ML-DSA &amp; Falcon Theory &amp; Benchmarking</a:t>
            </a:r>
            <a:endParaRPr b="0" i="0" sz="885" u="none" cap="none" strike="noStrike">
              <a:solidFill>
                <a:schemeClr val="dk1"/>
              </a:solidFill>
              <a:latin typeface="Calibri"/>
              <a:ea typeface="Calibri"/>
              <a:cs typeface="Calibri"/>
              <a:sym typeface="Calibri"/>
            </a:endParaRPr>
          </a:p>
        </p:txBody>
      </p:sp>
      <p:pic>
        <p:nvPicPr>
          <p:cNvPr descr="preencoded.png" id="529" name="Google Shape;529;p12"/>
          <p:cNvPicPr preferRelativeResize="0"/>
          <p:nvPr/>
        </p:nvPicPr>
        <p:blipFill rotWithShape="1">
          <a:blip r:embed="rId7">
            <a:alphaModFix/>
          </a:blip>
          <a:srcRect b="0" l="0" r="0" t="0"/>
          <a:stretch/>
        </p:blipFill>
        <p:spPr>
          <a:xfrm>
            <a:off x="2547919" y="2026146"/>
            <a:ext cx="44648" cy="280002"/>
          </a:xfrm>
          <a:prstGeom prst="rect">
            <a:avLst/>
          </a:prstGeom>
          <a:noFill/>
          <a:ln>
            <a:noFill/>
          </a:ln>
        </p:spPr>
      </p:pic>
      <p:sp>
        <p:nvSpPr>
          <p:cNvPr id="530" name="Google Shape;530;p12"/>
          <p:cNvSpPr/>
          <p:nvPr/>
        </p:nvSpPr>
        <p:spPr>
          <a:xfrm>
            <a:off x="2664005" y="2026146"/>
            <a:ext cx="1812727" cy="28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Module-LWE signatures vs NTRU lattices</a:t>
            </a:r>
            <a:endParaRPr b="0" i="0" sz="727" u="none" cap="none" strike="noStrike">
              <a:solidFill>
                <a:schemeClr val="dk1"/>
              </a:solidFill>
              <a:latin typeface="Calibri"/>
              <a:ea typeface="Calibri"/>
              <a:cs typeface="Calibri"/>
              <a:sym typeface="Calibri"/>
            </a:endParaRPr>
          </a:p>
        </p:txBody>
      </p:sp>
      <p:pic>
        <p:nvPicPr>
          <p:cNvPr descr="preencoded.png" id="531" name="Google Shape;531;p12"/>
          <p:cNvPicPr preferRelativeResize="0"/>
          <p:nvPr/>
        </p:nvPicPr>
        <p:blipFill rotWithShape="1">
          <a:blip r:embed="rId8">
            <a:alphaModFix/>
          </a:blip>
          <a:srcRect b="0" l="0" r="0" t="0"/>
          <a:stretch/>
        </p:blipFill>
        <p:spPr>
          <a:xfrm>
            <a:off x="2547919" y="2349010"/>
            <a:ext cx="44648" cy="280002"/>
          </a:xfrm>
          <a:prstGeom prst="rect">
            <a:avLst/>
          </a:prstGeom>
          <a:noFill/>
          <a:ln>
            <a:noFill/>
          </a:ln>
        </p:spPr>
      </p:pic>
      <p:sp>
        <p:nvSpPr>
          <p:cNvPr id="532" name="Google Shape;532;p12"/>
          <p:cNvSpPr/>
          <p:nvPr/>
        </p:nvSpPr>
        <p:spPr>
          <a:xfrm>
            <a:off x="2664005" y="2349010"/>
            <a:ext cx="1812727" cy="28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Falcon's FFT-based approach &amp; floating-point</a:t>
            </a:r>
            <a:endParaRPr b="0" i="0" sz="727" u="none" cap="none" strike="noStrike">
              <a:solidFill>
                <a:schemeClr val="dk1"/>
              </a:solidFill>
              <a:latin typeface="Calibri"/>
              <a:ea typeface="Calibri"/>
              <a:cs typeface="Calibri"/>
              <a:sym typeface="Calibri"/>
            </a:endParaRPr>
          </a:p>
        </p:txBody>
      </p:sp>
      <p:pic>
        <p:nvPicPr>
          <p:cNvPr descr="preencoded.png" id="533" name="Google Shape;533;p12"/>
          <p:cNvPicPr preferRelativeResize="0"/>
          <p:nvPr/>
        </p:nvPicPr>
        <p:blipFill rotWithShape="1">
          <a:blip r:embed="rId9">
            <a:alphaModFix/>
          </a:blip>
          <a:srcRect b="0" l="0" r="0" t="0"/>
          <a:stretch/>
        </p:blipFill>
        <p:spPr>
          <a:xfrm>
            <a:off x="2547919" y="2671874"/>
            <a:ext cx="44648" cy="280002"/>
          </a:xfrm>
          <a:prstGeom prst="rect">
            <a:avLst/>
          </a:prstGeom>
          <a:noFill/>
          <a:ln>
            <a:noFill/>
          </a:ln>
        </p:spPr>
      </p:pic>
      <p:sp>
        <p:nvSpPr>
          <p:cNvPr id="534" name="Google Shape;534;p12"/>
          <p:cNvSpPr/>
          <p:nvPr/>
        </p:nvSpPr>
        <p:spPr>
          <a:xfrm>
            <a:off x="2664005" y="2671874"/>
            <a:ext cx="1812727" cy="28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Signature size impact on CAN-FD frames</a:t>
            </a:r>
            <a:endParaRPr b="0" i="0" sz="727" u="none" cap="none" strike="noStrike">
              <a:solidFill>
                <a:schemeClr val="dk1"/>
              </a:solidFill>
              <a:latin typeface="Calibri"/>
              <a:ea typeface="Calibri"/>
              <a:cs typeface="Calibri"/>
              <a:sym typeface="Calibri"/>
            </a:endParaRPr>
          </a:p>
        </p:txBody>
      </p:sp>
      <p:sp>
        <p:nvSpPr>
          <p:cNvPr id="535" name="Google Shape;535;p12"/>
          <p:cNvSpPr/>
          <p:nvPr/>
        </p:nvSpPr>
        <p:spPr>
          <a:xfrm>
            <a:off x="4667213" y="1218902"/>
            <a:ext cx="1928813" cy="242888"/>
          </a:xfrm>
          <a:prstGeom prst="rect">
            <a:avLst/>
          </a:prstGeom>
          <a:noFill/>
          <a:ln>
            <a:noFill/>
          </a:ln>
        </p:spPr>
        <p:txBody>
          <a:bodyPr anchorCtr="0" anchor="t" bIns="0" lIns="0" spcFirstLastPara="1" rIns="0" wrap="square" tIns="127500">
            <a:spAutoFit/>
          </a:bodyPr>
          <a:lstStyle/>
          <a:p>
            <a:pPr indent="0" lvl="0" marL="0" marR="0" rtl="0" algn="l">
              <a:lnSpc>
                <a:spcPct val="131771"/>
              </a:lnSpc>
              <a:spcBef>
                <a:spcPts val="0"/>
              </a:spcBef>
              <a:spcAft>
                <a:spcPts val="0"/>
              </a:spcAft>
              <a:buClr>
                <a:srgbClr val="00A651"/>
              </a:buClr>
              <a:buSzPts val="683"/>
              <a:buFont typeface="Calibri"/>
              <a:buNone/>
            </a:pPr>
            <a:r>
              <a:rPr b="1" i="0" lang="en-US" sz="683" u="none" cap="none" strike="noStrike">
                <a:solidFill>
                  <a:srgbClr val="00A651"/>
                </a:solidFill>
                <a:latin typeface="Calibri"/>
                <a:ea typeface="Calibri"/>
                <a:cs typeface="Calibri"/>
                <a:sym typeface="Calibri"/>
              </a:rPr>
              <a:t>Week 3</a:t>
            </a:r>
            <a:endParaRPr b="0" i="0" sz="683" u="none" cap="none" strike="noStrike">
              <a:solidFill>
                <a:schemeClr val="dk1"/>
              </a:solidFill>
              <a:latin typeface="Calibri"/>
              <a:ea typeface="Calibri"/>
              <a:cs typeface="Calibri"/>
              <a:sym typeface="Calibri"/>
            </a:endParaRPr>
          </a:p>
        </p:txBody>
      </p:sp>
      <p:sp>
        <p:nvSpPr>
          <p:cNvPr id="536" name="Google Shape;536;p12"/>
          <p:cNvSpPr/>
          <p:nvPr/>
        </p:nvSpPr>
        <p:spPr>
          <a:xfrm>
            <a:off x="4667213" y="1533227"/>
            <a:ext cx="1928813" cy="350044"/>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Optimization &amp; Algorithm Selection</a:t>
            </a:r>
            <a:endParaRPr b="0" i="0" sz="885" u="none" cap="none" strike="noStrike">
              <a:solidFill>
                <a:schemeClr val="dk1"/>
              </a:solidFill>
              <a:latin typeface="Calibri"/>
              <a:ea typeface="Calibri"/>
              <a:cs typeface="Calibri"/>
              <a:sym typeface="Calibri"/>
            </a:endParaRPr>
          </a:p>
        </p:txBody>
      </p:sp>
      <p:pic>
        <p:nvPicPr>
          <p:cNvPr descr="preencoded.png" id="537" name="Google Shape;537;p12"/>
          <p:cNvPicPr preferRelativeResize="0"/>
          <p:nvPr/>
        </p:nvPicPr>
        <p:blipFill rotWithShape="1">
          <a:blip r:embed="rId10">
            <a:alphaModFix/>
          </a:blip>
          <a:srcRect b="0" l="0" r="0" t="0"/>
          <a:stretch/>
        </p:blipFill>
        <p:spPr>
          <a:xfrm>
            <a:off x="4667213" y="2026146"/>
            <a:ext cx="44648" cy="280002"/>
          </a:xfrm>
          <a:prstGeom prst="rect">
            <a:avLst/>
          </a:prstGeom>
          <a:noFill/>
          <a:ln>
            <a:noFill/>
          </a:ln>
        </p:spPr>
      </p:pic>
      <p:sp>
        <p:nvSpPr>
          <p:cNvPr id="538" name="Google Shape;538;p12"/>
          <p:cNvSpPr/>
          <p:nvPr/>
        </p:nvSpPr>
        <p:spPr>
          <a:xfrm>
            <a:off x="4783299" y="2026146"/>
            <a:ext cx="1812727" cy="28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Full ITCM/DTCM optimization for algorithms</a:t>
            </a:r>
            <a:endParaRPr b="0" i="0" sz="727" u="none" cap="none" strike="noStrike">
              <a:solidFill>
                <a:schemeClr val="dk1"/>
              </a:solidFill>
              <a:latin typeface="Calibri"/>
              <a:ea typeface="Calibri"/>
              <a:cs typeface="Calibri"/>
              <a:sym typeface="Calibri"/>
            </a:endParaRPr>
          </a:p>
        </p:txBody>
      </p:sp>
      <p:pic>
        <p:nvPicPr>
          <p:cNvPr descr="preencoded.png" id="539" name="Google Shape;539;p12"/>
          <p:cNvPicPr preferRelativeResize="0"/>
          <p:nvPr/>
        </p:nvPicPr>
        <p:blipFill rotWithShape="1">
          <a:blip r:embed="rId11">
            <a:alphaModFix/>
          </a:blip>
          <a:srcRect b="0" l="0" r="0" t="0"/>
          <a:stretch/>
        </p:blipFill>
        <p:spPr>
          <a:xfrm>
            <a:off x="4667213" y="2349010"/>
            <a:ext cx="44648" cy="280002"/>
          </a:xfrm>
          <a:prstGeom prst="rect">
            <a:avLst/>
          </a:prstGeom>
          <a:noFill/>
          <a:ln>
            <a:noFill/>
          </a:ln>
        </p:spPr>
      </p:pic>
      <p:sp>
        <p:nvSpPr>
          <p:cNvPr id="540" name="Google Shape;540;p12"/>
          <p:cNvSpPr/>
          <p:nvPr/>
        </p:nvSpPr>
        <p:spPr>
          <a:xfrm>
            <a:off x="4783299" y="2349010"/>
            <a:ext cx="1812727" cy="28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Complete benchmark matrix (key variants)</a:t>
            </a:r>
            <a:endParaRPr b="0" i="0" sz="727" u="none" cap="none" strike="noStrike">
              <a:solidFill>
                <a:schemeClr val="dk1"/>
              </a:solidFill>
              <a:latin typeface="Calibri"/>
              <a:ea typeface="Calibri"/>
              <a:cs typeface="Calibri"/>
              <a:sym typeface="Calibri"/>
            </a:endParaRPr>
          </a:p>
        </p:txBody>
      </p:sp>
      <p:pic>
        <p:nvPicPr>
          <p:cNvPr descr="preencoded.png" id="541" name="Google Shape;541;p12"/>
          <p:cNvPicPr preferRelativeResize="0"/>
          <p:nvPr/>
        </p:nvPicPr>
        <p:blipFill rotWithShape="1">
          <a:blip r:embed="rId12">
            <a:alphaModFix/>
          </a:blip>
          <a:srcRect b="0" l="0" r="0" t="0"/>
          <a:stretch/>
        </p:blipFill>
        <p:spPr>
          <a:xfrm>
            <a:off x="4667213" y="2671874"/>
            <a:ext cx="44648" cy="140001"/>
          </a:xfrm>
          <a:prstGeom prst="rect">
            <a:avLst/>
          </a:prstGeom>
          <a:noFill/>
          <a:ln>
            <a:noFill/>
          </a:ln>
        </p:spPr>
      </p:pic>
      <p:sp>
        <p:nvSpPr>
          <p:cNvPr id="542" name="Google Shape;542;p12"/>
          <p:cNvSpPr/>
          <p:nvPr/>
        </p:nvSpPr>
        <p:spPr>
          <a:xfrm>
            <a:off x="4783299" y="2671874"/>
            <a:ext cx="1171854" cy="140001"/>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Final selection document</a:t>
            </a:r>
            <a:endParaRPr b="0" i="0" sz="727" u="none" cap="none" strike="noStrike">
              <a:solidFill>
                <a:schemeClr val="dk1"/>
              </a:solidFill>
              <a:latin typeface="Calibri"/>
              <a:ea typeface="Calibri"/>
              <a:cs typeface="Calibri"/>
              <a:sym typeface="Calibri"/>
            </a:endParaRPr>
          </a:p>
        </p:txBody>
      </p:sp>
      <p:sp>
        <p:nvSpPr>
          <p:cNvPr id="543" name="Google Shape;543;p12"/>
          <p:cNvSpPr/>
          <p:nvPr/>
        </p:nvSpPr>
        <p:spPr>
          <a:xfrm>
            <a:off x="6786507" y="1218902"/>
            <a:ext cx="1928813" cy="242888"/>
          </a:xfrm>
          <a:prstGeom prst="rect">
            <a:avLst/>
          </a:prstGeom>
          <a:noFill/>
          <a:ln>
            <a:noFill/>
          </a:ln>
        </p:spPr>
        <p:txBody>
          <a:bodyPr anchorCtr="0" anchor="t" bIns="0" lIns="0" spcFirstLastPara="1" rIns="0" wrap="square" tIns="127500">
            <a:spAutoFit/>
          </a:bodyPr>
          <a:lstStyle/>
          <a:p>
            <a:pPr indent="0" lvl="0" marL="0" marR="0" rtl="0" algn="l">
              <a:lnSpc>
                <a:spcPct val="131771"/>
              </a:lnSpc>
              <a:spcBef>
                <a:spcPts val="0"/>
              </a:spcBef>
              <a:spcAft>
                <a:spcPts val="0"/>
              </a:spcAft>
              <a:buClr>
                <a:srgbClr val="00A651"/>
              </a:buClr>
              <a:buSzPts val="683"/>
              <a:buFont typeface="Calibri"/>
              <a:buNone/>
            </a:pPr>
            <a:r>
              <a:rPr b="1" i="0" lang="en-US" sz="683" u="none" cap="none" strike="noStrike">
                <a:solidFill>
                  <a:srgbClr val="00A651"/>
                </a:solidFill>
                <a:latin typeface="Calibri"/>
                <a:ea typeface="Calibri"/>
                <a:cs typeface="Calibri"/>
                <a:sym typeface="Calibri"/>
              </a:rPr>
              <a:t>Week 4</a:t>
            </a:r>
            <a:endParaRPr b="0" i="0" sz="683" u="none" cap="none" strike="noStrike">
              <a:solidFill>
                <a:schemeClr val="dk1"/>
              </a:solidFill>
              <a:latin typeface="Calibri"/>
              <a:ea typeface="Calibri"/>
              <a:cs typeface="Calibri"/>
              <a:sym typeface="Calibri"/>
            </a:endParaRPr>
          </a:p>
        </p:txBody>
      </p:sp>
      <p:sp>
        <p:nvSpPr>
          <p:cNvPr id="544" name="Google Shape;544;p12"/>
          <p:cNvSpPr/>
          <p:nvPr/>
        </p:nvSpPr>
        <p:spPr>
          <a:xfrm>
            <a:off x="6786507" y="1533227"/>
            <a:ext cx="1928813" cy="350044"/>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Benchmark Report &amp; Milestone</a:t>
            </a:r>
            <a:endParaRPr b="0" i="0" sz="885" u="none" cap="none" strike="noStrike">
              <a:solidFill>
                <a:schemeClr val="dk1"/>
              </a:solidFill>
              <a:latin typeface="Calibri"/>
              <a:ea typeface="Calibri"/>
              <a:cs typeface="Calibri"/>
              <a:sym typeface="Calibri"/>
            </a:endParaRPr>
          </a:p>
        </p:txBody>
      </p:sp>
      <p:pic>
        <p:nvPicPr>
          <p:cNvPr descr="preencoded.png" id="545" name="Google Shape;545;p12"/>
          <p:cNvPicPr preferRelativeResize="0"/>
          <p:nvPr/>
        </p:nvPicPr>
        <p:blipFill rotWithShape="1">
          <a:blip r:embed="rId13">
            <a:alphaModFix/>
          </a:blip>
          <a:srcRect b="0" l="0" r="0" t="0"/>
          <a:stretch/>
        </p:blipFill>
        <p:spPr>
          <a:xfrm>
            <a:off x="6786507" y="2026146"/>
            <a:ext cx="44648" cy="140001"/>
          </a:xfrm>
          <a:prstGeom prst="rect">
            <a:avLst/>
          </a:prstGeom>
          <a:noFill/>
          <a:ln>
            <a:noFill/>
          </a:ln>
        </p:spPr>
      </p:pic>
      <p:sp>
        <p:nvSpPr>
          <p:cNvPr id="546" name="Google Shape;546;p12"/>
          <p:cNvSpPr/>
          <p:nvPr/>
        </p:nvSpPr>
        <p:spPr>
          <a:xfrm>
            <a:off x="6902593" y="2026146"/>
            <a:ext cx="1755130" cy="140001"/>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Publication-quality benchmark report</a:t>
            </a:r>
            <a:endParaRPr b="0" i="0" sz="727" u="none" cap="none" strike="noStrike">
              <a:solidFill>
                <a:schemeClr val="dk1"/>
              </a:solidFill>
              <a:latin typeface="Calibri"/>
              <a:ea typeface="Calibri"/>
              <a:cs typeface="Calibri"/>
              <a:sym typeface="Calibri"/>
            </a:endParaRPr>
          </a:p>
        </p:txBody>
      </p:sp>
      <p:pic>
        <p:nvPicPr>
          <p:cNvPr descr="preencoded.png" id="547" name="Google Shape;547;p12"/>
          <p:cNvPicPr preferRelativeResize="0"/>
          <p:nvPr/>
        </p:nvPicPr>
        <p:blipFill rotWithShape="1">
          <a:blip r:embed="rId14">
            <a:alphaModFix/>
          </a:blip>
          <a:srcRect b="0" l="0" r="0" t="0"/>
          <a:stretch/>
        </p:blipFill>
        <p:spPr>
          <a:xfrm>
            <a:off x="6786507" y="2209009"/>
            <a:ext cx="44648" cy="280002"/>
          </a:xfrm>
          <a:prstGeom prst="rect">
            <a:avLst/>
          </a:prstGeom>
          <a:noFill/>
          <a:ln>
            <a:noFill/>
          </a:ln>
        </p:spPr>
      </p:pic>
      <p:sp>
        <p:nvSpPr>
          <p:cNvPr id="548" name="Google Shape;548;p12"/>
          <p:cNvSpPr/>
          <p:nvPr/>
        </p:nvSpPr>
        <p:spPr>
          <a:xfrm>
            <a:off x="6902593" y="2209009"/>
            <a:ext cx="1812727" cy="280002"/>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Comparison to state-of-art (IAV, PQM4)</a:t>
            </a:r>
            <a:endParaRPr b="0" i="0" sz="727" u="none" cap="none" strike="noStrike">
              <a:solidFill>
                <a:schemeClr val="dk1"/>
              </a:solidFill>
              <a:latin typeface="Calibri"/>
              <a:ea typeface="Calibri"/>
              <a:cs typeface="Calibri"/>
              <a:sym typeface="Calibri"/>
            </a:endParaRPr>
          </a:p>
        </p:txBody>
      </p:sp>
      <p:pic>
        <p:nvPicPr>
          <p:cNvPr descr="preencoded.png" id="549" name="Google Shape;549;p12"/>
          <p:cNvPicPr preferRelativeResize="0"/>
          <p:nvPr/>
        </p:nvPicPr>
        <p:blipFill rotWithShape="1">
          <a:blip r:embed="rId15">
            <a:alphaModFix/>
          </a:blip>
          <a:srcRect b="0" l="0" r="0" t="0"/>
          <a:stretch/>
        </p:blipFill>
        <p:spPr>
          <a:xfrm>
            <a:off x="6786507" y="2531873"/>
            <a:ext cx="44648" cy="140001"/>
          </a:xfrm>
          <a:prstGeom prst="rect">
            <a:avLst/>
          </a:prstGeom>
          <a:noFill/>
          <a:ln>
            <a:noFill/>
          </a:ln>
        </p:spPr>
      </p:pic>
      <p:sp>
        <p:nvSpPr>
          <p:cNvPr id="550" name="Google Shape;550;p12"/>
          <p:cNvSpPr/>
          <p:nvPr/>
        </p:nvSpPr>
        <p:spPr>
          <a:xfrm>
            <a:off x="6902593" y="2531873"/>
            <a:ext cx="1731132" cy="140001"/>
          </a:xfrm>
          <a:prstGeom prst="rect">
            <a:avLst/>
          </a:prstGeom>
          <a:noFill/>
          <a:ln>
            <a:noFill/>
          </a:ln>
        </p:spPr>
        <p:txBody>
          <a:bodyPr anchorCtr="0" anchor="t" bIns="0" lIns="0" spcFirstLastPara="1" rIns="0" wrap="square" tIns="0">
            <a:spAutoFit/>
          </a:bodyPr>
          <a:lstStyle/>
          <a:p>
            <a:pPr indent="0" lvl="0" marL="0" marR="0" rtl="0" algn="l">
              <a:lnSpc>
                <a:spcPct val="151306"/>
              </a:lnSpc>
              <a:spcBef>
                <a:spcPts val="0"/>
              </a:spcBef>
              <a:spcAft>
                <a:spcPts val="0"/>
              </a:spcAft>
              <a:buClr>
                <a:srgbClr val="5A6069"/>
              </a:buClr>
              <a:buSzPts val="727"/>
              <a:buFont typeface="Calibri"/>
              <a:buNone/>
            </a:pPr>
            <a:r>
              <a:rPr b="0" i="0" lang="en-US" sz="727" u="none" cap="none" strike="noStrike">
                <a:solidFill>
                  <a:srgbClr val="5A6069"/>
                </a:solidFill>
                <a:latin typeface="Calibri"/>
                <a:ea typeface="Calibri"/>
                <a:cs typeface="Calibri"/>
                <a:sym typeface="Calibri"/>
              </a:rPr>
              <a:t>Milestone presentation to supervisor</a:t>
            </a:r>
            <a:endParaRPr b="0" i="0" sz="727" u="none" cap="none" strike="noStrike">
              <a:solidFill>
                <a:schemeClr val="dk1"/>
              </a:solidFill>
              <a:latin typeface="Calibri"/>
              <a:ea typeface="Calibri"/>
              <a:cs typeface="Calibri"/>
              <a:sym typeface="Calibri"/>
            </a:endParaRPr>
          </a:p>
        </p:txBody>
      </p:sp>
      <p:sp>
        <p:nvSpPr>
          <p:cNvPr id="551" name="Google Shape;551;p12"/>
          <p:cNvSpPr/>
          <p:nvPr/>
        </p:nvSpPr>
        <p:spPr>
          <a:xfrm>
            <a:off x="428625" y="4864894"/>
            <a:ext cx="1344978"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888888"/>
              </a:buClr>
              <a:buSzPts val="727"/>
              <a:buFont typeface="Calibri"/>
              <a:buNone/>
            </a:pPr>
            <a:r>
              <a:rPr b="0" i="0" lang="en-US" sz="727" u="none" cap="none" strike="noStrike">
                <a:solidFill>
                  <a:srgbClr val="888888"/>
                </a:solidFill>
                <a:latin typeface="Calibri"/>
                <a:ea typeface="Calibri"/>
                <a:cs typeface="Calibri"/>
                <a:sym typeface="Calibri"/>
              </a:rPr>
              <a:t>2024 | ACTIA TEMPLATE | 12</a:t>
            </a:r>
            <a:endParaRPr b="0" i="0" sz="727" u="none" cap="none" strike="noStrike">
              <a:solidFill>
                <a:schemeClr val="dk1"/>
              </a:solidFill>
              <a:latin typeface="Calibri"/>
              <a:ea typeface="Calibri"/>
              <a:cs typeface="Calibri"/>
              <a:sym typeface="Calibri"/>
            </a:endParaRPr>
          </a:p>
        </p:txBody>
      </p:sp>
      <p:sp>
        <p:nvSpPr>
          <p:cNvPr id="552" name="Google Shape;552;p12"/>
          <p:cNvSpPr/>
          <p:nvPr/>
        </p:nvSpPr>
        <p:spPr>
          <a:xfrm>
            <a:off x="7990982" y="4766667"/>
            <a:ext cx="552943"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4D5259"/>
              </a:buClr>
              <a:buSzPts val="1193"/>
              <a:buFont typeface="Calibri"/>
              <a:buNone/>
            </a:pPr>
            <a:r>
              <a:rPr b="1" i="0" lang="en-US" sz="1193" u="none" cap="none" strike="noStrike">
                <a:solidFill>
                  <a:srgbClr val="4D5259"/>
                </a:solidFill>
                <a:latin typeface="Calibri"/>
                <a:ea typeface="Calibri"/>
                <a:cs typeface="Calibri"/>
                <a:sym typeface="Calibri"/>
              </a:rPr>
              <a:t>ACTIA</a:t>
            </a:r>
            <a:endParaRPr b="0" i="0" sz="1193" u="none" cap="none" strike="noStrike">
              <a:solidFill>
                <a:schemeClr val="dk1"/>
              </a:solidFill>
              <a:latin typeface="Calibri"/>
              <a:ea typeface="Calibri"/>
              <a:cs typeface="Calibri"/>
              <a:sym typeface="Calibri"/>
            </a:endParaRPr>
          </a:p>
        </p:txBody>
      </p:sp>
      <p:pic>
        <p:nvPicPr>
          <p:cNvPr descr="preencoded.png" id="553" name="Google Shape;553;p12"/>
          <p:cNvPicPr preferRelativeResize="0"/>
          <p:nvPr/>
        </p:nvPicPr>
        <p:blipFill rotWithShape="1">
          <a:blip r:embed="rId16">
            <a:alphaModFix/>
          </a:blip>
          <a:srcRect b="0" l="0" r="0" t="0"/>
          <a:stretch/>
        </p:blipFill>
        <p:spPr>
          <a:xfrm>
            <a:off x="8543925" y="4798814"/>
            <a:ext cx="171450" cy="171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pic>
        <p:nvPicPr>
          <p:cNvPr descr="preencoded.png" id="559" name="Google Shape;559;p1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60" name="Google Shape;560;p13"/>
          <p:cNvSpPr/>
          <p:nvPr/>
        </p:nvSpPr>
        <p:spPr>
          <a:xfrm>
            <a:off x="821531" y="438894"/>
            <a:ext cx="2805624"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Full Project Roadmap</a:t>
            </a:r>
            <a:endParaRPr b="0" i="0" sz="1602" u="none" cap="none" strike="noStrike">
              <a:solidFill>
                <a:schemeClr val="dk1"/>
              </a:solidFill>
              <a:latin typeface="Calibri"/>
              <a:ea typeface="Calibri"/>
              <a:cs typeface="Calibri"/>
              <a:sym typeface="Calibri"/>
            </a:endParaRPr>
          </a:p>
        </p:txBody>
      </p:sp>
      <p:sp>
        <p:nvSpPr>
          <p:cNvPr id="561" name="Google Shape;561;p13"/>
          <p:cNvSpPr/>
          <p:nvPr/>
        </p:nvSpPr>
        <p:spPr>
          <a:xfrm>
            <a:off x="428625" y="1047452"/>
            <a:ext cx="707985" cy="173236"/>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3"/>
          <p:cNvSpPr/>
          <p:nvPr/>
        </p:nvSpPr>
        <p:spPr>
          <a:xfrm>
            <a:off x="428625" y="1047452"/>
            <a:ext cx="707985" cy="173236"/>
          </a:xfrm>
          <a:prstGeom prst="rect">
            <a:avLst/>
          </a:prstGeom>
          <a:noFill/>
          <a:ln>
            <a:noFill/>
          </a:ln>
        </p:spPr>
        <p:txBody>
          <a:bodyPr anchorCtr="0" anchor="t" bIns="34025" lIns="85075" spcFirstLastPara="1" rIns="85075" wrap="square" tIns="34025">
            <a:spAutoFit/>
          </a:bodyPr>
          <a:lstStyle/>
          <a:p>
            <a:pPr indent="0" lvl="0" marL="0" marR="0" rtl="0" algn="l">
              <a:lnSpc>
                <a:spcPct val="136986"/>
              </a:lnSpc>
              <a:spcBef>
                <a:spcPts val="0"/>
              </a:spcBef>
              <a:spcAft>
                <a:spcPts val="0"/>
              </a:spcAft>
              <a:buClr>
                <a:srgbClr val="FFFFFF"/>
              </a:buClr>
              <a:buSzPts val="584"/>
              <a:buFont typeface="Calibri"/>
              <a:buNone/>
            </a:pPr>
            <a:r>
              <a:rPr b="1" i="0" lang="en-US" sz="584" u="none" cap="none" strike="noStrike">
                <a:solidFill>
                  <a:srgbClr val="FFFFFF"/>
                </a:solidFill>
                <a:latin typeface="Calibri"/>
                <a:ea typeface="Calibri"/>
                <a:cs typeface="Calibri"/>
                <a:sym typeface="Calibri"/>
              </a:rPr>
              <a:t>IN PROGRESS</a:t>
            </a:r>
            <a:endParaRPr b="0" i="0" sz="584" u="none" cap="none" strike="noStrike">
              <a:solidFill>
                <a:schemeClr val="dk1"/>
              </a:solidFill>
              <a:latin typeface="Calibri"/>
              <a:ea typeface="Calibri"/>
              <a:cs typeface="Calibri"/>
              <a:sym typeface="Calibri"/>
            </a:endParaRPr>
          </a:p>
        </p:txBody>
      </p:sp>
      <p:sp>
        <p:nvSpPr>
          <p:cNvPr id="563" name="Google Shape;563;p13"/>
          <p:cNvSpPr/>
          <p:nvPr/>
        </p:nvSpPr>
        <p:spPr>
          <a:xfrm>
            <a:off x="428625" y="1261765"/>
            <a:ext cx="1928813" cy="757238"/>
          </a:xfrm>
          <a:prstGeom prst="rect">
            <a:avLst/>
          </a:prstGeom>
          <a:solidFill>
            <a:srgbClr val="E6F4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3"/>
          <p:cNvSpPr/>
          <p:nvPr/>
        </p:nvSpPr>
        <p:spPr>
          <a:xfrm>
            <a:off x="428625" y="1261765"/>
            <a:ext cx="1928813" cy="28575"/>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3"/>
          <p:cNvSpPr/>
          <p:nvPr/>
        </p:nvSpPr>
        <p:spPr>
          <a:xfrm>
            <a:off x="571500" y="1408212"/>
            <a:ext cx="1643063"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00A651"/>
              </a:buClr>
              <a:buSzPts val="683"/>
              <a:buFont typeface="Calibri"/>
              <a:buNone/>
            </a:pPr>
            <a:r>
              <a:rPr b="1" i="0" lang="en-US" sz="683" u="none" cap="none" strike="noStrike">
                <a:solidFill>
                  <a:srgbClr val="00A651"/>
                </a:solidFill>
                <a:latin typeface="Calibri"/>
                <a:ea typeface="Calibri"/>
                <a:cs typeface="Calibri"/>
                <a:sym typeface="Calibri"/>
              </a:rPr>
              <a:t>Phase 1</a:t>
            </a:r>
            <a:endParaRPr b="0" i="0" sz="683" u="none" cap="none" strike="noStrike">
              <a:solidFill>
                <a:schemeClr val="dk1"/>
              </a:solidFill>
              <a:latin typeface="Calibri"/>
              <a:ea typeface="Calibri"/>
              <a:cs typeface="Calibri"/>
              <a:sym typeface="Calibri"/>
            </a:endParaRPr>
          </a:p>
        </p:txBody>
      </p:sp>
      <p:sp>
        <p:nvSpPr>
          <p:cNvPr id="566" name="Google Shape;566;p13"/>
          <p:cNvSpPr/>
          <p:nvPr/>
        </p:nvSpPr>
        <p:spPr>
          <a:xfrm>
            <a:off x="571500" y="1579662"/>
            <a:ext cx="1643063" cy="350044"/>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Benchmarking &amp; Optimization</a:t>
            </a:r>
            <a:endParaRPr b="0" i="0" sz="885" u="none" cap="none" strike="noStrike">
              <a:solidFill>
                <a:schemeClr val="dk1"/>
              </a:solidFill>
              <a:latin typeface="Calibri"/>
              <a:ea typeface="Calibri"/>
              <a:cs typeface="Calibri"/>
              <a:sym typeface="Calibri"/>
            </a:endParaRPr>
          </a:p>
        </p:txBody>
      </p:sp>
      <p:pic>
        <p:nvPicPr>
          <p:cNvPr descr="preencoded.png" id="567" name="Google Shape;567;p13"/>
          <p:cNvPicPr preferRelativeResize="0"/>
          <p:nvPr/>
        </p:nvPicPr>
        <p:blipFill rotWithShape="1">
          <a:blip r:embed="rId4">
            <a:alphaModFix/>
          </a:blip>
          <a:srcRect b="0" l="0" r="0" t="0"/>
          <a:stretch/>
        </p:blipFill>
        <p:spPr>
          <a:xfrm>
            <a:off x="1278731" y="2142232"/>
            <a:ext cx="228600" cy="228600"/>
          </a:xfrm>
          <a:prstGeom prst="rect">
            <a:avLst/>
          </a:prstGeom>
          <a:noFill/>
          <a:ln>
            <a:noFill/>
          </a:ln>
        </p:spPr>
      </p:pic>
      <p:pic>
        <p:nvPicPr>
          <p:cNvPr descr="preencoded.png" id="568" name="Google Shape;568;p13"/>
          <p:cNvPicPr preferRelativeResize="0"/>
          <p:nvPr/>
        </p:nvPicPr>
        <p:blipFill rotWithShape="1">
          <a:blip r:embed="rId5">
            <a:alphaModFix/>
          </a:blip>
          <a:srcRect b="0" l="0" r="0" t="0"/>
          <a:stretch/>
        </p:blipFill>
        <p:spPr>
          <a:xfrm>
            <a:off x="500063" y="2524423"/>
            <a:ext cx="71438" cy="150019"/>
          </a:xfrm>
          <a:prstGeom prst="rect">
            <a:avLst/>
          </a:prstGeom>
          <a:noFill/>
          <a:ln>
            <a:noFill/>
          </a:ln>
        </p:spPr>
      </p:pic>
      <p:sp>
        <p:nvSpPr>
          <p:cNvPr id="569" name="Google Shape;569;p13"/>
          <p:cNvSpPr/>
          <p:nvPr/>
        </p:nvSpPr>
        <p:spPr>
          <a:xfrm>
            <a:off x="642938" y="2524423"/>
            <a:ext cx="1513582"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Algorithm analysis &amp; selection</a:t>
            </a:r>
            <a:endParaRPr b="0" i="0" sz="780" u="none" cap="none" strike="noStrike">
              <a:solidFill>
                <a:schemeClr val="dk1"/>
              </a:solidFill>
              <a:latin typeface="Calibri"/>
              <a:ea typeface="Calibri"/>
              <a:cs typeface="Calibri"/>
              <a:sym typeface="Calibri"/>
            </a:endParaRPr>
          </a:p>
        </p:txBody>
      </p:sp>
      <p:pic>
        <p:nvPicPr>
          <p:cNvPr descr="preencoded.png" id="570" name="Google Shape;570;p13"/>
          <p:cNvPicPr preferRelativeResize="0"/>
          <p:nvPr/>
        </p:nvPicPr>
        <p:blipFill rotWithShape="1">
          <a:blip r:embed="rId5">
            <a:alphaModFix/>
          </a:blip>
          <a:srcRect b="0" l="0" r="0" t="0"/>
          <a:stretch/>
        </p:blipFill>
        <p:spPr>
          <a:xfrm>
            <a:off x="500063" y="2717304"/>
            <a:ext cx="71438" cy="150019"/>
          </a:xfrm>
          <a:prstGeom prst="rect">
            <a:avLst/>
          </a:prstGeom>
          <a:noFill/>
          <a:ln>
            <a:noFill/>
          </a:ln>
        </p:spPr>
      </p:pic>
      <p:sp>
        <p:nvSpPr>
          <p:cNvPr id="571" name="Google Shape;571;p13"/>
          <p:cNvSpPr/>
          <p:nvPr/>
        </p:nvSpPr>
        <p:spPr>
          <a:xfrm>
            <a:off x="642938" y="2717304"/>
            <a:ext cx="1466338"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STM32H7 performance study</a:t>
            </a:r>
            <a:endParaRPr b="0" i="0" sz="780" u="none" cap="none" strike="noStrike">
              <a:solidFill>
                <a:schemeClr val="dk1"/>
              </a:solidFill>
              <a:latin typeface="Calibri"/>
              <a:ea typeface="Calibri"/>
              <a:cs typeface="Calibri"/>
              <a:sym typeface="Calibri"/>
            </a:endParaRPr>
          </a:p>
        </p:txBody>
      </p:sp>
      <p:pic>
        <p:nvPicPr>
          <p:cNvPr descr="preencoded.png" id="572" name="Google Shape;572;p13"/>
          <p:cNvPicPr preferRelativeResize="0"/>
          <p:nvPr/>
        </p:nvPicPr>
        <p:blipFill rotWithShape="1">
          <a:blip r:embed="rId5">
            <a:alphaModFix/>
          </a:blip>
          <a:srcRect b="0" l="0" r="0" t="0"/>
          <a:stretch/>
        </p:blipFill>
        <p:spPr>
          <a:xfrm>
            <a:off x="500063" y="2910185"/>
            <a:ext cx="71438" cy="150019"/>
          </a:xfrm>
          <a:prstGeom prst="rect">
            <a:avLst/>
          </a:prstGeom>
          <a:noFill/>
          <a:ln>
            <a:noFill/>
          </a:ln>
        </p:spPr>
      </p:pic>
      <p:sp>
        <p:nvSpPr>
          <p:cNvPr id="573" name="Google Shape;573;p13"/>
          <p:cNvSpPr/>
          <p:nvPr/>
        </p:nvSpPr>
        <p:spPr>
          <a:xfrm>
            <a:off x="642938" y="2910185"/>
            <a:ext cx="1523879"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Benchmark report </a:t>
            </a:r>
            <a:endParaRPr b="0" i="0" sz="780" u="none" cap="none" strike="noStrike">
              <a:solidFill>
                <a:schemeClr val="dk1"/>
              </a:solidFill>
              <a:latin typeface="Calibri"/>
              <a:ea typeface="Calibri"/>
              <a:cs typeface="Calibri"/>
              <a:sym typeface="Calibri"/>
            </a:endParaRPr>
          </a:p>
        </p:txBody>
      </p:sp>
      <p:pic>
        <p:nvPicPr>
          <p:cNvPr descr="preencoded.png" id="574" name="Google Shape;574;p13"/>
          <p:cNvPicPr preferRelativeResize="0"/>
          <p:nvPr/>
        </p:nvPicPr>
        <p:blipFill rotWithShape="1">
          <a:blip r:embed="rId6">
            <a:alphaModFix/>
          </a:blip>
          <a:srcRect b="0" l="0" r="0" t="0"/>
          <a:stretch/>
        </p:blipFill>
        <p:spPr>
          <a:xfrm>
            <a:off x="2428875" y="1651099"/>
            <a:ext cx="107156" cy="171450"/>
          </a:xfrm>
          <a:prstGeom prst="rect">
            <a:avLst/>
          </a:prstGeom>
          <a:noFill/>
          <a:ln>
            <a:noFill/>
          </a:ln>
        </p:spPr>
      </p:pic>
      <p:sp>
        <p:nvSpPr>
          <p:cNvPr id="575" name="Google Shape;575;p13"/>
          <p:cNvSpPr/>
          <p:nvPr/>
        </p:nvSpPr>
        <p:spPr>
          <a:xfrm>
            <a:off x="2547919" y="1261765"/>
            <a:ext cx="1928813" cy="75723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3"/>
          <p:cNvSpPr/>
          <p:nvPr/>
        </p:nvSpPr>
        <p:spPr>
          <a:xfrm>
            <a:off x="2547919" y="1261765"/>
            <a:ext cx="1928813" cy="28575"/>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3"/>
          <p:cNvSpPr/>
          <p:nvPr/>
        </p:nvSpPr>
        <p:spPr>
          <a:xfrm>
            <a:off x="2690794" y="1495723"/>
            <a:ext cx="1643063"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4D5259"/>
              </a:buClr>
              <a:buSzPts val="683"/>
              <a:buFont typeface="Calibri"/>
              <a:buNone/>
            </a:pPr>
            <a:r>
              <a:rPr b="1" i="0" lang="en-US" sz="683" u="none" cap="none" strike="noStrike">
                <a:solidFill>
                  <a:srgbClr val="4D5259"/>
                </a:solidFill>
                <a:latin typeface="Calibri"/>
                <a:ea typeface="Calibri"/>
                <a:cs typeface="Calibri"/>
                <a:sym typeface="Calibri"/>
              </a:rPr>
              <a:t>Phase 2</a:t>
            </a:r>
            <a:endParaRPr b="0" i="0" sz="683" u="none" cap="none" strike="noStrike">
              <a:solidFill>
                <a:schemeClr val="dk1"/>
              </a:solidFill>
              <a:latin typeface="Calibri"/>
              <a:ea typeface="Calibri"/>
              <a:cs typeface="Calibri"/>
              <a:sym typeface="Calibri"/>
            </a:endParaRPr>
          </a:p>
        </p:txBody>
      </p:sp>
      <p:sp>
        <p:nvSpPr>
          <p:cNvPr id="578" name="Google Shape;578;p13"/>
          <p:cNvSpPr/>
          <p:nvPr/>
        </p:nvSpPr>
        <p:spPr>
          <a:xfrm>
            <a:off x="2690794" y="1667173"/>
            <a:ext cx="1643063"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Protocol Implementation</a:t>
            </a:r>
            <a:endParaRPr b="0" i="0" sz="885" u="none" cap="none" strike="noStrike">
              <a:solidFill>
                <a:schemeClr val="dk1"/>
              </a:solidFill>
              <a:latin typeface="Calibri"/>
              <a:ea typeface="Calibri"/>
              <a:cs typeface="Calibri"/>
              <a:sym typeface="Calibri"/>
            </a:endParaRPr>
          </a:p>
        </p:txBody>
      </p:sp>
      <p:pic>
        <p:nvPicPr>
          <p:cNvPr descr="preencoded.png" id="579" name="Google Shape;579;p13"/>
          <p:cNvPicPr preferRelativeResize="0"/>
          <p:nvPr/>
        </p:nvPicPr>
        <p:blipFill rotWithShape="1">
          <a:blip r:embed="rId7">
            <a:alphaModFix/>
          </a:blip>
          <a:srcRect b="0" l="0" r="0" t="0"/>
          <a:stretch/>
        </p:blipFill>
        <p:spPr>
          <a:xfrm>
            <a:off x="3369450" y="2142232"/>
            <a:ext cx="285750" cy="228600"/>
          </a:xfrm>
          <a:prstGeom prst="rect">
            <a:avLst/>
          </a:prstGeom>
          <a:noFill/>
          <a:ln>
            <a:noFill/>
          </a:ln>
        </p:spPr>
      </p:pic>
      <p:pic>
        <p:nvPicPr>
          <p:cNvPr descr="preencoded.png" id="580" name="Google Shape;580;p13"/>
          <p:cNvPicPr preferRelativeResize="0"/>
          <p:nvPr/>
        </p:nvPicPr>
        <p:blipFill rotWithShape="1">
          <a:blip r:embed="rId8">
            <a:alphaModFix/>
          </a:blip>
          <a:srcRect b="0" l="0" r="0" t="0"/>
          <a:stretch/>
        </p:blipFill>
        <p:spPr>
          <a:xfrm>
            <a:off x="2619356" y="2524423"/>
            <a:ext cx="71438" cy="150019"/>
          </a:xfrm>
          <a:prstGeom prst="rect">
            <a:avLst/>
          </a:prstGeom>
          <a:noFill/>
          <a:ln>
            <a:noFill/>
          </a:ln>
        </p:spPr>
      </p:pic>
      <p:sp>
        <p:nvSpPr>
          <p:cNvPr id="581" name="Google Shape;581;p13"/>
          <p:cNvSpPr/>
          <p:nvPr/>
        </p:nvSpPr>
        <p:spPr>
          <a:xfrm>
            <a:off x="2762231" y="2524423"/>
            <a:ext cx="1199508"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CAN-FD communication</a:t>
            </a:r>
            <a:endParaRPr b="0" i="0" sz="780" u="none" cap="none" strike="noStrike">
              <a:solidFill>
                <a:schemeClr val="dk1"/>
              </a:solidFill>
              <a:latin typeface="Calibri"/>
              <a:ea typeface="Calibri"/>
              <a:cs typeface="Calibri"/>
              <a:sym typeface="Calibri"/>
            </a:endParaRPr>
          </a:p>
        </p:txBody>
      </p:sp>
      <p:pic>
        <p:nvPicPr>
          <p:cNvPr descr="preencoded.png" id="582" name="Google Shape;582;p13"/>
          <p:cNvPicPr preferRelativeResize="0"/>
          <p:nvPr/>
        </p:nvPicPr>
        <p:blipFill rotWithShape="1">
          <a:blip r:embed="rId8">
            <a:alphaModFix/>
          </a:blip>
          <a:srcRect b="0" l="0" r="0" t="0"/>
          <a:stretch/>
        </p:blipFill>
        <p:spPr>
          <a:xfrm>
            <a:off x="2619356" y="2717304"/>
            <a:ext cx="71438" cy="150019"/>
          </a:xfrm>
          <a:prstGeom prst="rect">
            <a:avLst/>
          </a:prstGeom>
          <a:noFill/>
          <a:ln>
            <a:noFill/>
          </a:ln>
        </p:spPr>
      </p:pic>
      <p:sp>
        <p:nvSpPr>
          <p:cNvPr id="583" name="Google Shape;583;p13"/>
          <p:cNvSpPr/>
          <p:nvPr/>
        </p:nvSpPr>
        <p:spPr>
          <a:xfrm>
            <a:off x="2762231" y="2717304"/>
            <a:ext cx="1089366"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ISO-TP fragmentation</a:t>
            </a:r>
            <a:endParaRPr b="0" i="0" sz="780" u="none" cap="none" strike="noStrike">
              <a:solidFill>
                <a:schemeClr val="dk1"/>
              </a:solidFill>
              <a:latin typeface="Calibri"/>
              <a:ea typeface="Calibri"/>
              <a:cs typeface="Calibri"/>
              <a:sym typeface="Calibri"/>
            </a:endParaRPr>
          </a:p>
        </p:txBody>
      </p:sp>
      <p:pic>
        <p:nvPicPr>
          <p:cNvPr descr="preencoded.png" id="584" name="Google Shape;584;p13"/>
          <p:cNvPicPr preferRelativeResize="0"/>
          <p:nvPr/>
        </p:nvPicPr>
        <p:blipFill rotWithShape="1">
          <a:blip r:embed="rId8">
            <a:alphaModFix/>
          </a:blip>
          <a:srcRect b="0" l="0" r="0" t="0"/>
          <a:stretch/>
        </p:blipFill>
        <p:spPr>
          <a:xfrm>
            <a:off x="2619356" y="2910185"/>
            <a:ext cx="71438" cy="150019"/>
          </a:xfrm>
          <a:prstGeom prst="rect">
            <a:avLst/>
          </a:prstGeom>
          <a:noFill/>
          <a:ln>
            <a:noFill/>
          </a:ln>
        </p:spPr>
      </p:pic>
      <p:sp>
        <p:nvSpPr>
          <p:cNvPr id="585" name="Google Shape;585;p13"/>
          <p:cNvSpPr/>
          <p:nvPr/>
        </p:nvSpPr>
        <p:spPr>
          <a:xfrm>
            <a:off x="2762231" y="2910185"/>
            <a:ext cx="1526781"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PQC over CAN bus </a:t>
            </a:r>
            <a:endParaRPr b="0" i="0" sz="780" u="none" cap="none" strike="noStrike">
              <a:solidFill>
                <a:schemeClr val="dk1"/>
              </a:solidFill>
              <a:latin typeface="Calibri"/>
              <a:ea typeface="Calibri"/>
              <a:cs typeface="Calibri"/>
              <a:sym typeface="Calibri"/>
            </a:endParaRPr>
          </a:p>
        </p:txBody>
      </p:sp>
      <p:pic>
        <p:nvPicPr>
          <p:cNvPr descr="preencoded.png" id="586" name="Google Shape;586;p13"/>
          <p:cNvPicPr preferRelativeResize="0"/>
          <p:nvPr/>
        </p:nvPicPr>
        <p:blipFill rotWithShape="1">
          <a:blip r:embed="rId9">
            <a:alphaModFix/>
          </a:blip>
          <a:srcRect b="0" l="0" r="0" t="0"/>
          <a:stretch/>
        </p:blipFill>
        <p:spPr>
          <a:xfrm>
            <a:off x="4548169" y="1651099"/>
            <a:ext cx="107156" cy="171450"/>
          </a:xfrm>
          <a:prstGeom prst="rect">
            <a:avLst/>
          </a:prstGeom>
          <a:noFill/>
          <a:ln>
            <a:noFill/>
          </a:ln>
        </p:spPr>
      </p:pic>
      <p:sp>
        <p:nvSpPr>
          <p:cNvPr id="587" name="Google Shape;587;p13"/>
          <p:cNvSpPr/>
          <p:nvPr/>
        </p:nvSpPr>
        <p:spPr>
          <a:xfrm>
            <a:off x="4667213" y="1261765"/>
            <a:ext cx="1928813" cy="75723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885">
              <a:solidFill>
                <a:srgbClr val="4D5259"/>
              </a:solidFill>
              <a:latin typeface="Calibri"/>
              <a:ea typeface="Calibri"/>
              <a:cs typeface="Calibri"/>
              <a:sym typeface="Calibri"/>
            </a:endParaRPr>
          </a:p>
        </p:txBody>
      </p:sp>
      <p:sp>
        <p:nvSpPr>
          <p:cNvPr id="588" name="Google Shape;588;p13"/>
          <p:cNvSpPr/>
          <p:nvPr/>
        </p:nvSpPr>
        <p:spPr>
          <a:xfrm>
            <a:off x="4667213" y="1261765"/>
            <a:ext cx="1928813" cy="28575"/>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3"/>
          <p:cNvSpPr/>
          <p:nvPr/>
        </p:nvSpPr>
        <p:spPr>
          <a:xfrm>
            <a:off x="4810088" y="1495723"/>
            <a:ext cx="1643063"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4D5259"/>
              </a:buClr>
              <a:buSzPts val="683"/>
              <a:buFont typeface="Calibri"/>
              <a:buNone/>
            </a:pPr>
            <a:r>
              <a:rPr b="1" i="0" lang="en-US" sz="683" u="none" cap="none" strike="noStrike">
                <a:solidFill>
                  <a:srgbClr val="4D5259"/>
                </a:solidFill>
                <a:latin typeface="Calibri"/>
                <a:ea typeface="Calibri"/>
                <a:cs typeface="Calibri"/>
                <a:sym typeface="Calibri"/>
              </a:rPr>
              <a:t>Phase 3</a:t>
            </a:r>
            <a:endParaRPr b="0" i="0" sz="683" u="none" cap="none" strike="noStrike">
              <a:solidFill>
                <a:schemeClr val="dk1"/>
              </a:solidFill>
              <a:latin typeface="Calibri"/>
              <a:ea typeface="Calibri"/>
              <a:cs typeface="Calibri"/>
              <a:sym typeface="Calibri"/>
            </a:endParaRPr>
          </a:p>
        </p:txBody>
      </p:sp>
      <p:sp>
        <p:nvSpPr>
          <p:cNvPr id="590" name="Google Shape;590;p13"/>
          <p:cNvSpPr/>
          <p:nvPr/>
        </p:nvSpPr>
        <p:spPr>
          <a:xfrm>
            <a:off x="4810088" y="1667173"/>
            <a:ext cx="1643063" cy="175022"/>
          </a:xfrm>
          <a:prstGeom prst="rect">
            <a:avLst/>
          </a:prstGeom>
          <a:noFill/>
          <a:ln>
            <a:noFill/>
          </a:ln>
        </p:spPr>
        <p:txBody>
          <a:bodyPr anchorCtr="0" anchor="t" bIns="0" lIns="0" spcFirstLastPara="1" rIns="0" wrap="square" tIns="0">
            <a:spAutoFit/>
          </a:bodyPr>
          <a:lstStyle/>
          <a:p>
            <a:pPr indent="0" lvl="0" marL="0" rtl="0" algn="l">
              <a:lnSpc>
                <a:spcPct val="160000"/>
              </a:lnSpc>
              <a:spcBef>
                <a:spcPts val="0"/>
              </a:spcBef>
              <a:spcAft>
                <a:spcPts val="0"/>
              </a:spcAft>
              <a:buClr>
                <a:schemeClr val="dk1"/>
              </a:buClr>
              <a:buSzPts val="1100"/>
              <a:buFont typeface="Arial"/>
              <a:buNone/>
            </a:pPr>
            <a:r>
              <a:rPr b="1" lang="en-US" sz="885">
                <a:solidFill>
                  <a:srgbClr val="4D5259"/>
                </a:solidFill>
                <a:latin typeface="Calibri"/>
                <a:ea typeface="Calibri"/>
                <a:cs typeface="Calibri"/>
                <a:sym typeface="Calibri"/>
              </a:rPr>
              <a:t>UDS 0x29 Authentication Flow</a:t>
            </a:r>
            <a:endParaRPr b="1" sz="885">
              <a:solidFill>
                <a:srgbClr val="4D5259"/>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b="1" sz="885">
              <a:solidFill>
                <a:srgbClr val="4D5259"/>
              </a:solidFill>
              <a:latin typeface="Calibri"/>
              <a:ea typeface="Calibri"/>
              <a:cs typeface="Calibri"/>
              <a:sym typeface="Calibri"/>
            </a:endParaRPr>
          </a:p>
          <a:p>
            <a:pPr indent="0" lvl="0" marL="0" marR="0" rtl="0" algn="l">
              <a:lnSpc>
                <a:spcPct val="135593"/>
              </a:lnSpc>
              <a:spcBef>
                <a:spcPts val="0"/>
              </a:spcBef>
              <a:spcAft>
                <a:spcPts val="0"/>
              </a:spcAft>
              <a:buClr>
                <a:srgbClr val="4D5259"/>
              </a:buClr>
              <a:buSzPts val="885"/>
              <a:buFont typeface="Calibri"/>
              <a:buNone/>
            </a:pPr>
            <a:r>
              <a:t/>
            </a:r>
            <a:endParaRPr b="1" sz="885">
              <a:solidFill>
                <a:srgbClr val="4D5259"/>
              </a:solidFill>
              <a:latin typeface="Calibri"/>
              <a:ea typeface="Calibri"/>
              <a:cs typeface="Calibri"/>
              <a:sym typeface="Calibri"/>
            </a:endParaRPr>
          </a:p>
        </p:txBody>
      </p:sp>
      <p:pic>
        <p:nvPicPr>
          <p:cNvPr descr="preencoded.png" id="591" name="Google Shape;591;p13"/>
          <p:cNvPicPr preferRelativeResize="0"/>
          <p:nvPr/>
        </p:nvPicPr>
        <p:blipFill rotWithShape="1">
          <a:blip r:embed="rId10">
            <a:alphaModFix/>
          </a:blip>
          <a:srcRect b="0" l="0" r="0" t="0"/>
          <a:stretch/>
        </p:blipFill>
        <p:spPr>
          <a:xfrm>
            <a:off x="5488744" y="2142232"/>
            <a:ext cx="285750" cy="228600"/>
          </a:xfrm>
          <a:prstGeom prst="rect">
            <a:avLst/>
          </a:prstGeom>
          <a:noFill/>
          <a:ln>
            <a:noFill/>
          </a:ln>
        </p:spPr>
      </p:pic>
      <p:pic>
        <p:nvPicPr>
          <p:cNvPr descr="preencoded.png" id="592" name="Google Shape;592;p13"/>
          <p:cNvPicPr preferRelativeResize="0"/>
          <p:nvPr/>
        </p:nvPicPr>
        <p:blipFill rotWithShape="1">
          <a:blip r:embed="rId11">
            <a:alphaModFix/>
          </a:blip>
          <a:srcRect b="0" l="0" r="0" t="0"/>
          <a:stretch/>
        </p:blipFill>
        <p:spPr>
          <a:xfrm>
            <a:off x="4738650" y="2524423"/>
            <a:ext cx="71438" cy="150019"/>
          </a:xfrm>
          <a:prstGeom prst="rect">
            <a:avLst/>
          </a:prstGeom>
          <a:noFill/>
          <a:ln>
            <a:noFill/>
          </a:ln>
        </p:spPr>
      </p:pic>
      <p:sp>
        <p:nvSpPr>
          <p:cNvPr id="593" name="Google Shape;593;p13"/>
          <p:cNvSpPr/>
          <p:nvPr/>
        </p:nvSpPr>
        <p:spPr>
          <a:xfrm>
            <a:off x="4881525" y="2524423"/>
            <a:ext cx="1573606"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lang="en-US" sz="780">
                <a:solidFill>
                  <a:srgbClr val="5A6069"/>
                </a:solidFill>
                <a:latin typeface="Calibri"/>
                <a:ea typeface="Calibri"/>
                <a:cs typeface="Calibri"/>
                <a:sym typeface="Calibri"/>
              </a:rPr>
              <a:t>UDS 0x29 Authentication </a:t>
            </a:r>
            <a:r>
              <a:rPr b="0" i="0" lang="en-US" sz="780" u="none" cap="none" strike="noStrike">
                <a:solidFill>
                  <a:srgbClr val="5A6069"/>
                </a:solidFill>
                <a:latin typeface="Calibri"/>
                <a:ea typeface="Calibri"/>
                <a:cs typeface="Calibri"/>
                <a:sym typeface="Calibri"/>
              </a:rPr>
              <a:t> design</a:t>
            </a:r>
            <a:endParaRPr b="0" i="0" sz="780" u="none" cap="none" strike="noStrike">
              <a:solidFill>
                <a:schemeClr val="dk1"/>
              </a:solidFill>
              <a:latin typeface="Calibri"/>
              <a:ea typeface="Calibri"/>
              <a:cs typeface="Calibri"/>
              <a:sym typeface="Calibri"/>
            </a:endParaRPr>
          </a:p>
        </p:txBody>
      </p:sp>
      <p:pic>
        <p:nvPicPr>
          <p:cNvPr descr="preencoded.png" id="594" name="Google Shape;594;p13"/>
          <p:cNvPicPr preferRelativeResize="0"/>
          <p:nvPr/>
        </p:nvPicPr>
        <p:blipFill rotWithShape="1">
          <a:blip r:embed="rId11">
            <a:alphaModFix/>
          </a:blip>
          <a:srcRect b="0" l="0" r="0" t="0"/>
          <a:stretch/>
        </p:blipFill>
        <p:spPr>
          <a:xfrm>
            <a:off x="4738650" y="2717304"/>
            <a:ext cx="71438" cy="150019"/>
          </a:xfrm>
          <a:prstGeom prst="rect">
            <a:avLst/>
          </a:prstGeom>
          <a:noFill/>
          <a:ln>
            <a:noFill/>
          </a:ln>
        </p:spPr>
      </p:pic>
      <p:sp>
        <p:nvSpPr>
          <p:cNvPr id="595" name="Google Shape;595;p13"/>
          <p:cNvSpPr/>
          <p:nvPr/>
        </p:nvSpPr>
        <p:spPr>
          <a:xfrm>
            <a:off x="4881525" y="2717304"/>
            <a:ext cx="1387255"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End-to-end PQC integration</a:t>
            </a:r>
            <a:endParaRPr b="0" i="0" sz="780" u="none" cap="none" strike="noStrike">
              <a:solidFill>
                <a:schemeClr val="dk1"/>
              </a:solidFill>
              <a:latin typeface="Calibri"/>
              <a:ea typeface="Calibri"/>
              <a:cs typeface="Calibri"/>
              <a:sym typeface="Calibri"/>
            </a:endParaRPr>
          </a:p>
        </p:txBody>
      </p:sp>
      <p:pic>
        <p:nvPicPr>
          <p:cNvPr descr="preencoded.png" id="596" name="Google Shape;596;p13"/>
          <p:cNvPicPr preferRelativeResize="0"/>
          <p:nvPr/>
        </p:nvPicPr>
        <p:blipFill rotWithShape="1">
          <a:blip r:embed="rId12">
            <a:alphaModFix/>
          </a:blip>
          <a:srcRect b="0" l="0" r="0" t="0"/>
          <a:stretch/>
        </p:blipFill>
        <p:spPr>
          <a:xfrm>
            <a:off x="4738650" y="2910185"/>
            <a:ext cx="71438" cy="300038"/>
          </a:xfrm>
          <a:prstGeom prst="rect">
            <a:avLst/>
          </a:prstGeom>
          <a:noFill/>
          <a:ln>
            <a:noFill/>
          </a:ln>
        </p:spPr>
      </p:pic>
      <p:sp>
        <p:nvSpPr>
          <p:cNvPr id="597" name="Google Shape;597;p13"/>
          <p:cNvSpPr/>
          <p:nvPr/>
        </p:nvSpPr>
        <p:spPr>
          <a:xfrm>
            <a:off x="4881525" y="2910185"/>
            <a:ext cx="1643063" cy="300038"/>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lang="en-US" sz="780">
                <a:solidFill>
                  <a:srgbClr val="5A6069"/>
                </a:solidFill>
                <a:latin typeface="Calibri"/>
                <a:ea typeface="Calibri"/>
                <a:cs typeface="Calibri"/>
                <a:sym typeface="Calibri"/>
              </a:rPr>
              <a:t>Full service </a:t>
            </a:r>
            <a:r>
              <a:rPr b="0" i="0" lang="en-US" sz="780" u="none" cap="none" strike="noStrike">
                <a:solidFill>
                  <a:srgbClr val="5A6069"/>
                </a:solidFill>
                <a:latin typeface="Calibri"/>
                <a:ea typeface="Calibri"/>
                <a:cs typeface="Calibri"/>
                <a:sym typeface="Calibri"/>
              </a:rPr>
              <a:t>demonstrator </a:t>
            </a:r>
            <a:endParaRPr b="0" i="0" sz="780" u="none" cap="none" strike="noStrike">
              <a:solidFill>
                <a:schemeClr val="dk1"/>
              </a:solidFill>
              <a:latin typeface="Calibri"/>
              <a:ea typeface="Calibri"/>
              <a:cs typeface="Calibri"/>
              <a:sym typeface="Calibri"/>
            </a:endParaRPr>
          </a:p>
        </p:txBody>
      </p:sp>
      <p:pic>
        <p:nvPicPr>
          <p:cNvPr descr="preencoded.png" id="598" name="Google Shape;598;p13"/>
          <p:cNvPicPr preferRelativeResize="0"/>
          <p:nvPr/>
        </p:nvPicPr>
        <p:blipFill rotWithShape="1">
          <a:blip r:embed="rId13">
            <a:alphaModFix/>
          </a:blip>
          <a:srcRect b="0" l="0" r="0" t="0"/>
          <a:stretch/>
        </p:blipFill>
        <p:spPr>
          <a:xfrm>
            <a:off x="6667463" y="1651099"/>
            <a:ext cx="107156" cy="171450"/>
          </a:xfrm>
          <a:prstGeom prst="rect">
            <a:avLst/>
          </a:prstGeom>
          <a:noFill/>
          <a:ln>
            <a:noFill/>
          </a:ln>
        </p:spPr>
      </p:pic>
      <p:sp>
        <p:nvSpPr>
          <p:cNvPr id="599" name="Google Shape;599;p13"/>
          <p:cNvSpPr/>
          <p:nvPr/>
        </p:nvSpPr>
        <p:spPr>
          <a:xfrm>
            <a:off x="6786507" y="1261765"/>
            <a:ext cx="1928813" cy="75723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3"/>
          <p:cNvSpPr/>
          <p:nvPr/>
        </p:nvSpPr>
        <p:spPr>
          <a:xfrm>
            <a:off x="6786507" y="1261765"/>
            <a:ext cx="1928813" cy="28575"/>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3"/>
          <p:cNvSpPr/>
          <p:nvPr/>
        </p:nvSpPr>
        <p:spPr>
          <a:xfrm>
            <a:off x="6929382" y="1495723"/>
            <a:ext cx="1643063" cy="135731"/>
          </a:xfrm>
          <a:prstGeom prst="rect">
            <a:avLst/>
          </a:prstGeom>
          <a:noFill/>
          <a:ln>
            <a:noFill/>
          </a:ln>
        </p:spPr>
        <p:txBody>
          <a:bodyPr anchorCtr="0" anchor="t" bIns="0" lIns="0" spcFirstLastPara="1" rIns="0" wrap="square" tIns="0">
            <a:spAutoFit/>
          </a:bodyPr>
          <a:lstStyle/>
          <a:p>
            <a:pPr indent="0" lvl="0" marL="0" marR="0" rtl="0" algn="l">
              <a:lnSpc>
                <a:spcPct val="131771"/>
              </a:lnSpc>
              <a:spcBef>
                <a:spcPts val="0"/>
              </a:spcBef>
              <a:spcAft>
                <a:spcPts val="0"/>
              </a:spcAft>
              <a:buClr>
                <a:srgbClr val="4D5259"/>
              </a:buClr>
              <a:buSzPts val="683"/>
              <a:buFont typeface="Calibri"/>
              <a:buNone/>
            </a:pPr>
            <a:r>
              <a:rPr b="1" i="0" lang="en-US" sz="683" u="none" cap="none" strike="noStrike">
                <a:solidFill>
                  <a:srgbClr val="4D5259"/>
                </a:solidFill>
                <a:latin typeface="Calibri"/>
                <a:ea typeface="Calibri"/>
                <a:cs typeface="Calibri"/>
                <a:sym typeface="Calibri"/>
              </a:rPr>
              <a:t>Phase 4</a:t>
            </a:r>
            <a:endParaRPr b="0" i="0" sz="683" u="none" cap="none" strike="noStrike">
              <a:solidFill>
                <a:schemeClr val="dk1"/>
              </a:solidFill>
              <a:latin typeface="Calibri"/>
              <a:ea typeface="Calibri"/>
              <a:cs typeface="Calibri"/>
              <a:sym typeface="Calibri"/>
            </a:endParaRPr>
          </a:p>
        </p:txBody>
      </p:sp>
      <p:sp>
        <p:nvSpPr>
          <p:cNvPr id="602" name="Google Shape;602;p13"/>
          <p:cNvSpPr/>
          <p:nvPr/>
        </p:nvSpPr>
        <p:spPr>
          <a:xfrm>
            <a:off x="6929382" y="1667173"/>
            <a:ext cx="1643063"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4D5259"/>
              </a:buClr>
              <a:buSzPts val="885"/>
              <a:buFont typeface="Calibri"/>
              <a:buNone/>
            </a:pPr>
            <a:r>
              <a:rPr b="1" i="0" lang="en-US" sz="885" u="none" cap="none" strike="noStrike">
                <a:solidFill>
                  <a:srgbClr val="4D5259"/>
                </a:solidFill>
                <a:latin typeface="Calibri"/>
                <a:ea typeface="Calibri"/>
                <a:cs typeface="Calibri"/>
                <a:sym typeface="Calibri"/>
              </a:rPr>
              <a:t>GUI &amp; Finalization</a:t>
            </a:r>
            <a:endParaRPr b="0" i="0" sz="885" u="none" cap="none" strike="noStrike">
              <a:solidFill>
                <a:schemeClr val="dk1"/>
              </a:solidFill>
              <a:latin typeface="Calibri"/>
              <a:ea typeface="Calibri"/>
              <a:cs typeface="Calibri"/>
              <a:sym typeface="Calibri"/>
            </a:endParaRPr>
          </a:p>
        </p:txBody>
      </p:sp>
      <p:pic>
        <p:nvPicPr>
          <p:cNvPr descr="preencoded.png" id="603" name="Google Shape;603;p13"/>
          <p:cNvPicPr preferRelativeResize="0"/>
          <p:nvPr/>
        </p:nvPicPr>
        <p:blipFill rotWithShape="1">
          <a:blip r:embed="rId14">
            <a:alphaModFix/>
          </a:blip>
          <a:srcRect b="0" l="0" r="0" t="0"/>
          <a:stretch/>
        </p:blipFill>
        <p:spPr>
          <a:xfrm>
            <a:off x="7622325" y="2142232"/>
            <a:ext cx="257175" cy="228600"/>
          </a:xfrm>
          <a:prstGeom prst="rect">
            <a:avLst/>
          </a:prstGeom>
          <a:noFill/>
          <a:ln>
            <a:noFill/>
          </a:ln>
        </p:spPr>
      </p:pic>
      <p:pic>
        <p:nvPicPr>
          <p:cNvPr descr="preencoded.png" id="604" name="Google Shape;604;p13"/>
          <p:cNvPicPr preferRelativeResize="0"/>
          <p:nvPr/>
        </p:nvPicPr>
        <p:blipFill rotWithShape="1">
          <a:blip r:embed="rId15">
            <a:alphaModFix/>
          </a:blip>
          <a:srcRect b="0" l="0" r="0" t="0"/>
          <a:stretch/>
        </p:blipFill>
        <p:spPr>
          <a:xfrm>
            <a:off x="6857944" y="2524423"/>
            <a:ext cx="71438" cy="150019"/>
          </a:xfrm>
          <a:prstGeom prst="rect">
            <a:avLst/>
          </a:prstGeom>
          <a:noFill/>
          <a:ln>
            <a:noFill/>
          </a:ln>
        </p:spPr>
      </p:pic>
      <p:sp>
        <p:nvSpPr>
          <p:cNvPr id="605" name="Google Shape;605;p13"/>
          <p:cNvSpPr/>
          <p:nvPr/>
        </p:nvSpPr>
        <p:spPr>
          <a:xfrm>
            <a:off x="7000819" y="2524423"/>
            <a:ext cx="1336467"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TouchGFX interface design</a:t>
            </a:r>
            <a:endParaRPr b="0" i="0" sz="780" u="none" cap="none" strike="noStrike">
              <a:solidFill>
                <a:schemeClr val="dk1"/>
              </a:solidFill>
              <a:latin typeface="Calibri"/>
              <a:ea typeface="Calibri"/>
              <a:cs typeface="Calibri"/>
              <a:sym typeface="Calibri"/>
            </a:endParaRPr>
          </a:p>
        </p:txBody>
      </p:sp>
      <p:pic>
        <p:nvPicPr>
          <p:cNvPr descr="preencoded.png" id="606" name="Google Shape;606;p13"/>
          <p:cNvPicPr preferRelativeResize="0"/>
          <p:nvPr/>
        </p:nvPicPr>
        <p:blipFill rotWithShape="1">
          <a:blip r:embed="rId15">
            <a:alphaModFix/>
          </a:blip>
          <a:srcRect b="0" l="0" r="0" t="0"/>
          <a:stretch/>
        </p:blipFill>
        <p:spPr>
          <a:xfrm>
            <a:off x="6857944" y="2717304"/>
            <a:ext cx="71438" cy="150019"/>
          </a:xfrm>
          <a:prstGeom prst="rect">
            <a:avLst/>
          </a:prstGeom>
          <a:noFill/>
          <a:ln>
            <a:noFill/>
          </a:ln>
        </p:spPr>
      </p:pic>
      <p:sp>
        <p:nvSpPr>
          <p:cNvPr id="607" name="Google Shape;607;p13"/>
          <p:cNvSpPr/>
          <p:nvPr/>
        </p:nvSpPr>
        <p:spPr>
          <a:xfrm>
            <a:off x="7000819" y="2717304"/>
            <a:ext cx="1115820" cy="150019"/>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Thesis documentation</a:t>
            </a:r>
            <a:endParaRPr b="0" i="0" sz="780" u="none" cap="none" strike="noStrike">
              <a:solidFill>
                <a:schemeClr val="dk1"/>
              </a:solidFill>
              <a:latin typeface="Calibri"/>
              <a:ea typeface="Calibri"/>
              <a:cs typeface="Calibri"/>
              <a:sym typeface="Calibri"/>
            </a:endParaRPr>
          </a:p>
        </p:txBody>
      </p:sp>
      <p:pic>
        <p:nvPicPr>
          <p:cNvPr descr="preencoded.png" id="608" name="Google Shape;608;p13"/>
          <p:cNvPicPr preferRelativeResize="0"/>
          <p:nvPr/>
        </p:nvPicPr>
        <p:blipFill rotWithShape="1">
          <a:blip r:embed="rId15">
            <a:alphaModFix/>
          </a:blip>
          <a:srcRect b="0" l="0" r="0" t="0"/>
          <a:stretch/>
        </p:blipFill>
        <p:spPr>
          <a:xfrm>
            <a:off x="6857944" y="2910185"/>
            <a:ext cx="71438" cy="150019"/>
          </a:xfrm>
          <a:prstGeom prst="rect">
            <a:avLst/>
          </a:prstGeom>
          <a:noFill/>
          <a:ln>
            <a:noFill/>
          </a:ln>
        </p:spPr>
      </p:pic>
      <p:sp>
        <p:nvSpPr>
          <p:cNvPr id="609" name="Google Shape;609;p13"/>
          <p:cNvSpPr/>
          <p:nvPr/>
        </p:nvSpPr>
        <p:spPr>
          <a:xfrm>
            <a:off x="7011786" y="2910185"/>
            <a:ext cx="1393500" cy="150000"/>
          </a:xfrm>
          <a:prstGeom prst="rect">
            <a:avLst/>
          </a:prstGeom>
          <a:noFill/>
          <a:ln>
            <a:noFill/>
          </a:ln>
        </p:spPr>
        <p:txBody>
          <a:bodyPr anchorCtr="0" anchor="t" bIns="0" lIns="0" spcFirstLastPara="1" rIns="0" wrap="square" tIns="0">
            <a:spAutoFit/>
          </a:bodyPr>
          <a:lstStyle/>
          <a:p>
            <a:pPr indent="0" lvl="0" marL="0" marR="0" rtl="0" algn="l">
              <a:lnSpc>
                <a:spcPct val="153846"/>
              </a:lnSpc>
              <a:spcBef>
                <a:spcPts val="0"/>
              </a:spcBef>
              <a:spcAft>
                <a:spcPts val="0"/>
              </a:spcAft>
              <a:buClr>
                <a:srgbClr val="5A6069"/>
              </a:buClr>
              <a:buSzPts val="780"/>
              <a:buFont typeface="Calibri"/>
              <a:buNone/>
            </a:pPr>
            <a:r>
              <a:rPr b="0" i="0" lang="en-US" sz="780" u="none" cap="none" strike="noStrike">
                <a:solidFill>
                  <a:srgbClr val="5A6069"/>
                </a:solidFill>
                <a:latin typeface="Calibri"/>
                <a:ea typeface="Calibri"/>
                <a:cs typeface="Calibri"/>
                <a:sym typeface="Calibri"/>
              </a:rPr>
              <a:t>Final defense </a:t>
            </a:r>
            <a:endParaRPr b="0" i="0" sz="78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4" name="Shape 614"/>
        <p:cNvGrpSpPr/>
        <p:nvPr/>
      </p:nvGrpSpPr>
      <p:grpSpPr>
        <a:xfrm>
          <a:off x="0" y="0"/>
          <a:ext cx="0" cy="0"/>
          <a:chOff x="0" y="0"/>
          <a:chExt cx="0" cy="0"/>
        </a:xfrm>
      </p:grpSpPr>
      <p:pic>
        <p:nvPicPr>
          <p:cNvPr descr="preencoded.png" id="615" name="Google Shape;615;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616" name="Google Shape;616;p14"/>
          <p:cNvSpPr/>
          <p:nvPr/>
        </p:nvSpPr>
        <p:spPr>
          <a:xfrm>
            <a:off x="821531" y="438894"/>
            <a:ext cx="3268070"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Summary &amp; Contribution</a:t>
            </a:r>
            <a:endParaRPr b="0" i="0" sz="1602" u="none" cap="none" strike="noStrike">
              <a:solidFill>
                <a:schemeClr val="dk1"/>
              </a:solidFill>
              <a:latin typeface="Calibri"/>
              <a:ea typeface="Calibri"/>
              <a:cs typeface="Calibri"/>
              <a:sym typeface="Calibri"/>
            </a:endParaRPr>
          </a:p>
        </p:txBody>
      </p:sp>
      <p:sp>
        <p:nvSpPr>
          <p:cNvPr id="617" name="Google Shape;617;p14"/>
          <p:cNvSpPr/>
          <p:nvPr/>
        </p:nvSpPr>
        <p:spPr>
          <a:xfrm>
            <a:off x="428625" y="1190327"/>
            <a:ext cx="2762259" cy="2314575"/>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4"/>
          <p:cNvSpPr/>
          <p:nvPr/>
        </p:nvSpPr>
        <p:spPr>
          <a:xfrm>
            <a:off x="428625" y="1190327"/>
            <a:ext cx="2762259" cy="28575"/>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9" name="Google Shape;619;p14"/>
          <p:cNvPicPr preferRelativeResize="0"/>
          <p:nvPr/>
        </p:nvPicPr>
        <p:blipFill rotWithShape="1">
          <a:blip r:embed="rId4">
            <a:alphaModFix/>
          </a:blip>
          <a:srcRect b="0" l="0" r="0" t="0"/>
          <a:stretch/>
        </p:blipFill>
        <p:spPr>
          <a:xfrm>
            <a:off x="1666866" y="1388566"/>
            <a:ext cx="285750" cy="285750"/>
          </a:xfrm>
          <a:prstGeom prst="rect">
            <a:avLst/>
          </a:prstGeom>
          <a:noFill/>
          <a:ln>
            <a:noFill/>
          </a:ln>
        </p:spPr>
      </p:pic>
      <p:sp>
        <p:nvSpPr>
          <p:cNvPr id="620" name="Google Shape;620;p14"/>
          <p:cNvSpPr/>
          <p:nvPr/>
        </p:nvSpPr>
        <p:spPr>
          <a:xfrm>
            <a:off x="571500" y="1829693"/>
            <a:ext cx="2476509" cy="188584"/>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The Threat is Real and Urgent</a:t>
            </a:r>
            <a:endParaRPr b="0" i="0" sz="1090" u="none" cap="none" strike="noStrike">
              <a:solidFill>
                <a:schemeClr val="dk1"/>
              </a:solidFill>
              <a:latin typeface="Calibri"/>
              <a:ea typeface="Calibri"/>
              <a:cs typeface="Calibri"/>
              <a:sym typeface="Calibri"/>
            </a:endParaRPr>
          </a:p>
        </p:txBody>
      </p:sp>
      <p:sp>
        <p:nvSpPr>
          <p:cNvPr id="621" name="Google Shape;621;p14"/>
          <p:cNvSpPr/>
          <p:nvPr/>
        </p:nvSpPr>
        <p:spPr>
          <a:xfrm>
            <a:off x="571500" y="2125433"/>
            <a:ext cx="2476509" cy="6858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Quantum computers will break RSA and ECDSA. Automotive systems with 10-15 year lifetimes are already in the risk window. HNDL attacks make the threat present, not future.</a:t>
            </a:r>
            <a:endParaRPr b="0" i="0" sz="834" u="none" cap="none" strike="noStrike">
              <a:solidFill>
                <a:schemeClr val="dk1"/>
              </a:solidFill>
              <a:latin typeface="Calibri"/>
              <a:ea typeface="Calibri"/>
              <a:cs typeface="Calibri"/>
              <a:sym typeface="Calibri"/>
            </a:endParaRPr>
          </a:p>
        </p:txBody>
      </p:sp>
      <p:sp>
        <p:nvSpPr>
          <p:cNvPr id="622" name="Google Shape;622;p14"/>
          <p:cNvSpPr/>
          <p:nvPr/>
        </p:nvSpPr>
        <p:spPr>
          <a:xfrm>
            <a:off x="3190884" y="1190327"/>
            <a:ext cx="2762259" cy="2314575"/>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4"/>
          <p:cNvSpPr/>
          <p:nvPr/>
        </p:nvSpPr>
        <p:spPr>
          <a:xfrm>
            <a:off x="3190884" y="1190327"/>
            <a:ext cx="2762259" cy="28575"/>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4"/>
          <p:cNvSpPr/>
          <p:nvPr/>
        </p:nvSpPr>
        <p:spPr>
          <a:xfrm>
            <a:off x="3333759" y="1829693"/>
            <a:ext cx="2476509" cy="188584"/>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PQC is the Practical Answer</a:t>
            </a:r>
            <a:endParaRPr b="0" i="0" sz="1090" u="none" cap="none" strike="noStrike">
              <a:solidFill>
                <a:schemeClr val="dk1"/>
              </a:solidFill>
              <a:latin typeface="Calibri"/>
              <a:ea typeface="Calibri"/>
              <a:cs typeface="Calibri"/>
              <a:sym typeface="Calibri"/>
            </a:endParaRPr>
          </a:p>
        </p:txBody>
      </p:sp>
      <p:sp>
        <p:nvSpPr>
          <p:cNvPr id="625" name="Google Shape;625;p14"/>
          <p:cNvSpPr/>
          <p:nvPr/>
        </p:nvSpPr>
        <p:spPr>
          <a:xfrm>
            <a:off x="3333759" y="2125433"/>
            <a:ext cx="2476509" cy="85725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QKD is physically impossible on CAN-bus connected ECUs. NIST-standardized PQC (ML-KEM, ML-DSA, Falcon) runs on existing STM32 hardware with acceptable performance overhead.</a:t>
            </a:r>
            <a:endParaRPr b="0" i="0" sz="834" u="none" cap="none" strike="noStrike">
              <a:solidFill>
                <a:schemeClr val="dk1"/>
              </a:solidFill>
              <a:latin typeface="Calibri"/>
              <a:ea typeface="Calibri"/>
              <a:cs typeface="Calibri"/>
              <a:sym typeface="Calibri"/>
            </a:endParaRPr>
          </a:p>
        </p:txBody>
      </p:sp>
      <p:sp>
        <p:nvSpPr>
          <p:cNvPr id="626" name="Google Shape;626;p14"/>
          <p:cNvSpPr/>
          <p:nvPr/>
        </p:nvSpPr>
        <p:spPr>
          <a:xfrm>
            <a:off x="5953144" y="1190327"/>
            <a:ext cx="2762259" cy="2314575"/>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4"/>
          <p:cNvSpPr/>
          <p:nvPr/>
        </p:nvSpPr>
        <p:spPr>
          <a:xfrm>
            <a:off x="5953144" y="1190327"/>
            <a:ext cx="2762259" cy="28575"/>
          </a:xfrm>
          <a:prstGeom prst="rect">
            <a:avLst/>
          </a:prstGeom>
          <a:solidFill>
            <a:srgbClr val="00A6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8" name="Google Shape;628;p14"/>
          <p:cNvPicPr preferRelativeResize="0"/>
          <p:nvPr/>
        </p:nvPicPr>
        <p:blipFill rotWithShape="1">
          <a:blip r:embed="rId5">
            <a:alphaModFix/>
          </a:blip>
          <a:srcRect b="0" l="0" r="0" t="0"/>
          <a:stretch/>
        </p:blipFill>
        <p:spPr>
          <a:xfrm>
            <a:off x="7191384" y="1388566"/>
            <a:ext cx="285750" cy="285750"/>
          </a:xfrm>
          <a:prstGeom prst="rect">
            <a:avLst/>
          </a:prstGeom>
          <a:noFill/>
          <a:ln>
            <a:noFill/>
          </a:ln>
        </p:spPr>
      </p:pic>
      <p:sp>
        <p:nvSpPr>
          <p:cNvPr id="629" name="Google Shape;629;p14"/>
          <p:cNvSpPr/>
          <p:nvPr/>
        </p:nvSpPr>
        <p:spPr>
          <a:xfrm>
            <a:off x="6096019" y="1829693"/>
            <a:ext cx="2476509" cy="188584"/>
          </a:xfrm>
          <a:prstGeom prst="rect">
            <a:avLst/>
          </a:prstGeom>
          <a:noFill/>
          <a:ln>
            <a:noFill/>
          </a:ln>
        </p:spPr>
        <p:txBody>
          <a:bodyPr anchorCtr="0" anchor="t" bIns="0" lIns="0" spcFirstLastPara="1" rIns="0" wrap="square" tIns="0">
            <a:spAutoFit/>
          </a:bodyPr>
          <a:lstStyle/>
          <a:p>
            <a:pPr indent="0" lvl="0" marL="0" marR="0" rtl="0" algn="l">
              <a:lnSpc>
                <a:spcPct val="137614"/>
              </a:lnSpc>
              <a:spcBef>
                <a:spcPts val="0"/>
              </a:spcBef>
              <a:spcAft>
                <a:spcPts val="0"/>
              </a:spcAft>
              <a:buClr>
                <a:srgbClr val="4D5259"/>
              </a:buClr>
              <a:buSzPts val="1090"/>
              <a:buFont typeface="Calibri"/>
              <a:buNone/>
            </a:pPr>
            <a:r>
              <a:rPr b="1" i="0" lang="en-US" sz="1090" u="none" cap="none" strike="noStrike">
                <a:solidFill>
                  <a:srgbClr val="4D5259"/>
                </a:solidFill>
                <a:latin typeface="Calibri"/>
                <a:ea typeface="Calibri"/>
                <a:cs typeface="Calibri"/>
                <a:sym typeface="Calibri"/>
              </a:rPr>
              <a:t>STM32H7 Delivers Performance</a:t>
            </a:r>
            <a:endParaRPr b="0" i="0" sz="1090" u="none" cap="none" strike="noStrike">
              <a:solidFill>
                <a:schemeClr val="dk1"/>
              </a:solidFill>
              <a:latin typeface="Calibri"/>
              <a:ea typeface="Calibri"/>
              <a:cs typeface="Calibri"/>
              <a:sym typeface="Calibri"/>
            </a:endParaRPr>
          </a:p>
        </p:txBody>
      </p:sp>
      <p:sp>
        <p:nvSpPr>
          <p:cNvPr id="630" name="Google Shape;630;p14"/>
          <p:cNvSpPr/>
          <p:nvPr/>
        </p:nvSpPr>
        <p:spPr>
          <a:xfrm>
            <a:off x="6096019" y="2125433"/>
            <a:ext cx="2476509" cy="68580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5A6069"/>
              </a:buClr>
              <a:buSzPts val="834"/>
              <a:buFont typeface="Calibri"/>
              <a:buNone/>
            </a:pPr>
            <a:r>
              <a:rPr b="0" i="0" lang="en-US" sz="834" u="none" cap="none" strike="noStrike">
                <a:solidFill>
                  <a:srgbClr val="5A6069"/>
                </a:solidFill>
                <a:latin typeface="Calibri"/>
                <a:ea typeface="Calibri"/>
                <a:cs typeface="Calibri"/>
                <a:sym typeface="Calibri"/>
              </a:rPr>
              <a:t>Initial benchmarks show STM32H7 outperforms dedicated automotive MCUs from published literature — enabling real-time PQC for automotive OTA updates.</a:t>
            </a:r>
            <a:endParaRPr b="0" i="0" sz="834" u="none" cap="none" strike="noStrike">
              <a:solidFill>
                <a:schemeClr val="dk1"/>
              </a:solidFill>
              <a:latin typeface="Calibri"/>
              <a:ea typeface="Calibri"/>
              <a:cs typeface="Calibri"/>
              <a:sym typeface="Calibri"/>
            </a:endParaRPr>
          </a:p>
        </p:txBody>
      </p:sp>
      <p:sp>
        <p:nvSpPr>
          <p:cNvPr id="631" name="Google Shape;631;p14"/>
          <p:cNvSpPr/>
          <p:nvPr/>
        </p:nvSpPr>
        <p:spPr>
          <a:xfrm>
            <a:off x="428625" y="3829050"/>
            <a:ext cx="8286750" cy="514350"/>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2" name="Google Shape;632;p14"/>
          <p:cNvPicPr preferRelativeResize="0"/>
          <p:nvPr/>
        </p:nvPicPr>
        <p:blipFill rotWithShape="1">
          <a:blip r:embed="rId6">
            <a:alphaModFix/>
          </a:blip>
          <a:srcRect b="0" l="0" r="0" t="0"/>
          <a:stretch/>
        </p:blipFill>
        <p:spPr>
          <a:xfrm>
            <a:off x="642938" y="4064794"/>
            <a:ext cx="112514" cy="128588"/>
          </a:xfrm>
          <a:prstGeom prst="rect">
            <a:avLst/>
          </a:prstGeom>
          <a:noFill/>
          <a:ln>
            <a:noFill/>
          </a:ln>
        </p:spPr>
      </p:pic>
      <p:sp>
        <p:nvSpPr>
          <p:cNvPr id="633" name="Google Shape;633;p14"/>
          <p:cNvSpPr/>
          <p:nvPr/>
        </p:nvSpPr>
        <p:spPr>
          <a:xfrm>
            <a:off x="862608" y="3946922"/>
            <a:ext cx="7852767" cy="364331"/>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FFFFFF"/>
              </a:buClr>
              <a:buSzPts val="885"/>
              <a:buFont typeface="Calibri"/>
              <a:buNone/>
            </a:pPr>
            <a:r>
              <a:rPr b="1" i="0" lang="en-US" sz="885" u="none" cap="none" strike="noStrike">
                <a:solidFill>
                  <a:srgbClr val="FFFFFF"/>
                </a:solidFill>
                <a:latin typeface="Calibri"/>
                <a:ea typeface="Calibri"/>
                <a:cs typeface="Calibri"/>
                <a:sym typeface="Calibri"/>
              </a:rPr>
              <a:t>Next milestone: Complete optimization study and produce benchmark report → Algorithm selection for OTA application layer.</a:t>
            </a:r>
            <a:endParaRPr b="0" i="0" sz="885" u="none" cap="none" strike="noStrike">
              <a:solidFill>
                <a:schemeClr val="dk1"/>
              </a:solidFill>
              <a:latin typeface="Calibri"/>
              <a:ea typeface="Calibri"/>
              <a:cs typeface="Calibri"/>
              <a:sym typeface="Calibri"/>
            </a:endParaRPr>
          </a:p>
        </p:txBody>
      </p:sp>
      <p:sp>
        <p:nvSpPr>
          <p:cNvPr id="634" name="Google Shape;634;p14"/>
          <p:cNvSpPr/>
          <p:nvPr/>
        </p:nvSpPr>
        <p:spPr>
          <a:xfrm>
            <a:off x="428625" y="4807744"/>
            <a:ext cx="1344978"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888888"/>
              </a:buClr>
              <a:buSzPts val="727"/>
              <a:buFont typeface="Calibri"/>
              <a:buNone/>
            </a:pPr>
            <a:r>
              <a:rPr b="0" i="0" lang="en-US" sz="727" u="none" cap="none" strike="noStrike">
                <a:solidFill>
                  <a:srgbClr val="888888"/>
                </a:solidFill>
                <a:latin typeface="Calibri"/>
                <a:ea typeface="Calibri"/>
                <a:cs typeface="Calibri"/>
                <a:sym typeface="Calibri"/>
              </a:rPr>
              <a:t>2024 | ACTIA TEMPLATE | 14</a:t>
            </a:r>
            <a:endParaRPr b="0" i="0" sz="727" u="none" cap="none" strike="noStrike">
              <a:solidFill>
                <a:schemeClr val="dk1"/>
              </a:solidFill>
              <a:latin typeface="Calibri"/>
              <a:ea typeface="Calibri"/>
              <a:cs typeface="Calibri"/>
              <a:sym typeface="Calibri"/>
            </a:endParaRPr>
          </a:p>
        </p:txBody>
      </p:sp>
      <p:sp>
        <p:nvSpPr>
          <p:cNvPr id="635" name="Google Shape;635;p14"/>
          <p:cNvSpPr/>
          <p:nvPr/>
        </p:nvSpPr>
        <p:spPr>
          <a:xfrm>
            <a:off x="7990982" y="4709517"/>
            <a:ext cx="552943"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4D5259"/>
              </a:buClr>
              <a:buSzPts val="1193"/>
              <a:buFont typeface="Calibri"/>
              <a:buNone/>
            </a:pPr>
            <a:r>
              <a:rPr b="1" i="0" lang="en-US" sz="1193" u="none" cap="none" strike="noStrike">
                <a:solidFill>
                  <a:srgbClr val="4D5259"/>
                </a:solidFill>
                <a:latin typeface="Calibri"/>
                <a:ea typeface="Calibri"/>
                <a:cs typeface="Calibri"/>
                <a:sym typeface="Calibri"/>
              </a:rPr>
              <a:t>ACTIA</a:t>
            </a:r>
            <a:endParaRPr b="0" i="0" sz="1193" u="none" cap="none" strike="noStrike">
              <a:solidFill>
                <a:schemeClr val="dk1"/>
              </a:solidFill>
              <a:latin typeface="Calibri"/>
              <a:ea typeface="Calibri"/>
              <a:cs typeface="Calibri"/>
              <a:sym typeface="Calibri"/>
            </a:endParaRPr>
          </a:p>
        </p:txBody>
      </p:sp>
      <p:pic>
        <p:nvPicPr>
          <p:cNvPr descr="preencoded.png" id="636" name="Google Shape;636;p14"/>
          <p:cNvPicPr preferRelativeResize="0"/>
          <p:nvPr/>
        </p:nvPicPr>
        <p:blipFill rotWithShape="1">
          <a:blip r:embed="rId7">
            <a:alphaModFix/>
          </a:blip>
          <a:srcRect b="0" l="0" r="0" t="0"/>
          <a:stretch/>
        </p:blipFill>
        <p:spPr>
          <a:xfrm>
            <a:off x="8543925" y="4741664"/>
            <a:ext cx="171450" cy="171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descr="preencoded.png" id="642" name="Google Shape;642;p15"/>
          <p:cNvPicPr preferRelativeResize="0"/>
          <p:nvPr/>
        </p:nvPicPr>
        <p:blipFill rotWithShape="1">
          <a:blip r:embed="rId3">
            <a:alphaModFix/>
          </a:blip>
          <a:srcRect b="0" l="0" r="0" t="0"/>
          <a:stretch/>
        </p:blipFill>
        <p:spPr>
          <a:xfrm>
            <a:off x="0" y="-7144"/>
            <a:ext cx="9144000" cy="5143500"/>
          </a:xfrm>
          <a:prstGeom prst="rect">
            <a:avLst/>
          </a:prstGeom>
          <a:noFill/>
          <a:ln>
            <a:noFill/>
          </a:ln>
        </p:spPr>
      </p:pic>
      <p:pic>
        <p:nvPicPr>
          <p:cNvPr descr="preencoded.png" id="643" name="Google Shape;643;p15"/>
          <p:cNvPicPr preferRelativeResize="0"/>
          <p:nvPr/>
        </p:nvPicPr>
        <p:blipFill rotWithShape="1">
          <a:blip r:embed="rId4">
            <a:alphaModFix/>
          </a:blip>
          <a:srcRect b="0" l="0" r="0" t="0"/>
          <a:stretch/>
        </p:blipFill>
        <p:spPr>
          <a:xfrm rot="-900000">
            <a:off x="2857500" y="2636044"/>
            <a:ext cx="2857500" cy="2857500"/>
          </a:xfrm>
          <a:prstGeom prst="rect">
            <a:avLst/>
          </a:prstGeom>
          <a:noFill/>
          <a:ln>
            <a:noFill/>
          </a:ln>
        </p:spPr>
      </p:pic>
      <p:sp>
        <p:nvSpPr>
          <p:cNvPr id="644" name="Google Shape;644;p15"/>
          <p:cNvSpPr/>
          <p:nvPr/>
        </p:nvSpPr>
        <p:spPr>
          <a:xfrm>
            <a:off x="821531" y="431750"/>
            <a:ext cx="3135269"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4D5259"/>
              </a:buClr>
              <a:buSzPts val="1602"/>
              <a:buFont typeface="Calibri"/>
              <a:buNone/>
            </a:pPr>
            <a:r>
              <a:rPr b="1" i="0" lang="en-US" sz="1602" u="none" cap="none" strike="noStrike">
                <a:solidFill>
                  <a:srgbClr val="4D5259"/>
                </a:solidFill>
                <a:latin typeface="Calibri"/>
                <a:ea typeface="Calibri"/>
                <a:cs typeface="Calibri"/>
                <a:sym typeface="Calibri"/>
              </a:rPr>
              <a:t>Thank You — Questions?</a:t>
            </a:r>
            <a:endParaRPr b="0" i="0" sz="1602" u="none" cap="none" strike="noStrike">
              <a:solidFill>
                <a:schemeClr val="dk1"/>
              </a:solidFill>
              <a:latin typeface="Calibri"/>
              <a:ea typeface="Calibri"/>
              <a:cs typeface="Calibri"/>
              <a:sym typeface="Calibri"/>
            </a:endParaRPr>
          </a:p>
        </p:txBody>
      </p:sp>
      <p:sp>
        <p:nvSpPr>
          <p:cNvPr id="645" name="Google Shape;645;p15"/>
          <p:cNvSpPr/>
          <p:nvPr/>
        </p:nvSpPr>
        <p:spPr>
          <a:xfrm>
            <a:off x="285750" y="1326059"/>
            <a:ext cx="4643438" cy="623292"/>
          </a:xfrm>
          <a:prstGeom prst="rect">
            <a:avLst/>
          </a:prstGeom>
          <a:noFill/>
          <a:ln>
            <a:noFill/>
          </a:ln>
        </p:spPr>
        <p:txBody>
          <a:bodyPr anchorCtr="0" anchor="t" bIns="0" lIns="0" spcFirstLastPara="1" rIns="0" wrap="square" tIns="0">
            <a:spAutoFit/>
          </a:bodyPr>
          <a:lstStyle/>
          <a:p>
            <a:pPr indent="0" lvl="0" marL="0" marR="0" rtl="0" algn="l">
              <a:lnSpc>
                <a:spcPct val="130580"/>
              </a:lnSpc>
              <a:spcBef>
                <a:spcPts val="0"/>
              </a:spcBef>
              <a:spcAft>
                <a:spcPts val="0"/>
              </a:spcAft>
              <a:buClr>
                <a:srgbClr val="4D5259"/>
              </a:buClr>
              <a:buSzPts val="3293"/>
              <a:buFont typeface="Calibri"/>
              <a:buNone/>
            </a:pPr>
            <a:r>
              <a:rPr b="1" i="0" lang="en-US" sz="3293" u="none" cap="none" strike="noStrike">
                <a:solidFill>
                  <a:srgbClr val="4D5259"/>
                </a:solidFill>
                <a:latin typeface="Calibri"/>
                <a:ea typeface="Calibri"/>
                <a:cs typeface="Calibri"/>
                <a:sym typeface="Calibri"/>
              </a:rPr>
              <a:t>Thank You!</a:t>
            </a:r>
            <a:endParaRPr b="0" i="0" sz="3293" u="none" cap="none" strike="noStrike">
              <a:solidFill>
                <a:schemeClr val="dk1"/>
              </a:solidFill>
              <a:latin typeface="Calibri"/>
              <a:ea typeface="Calibri"/>
              <a:cs typeface="Calibri"/>
              <a:sym typeface="Calibri"/>
            </a:endParaRPr>
          </a:p>
        </p:txBody>
      </p:sp>
      <p:sp>
        <p:nvSpPr>
          <p:cNvPr id="646" name="Google Shape;646;p15"/>
          <p:cNvSpPr/>
          <p:nvPr/>
        </p:nvSpPr>
        <p:spPr>
          <a:xfrm>
            <a:off x="285750" y="2092226"/>
            <a:ext cx="4643438" cy="312539"/>
          </a:xfrm>
          <a:prstGeom prst="rect">
            <a:avLst/>
          </a:prstGeom>
          <a:noFill/>
          <a:ln>
            <a:noFill/>
          </a:ln>
        </p:spPr>
        <p:txBody>
          <a:bodyPr anchorCtr="0" anchor="t" bIns="0" lIns="0" spcFirstLastPara="1" rIns="0" wrap="square" tIns="0">
            <a:spAutoFit/>
          </a:bodyPr>
          <a:lstStyle/>
          <a:p>
            <a:pPr indent="0" lvl="0" marL="0" marR="0" rtl="0" algn="l">
              <a:lnSpc>
                <a:spcPct val="129107"/>
              </a:lnSpc>
              <a:spcBef>
                <a:spcPts val="0"/>
              </a:spcBef>
              <a:spcAft>
                <a:spcPts val="0"/>
              </a:spcAft>
              <a:buClr>
                <a:srgbClr val="00A651"/>
              </a:buClr>
              <a:buSzPts val="1704"/>
              <a:buFont typeface="Calibri"/>
              <a:buNone/>
            </a:pPr>
            <a:r>
              <a:rPr lang="en-US" sz="1704">
                <a:solidFill>
                  <a:srgbClr val="00A651"/>
                </a:solidFill>
                <a:latin typeface="Calibri"/>
                <a:ea typeface="Calibri"/>
                <a:cs typeface="Calibri"/>
                <a:sym typeface="Calibri"/>
              </a:rPr>
              <a:t>Ghaith Ben Brahim </a:t>
            </a:r>
            <a:endParaRPr b="0" i="0" sz="1704" u="none" cap="none" strike="noStrike">
              <a:solidFill>
                <a:schemeClr val="dk1"/>
              </a:solidFill>
              <a:latin typeface="Calibri"/>
              <a:ea typeface="Calibri"/>
              <a:cs typeface="Calibri"/>
              <a:sym typeface="Calibri"/>
            </a:endParaRPr>
          </a:p>
        </p:txBody>
      </p:sp>
      <p:pic>
        <p:nvPicPr>
          <p:cNvPr descr="preencoded.png" id="647" name="Google Shape;647;p15"/>
          <p:cNvPicPr preferRelativeResize="0"/>
          <p:nvPr/>
        </p:nvPicPr>
        <p:blipFill rotWithShape="1">
          <a:blip r:embed="rId5">
            <a:alphaModFix/>
          </a:blip>
          <a:srcRect b="0" l="0" r="0" t="0"/>
          <a:stretch/>
        </p:blipFill>
        <p:spPr>
          <a:xfrm>
            <a:off x="285750" y="2702123"/>
            <a:ext cx="285750" cy="171450"/>
          </a:xfrm>
          <a:prstGeom prst="rect">
            <a:avLst/>
          </a:prstGeom>
          <a:noFill/>
          <a:ln>
            <a:noFill/>
          </a:ln>
        </p:spPr>
      </p:pic>
      <p:sp>
        <p:nvSpPr>
          <p:cNvPr id="648" name="Google Shape;648;p15"/>
          <p:cNvSpPr/>
          <p:nvPr/>
        </p:nvSpPr>
        <p:spPr>
          <a:xfrm>
            <a:off x="678649" y="2690525"/>
            <a:ext cx="2021400" cy="1947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Clr>
                <a:srgbClr val="4D5259"/>
              </a:buClr>
              <a:buSzPts val="1050"/>
              <a:buFont typeface="Calibri"/>
              <a:buNone/>
            </a:pPr>
            <a:r>
              <a:rPr lang="en-US" sz="1050">
                <a:solidFill>
                  <a:srgbClr val="4D5259"/>
                </a:solidFill>
                <a:latin typeface="Calibri"/>
                <a:ea typeface="Calibri"/>
                <a:cs typeface="Calibri"/>
                <a:sym typeface="Calibri"/>
              </a:rPr>
              <a:t>ghaith.benbrahim@insat.ucar.tn</a:t>
            </a:r>
            <a:endParaRPr b="0" i="0" sz="1050" u="none" cap="none" strike="noStrike">
              <a:solidFill>
                <a:schemeClr val="dk1"/>
              </a:solidFill>
              <a:latin typeface="Calibri"/>
              <a:ea typeface="Calibri"/>
              <a:cs typeface="Calibri"/>
              <a:sym typeface="Calibri"/>
            </a:endParaRPr>
          </a:p>
        </p:txBody>
      </p:sp>
      <p:pic>
        <p:nvPicPr>
          <p:cNvPr descr="preencoded.png" id="649" name="Google Shape;649;p15"/>
          <p:cNvPicPr preferRelativeResize="0"/>
          <p:nvPr/>
        </p:nvPicPr>
        <p:blipFill rotWithShape="1">
          <a:blip r:embed="rId6">
            <a:alphaModFix/>
          </a:blip>
          <a:srcRect b="0" l="0" r="0" t="0"/>
          <a:stretch/>
        </p:blipFill>
        <p:spPr>
          <a:xfrm>
            <a:off x="285750" y="2968228"/>
            <a:ext cx="285750" cy="171450"/>
          </a:xfrm>
          <a:prstGeom prst="rect">
            <a:avLst/>
          </a:prstGeom>
          <a:noFill/>
          <a:ln>
            <a:noFill/>
          </a:ln>
        </p:spPr>
      </p:pic>
      <p:sp>
        <p:nvSpPr>
          <p:cNvPr id="650" name="Google Shape;650;p15"/>
          <p:cNvSpPr/>
          <p:nvPr/>
        </p:nvSpPr>
        <p:spPr>
          <a:xfrm>
            <a:off x="678656" y="2956620"/>
            <a:ext cx="2917943" cy="194667"/>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Clr>
                <a:srgbClr val="4D5259"/>
              </a:buClr>
              <a:buSzPts val="1050"/>
              <a:buFont typeface="Calibri"/>
              <a:buNone/>
            </a:pPr>
            <a:r>
              <a:rPr lang="en-US" sz="1050">
                <a:solidFill>
                  <a:srgbClr val="4D5259"/>
                </a:solidFill>
                <a:latin typeface="Calibri"/>
                <a:ea typeface="Calibri"/>
                <a:cs typeface="Calibri"/>
                <a:sym typeface="Calibri"/>
              </a:rPr>
              <a:t>https://github.com/GhaithhBenbrahim</a:t>
            </a:r>
            <a:endParaRPr b="0" i="0" sz="1050" u="none" cap="none" strike="noStrike">
              <a:solidFill>
                <a:schemeClr val="dk1"/>
              </a:solidFill>
              <a:latin typeface="Calibri"/>
              <a:ea typeface="Calibri"/>
              <a:cs typeface="Calibri"/>
              <a:sym typeface="Calibri"/>
            </a:endParaRPr>
          </a:p>
        </p:txBody>
      </p:sp>
      <p:pic>
        <p:nvPicPr>
          <p:cNvPr descr="preencoded.png" id="651" name="Google Shape;651;p15"/>
          <p:cNvPicPr preferRelativeResize="0"/>
          <p:nvPr/>
        </p:nvPicPr>
        <p:blipFill rotWithShape="1">
          <a:blip r:embed="rId7">
            <a:alphaModFix/>
          </a:blip>
          <a:srcRect b="0" l="0" r="0" t="0"/>
          <a:stretch/>
        </p:blipFill>
        <p:spPr>
          <a:xfrm>
            <a:off x="285750" y="3234333"/>
            <a:ext cx="285750" cy="171450"/>
          </a:xfrm>
          <a:prstGeom prst="rect">
            <a:avLst/>
          </a:prstGeom>
          <a:noFill/>
          <a:ln>
            <a:noFill/>
          </a:ln>
        </p:spPr>
      </p:pic>
      <p:sp>
        <p:nvSpPr>
          <p:cNvPr id="652" name="Google Shape;652;p15"/>
          <p:cNvSpPr/>
          <p:nvPr/>
        </p:nvSpPr>
        <p:spPr>
          <a:xfrm>
            <a:off x="678656" y="3222724"/>
            <a:ext cx="2812210" cy="194667"/>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Clr>
                <a:srgbClr val="4D5259"/>
              </a:buClr>
              <a:buSzPts val="1050"/>
              <a:buFont typeface="Calibri"/>
              <a:buNone/>
            </a:pPr>
            <a:r>
              <a:rPr b="0" i="0" lang="en-US" sz="1050" u="none" cap="none" strike="noStrike">
                <a:solidFill>
                  <a:srgbClr val="4D5259"/>
                </a:solidFill>
                <a:latin typeface="Calibri"/>
                <a:ea typeface="Calibri"/>
                <a:cs typeface="Calibri"/>
                <a:sym typeface="Calibri"/>
              </a:rPr>
              <a:t>Engineering End-of-Study Internship 202</a:t>
            </a:r>
            <a:r>
              <a:rPr lang="en-US" sz="1050">
                <a:solidFill>
                  <a:srgbClr val="4D5259"/>
                </a:solidFill>
                <a:latin typeface="Calibri"/>
                <a:ea typeface="Calibri"/>
                <a:cs typeface="Calibri"/>
                <a:sym typeface="Calibri"/>
              </a:rPr>
              <a:t>6</a:t>
            </a:r>
            <a:endParaRPr b="0" i="0" sz="1050" u="none" cap="none" strike="noStrike">
              <a:solidFill>
                <a:schemeClr val="dk1"/>
              </a:solidFill>
              <a:latin typeface="Calibri"/>
              <a:ea typeface="Calibri"/>
              <a:cs typeface="Calibri"/>
              <a:sym typeface="Calibri"/>
            </a:endParaRPr>
          </a:p>
        </p:txBody>
      </p:sp>
      <p:sp>
        <p:nvSpPr>
          <p:cNvPr id="653" name="Google Shape;653;p15"/>
          <p:cNvSpPr/>
          <p:nvPr/>
        </p:nvSpPr>
        <p:spPr>
          <a:xfrm>
            <a:off x="5357813" y="1326059"/>
            <a:ext cx="3500438" cy="2091333"/>
          </a:xfrm>
          <a:prstGeom prst="rect">
            <a:avLst/>
          </a:prstGeom>
          <a:solidFill>
            <a:srgbClr val="F9F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5"/>
          <p:cNvSpPr/>
          <p:nvPr/>
        </p:nvSpPr>
        <p:spPr>
          <a:xfrm>
            <a:off x="5357813" y="1326059"/>
            <a:ext cx="3500438" cy="28575"/>
          </a:xfrm>
          <a:prstGeom prst="rect">
            <a:avLst/>
          </a:prstGeom>
          <a:solidFill>
            <a:srgbClr val="4D52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5"/>
          <p:cNvSpPr/>
          <p:nvPr/>
        </p:nvSpPr>
        <p:spPr>
          <a:xfrm>
            <a:off x="5500688" y="1468934"/>
            <a:ext cx="3214688"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4D5259"/>
              </a:buClr>
              <a:buSzPts val="987"/>
              <a:buFont typeface="Calibri"/>
              <a:buNone/>
            </a:pPr>
            <a:r>
              <a:rPr b="1" i="0" lang="en-US" sz="987" u="none" cap="none" strike="noStrike">
                <a:solidFill>
                  <a:srgbClr val="4D5259"/>
                </a:solidFill>
                <a:latin typeface="Calibri"/>
                <a:ea typeface="Calibri"/>
                <a:cs typeface="Calibri"/>
                <a:sym typeface="Calibri"/>
              </a:rPr>
              <a:t>Key References</a:t>
            </a:r>
            <a:endParaRPr b="0" i="0" sz="987" u="none" cap="none" strike="noStrike">
              <a:solidFill>
                <a:schemeClr val="dk1"/>
              </a:solidFill>
              <a:latin typeface="Calibri"/>
              <a:ea typeface="Calibri"/>
              <a:cs typeface="Calibri"/>
              <a:sym typeface="Calibri"/>
            </a:endParaRPr>
          </a:p>
        </p:txBody>
      </p:sp>
      <p:sp>
        <p:nvSpPr>
          <p:cNvPr id="656" name="Google Shape;656;p15"/>
          <p:cNvSpPr/>
          <p:nvPr/>
        </p:nvSpPr>
        <p:spPr>
          <a:xfrm>
            <a:off x="5500688" y="1749326"/>
            <a:ext cx="3214688" cy="398599"/>
          </a:xfrm>
          <a:prstGeom prst="rect">
            <a:avLst/>
          </a:prstGeom>
          <a:noFill/>
          <a:ln>
            <a:noFill/>
          </a:ln>
        </p:spPr>
        <p:txBody>
          <a:bodyPr anchorCtr="0" anchor="t" bIns="0" lIns="0" spcFirstLastPara="1" rIns="0" wrap="square" tIns="85075">
            <a:spAutoFit/>
          </a:bodyPr>
          <a:lstStyle/>
          <a:p>
            <a:pPr indent="0" lvl="0" marL="0" marR="0" rtl="0" algn="l">
              <a:lnSpc>
                <a:spcPct val="178817"/>
              </a:lnSpc>
              <a:spcBef>
                <a:spcPts val="0"/>
              </a:spcBef>
              <a:spcAft>
                <a:spcPts val="0"/>
              </a:spcAft>
              <a:buClr>
                <a:srgbClr val="5A6069"/>
              </a:buClr>
              <a:buSzPts val="683"/>
              <a:buFont typeface="Calibri"/>
              <a:buNone/>
            </a:pPr>
            <a:r>
              <a:rPr b="1" i="0" lang="en-US" sz="683" u="none" cap="none" strike="noStrike">
                <a:solidFill>
                  <a:srgbClr val="5A6069"/>
                </a:solidFill>
                <a:latin typeface="Calibri"/>
                <a:ea typeface="Calibri"/>
                <a:cs typeface="Calibri"/>
                <a:sym typeface="Calibri"/>
              </a:rPr>
              <a:t>NIST FIPS 203/204/206 (2024):</a:t>
            </a:r>
            <a:r>
              <a:rPr b="0" i="0" lang="en-US" sz="727" u="none" cap="none" strike="noStrike">
                <a:solidFill>
                  <a:srgbClr val="5A6069"/>
                </a:solidFill>
                <a:latin typeface="Calibri"/>
                <a:ea typeface="Calibri"/>
                <a:cs typeface="Calibri"/>
                <a:sym typeface="Calibri"/>
              </a:rPr>
              <a:t> The official standards for ML-KEM, ML-DSA, and FN-DSA.</a:t>
            </a:r>
            <a:endParaRPr b="0" i="0" sz="727" u="none" cap="none" strike="noStrike">
              <a:solidFill>
                <a:schemeClr val="dk1"/>
              </a:solidFill>
              <a:latin typeface="Calibri"/>
              <a:ea typeface="Calibri"/>
              <a:cs typeface="Calibri"/>
              <a:sym typeface="Calibri"/>
            </a:endParaRPr>
          </a:p>
        </p:txBody>
      </p:sp>
      <p:sp>
        <p:nvSpPr>
          <p:cNvPr id="657" name="Google Shape;657;p15"/>
          <p:cNvSpPr/>
          <p:nvPr/>
        </p:nvSpPr>
        <p:spPr>
          <a:xfrm>
            <a:off x="5500688" y="2147925"/>
            <a:ext cx="3214688" cy="398599"/>
          </a:xfrm>
          <a:prstGeom prst="rect">
            <a:avLst/>
          </a:prstGeom>
          <a:noFill/>
          <a:ln>
            <a:noFill/>
          </a:ln>
        </p:spPr>
        <p:txBody>
          <a:bodyPr anchorCtr="0" anchor="t" bIns="0" lIns="0" spcFirstLastPara="1" rIns="0" wrap="square" tIns="85075">
            <a:spAutoFit/>
          </a:bodyPr>
          <a:lstStyle/>
          <a:p>
            <a:pPr indent="0" lvl="0" marL="0" marR="0" rtl="0" algn="l">
              <a:lnSpc>
                <a:spcPct val="178817"/>
              </a:lnSpc>
              <a:spcBef>
                <a:spcPts val="0"/>
              </a:spcBef>
              <a:spcAft>
                <a:spcPts val="0"/>
              </a:spcAft>
              <a:buClr>
                <a:srgbClr val="5A6069"/>
              </a:buClr>
              <a:buSzPts val="683"/>
              <a:buFont typeface="Calibri"/>
              <a:buNone/>
            </a:pPr>
            <a:r>
              <a:rPr b="1" i="0" lang="en-US" sz="683" u="none" cap="none" strike="noStrike">
                <a:solidFill>
                  <a:srgbClr val="5A6069"/>
                </a:solidFill>
                <a:latin typeface="Calibri"/>
                <a:ea typeface="Calibri"/>
                <a:cs typeface="Calibri"/>
                <a:sym typeface="Calibri"/>
              </a:rPr>
              <a:t>IAV Paper (2024):</a:t>
            </a:r>
            <a:r>
              <a:rPr b="0" i="0" lang="en-US" sz="727" u="none" cap="none" strike="noStrike">
                <a:solidFill>
                  <a:srgbClr val="5A6069"/>
                </a:solidFill>
                <a:latin typeface="Calibri"/>
                <a:ea typeface="Calibri"/>
                <a:cs typeface="Calibri"/>
                <a:sym typeface="Calibri"/>
              </a:rPr>
              <a:t> "Crypto-Agility in Automotive Real-Time Systems" — Benchmarks on AURIX TC397.</a:t>
            </a:r>
            <a:endParaRPr b="0" i="0" sz="727" u="none" cap="none" strike="noStrike">
              <a:solidFill>
                <a:schemeClr val="dk1"/>
              </a:solidFill>
              <a:latin typeface="Calibri"/>
              <a:ea typeface="Calibri"/>
              <a:cs typeface="Calibri"/>
              <a:sym typeface="Calibri"/>
            </a:endParaRPr>
          </a:p>
        </p:txBody>
      </p:sp>
      <p:sp>
        <p:nvSpPr>
          <p:cNvPr id="658" name="Google Shape;658;p15"/>
          <p:cNvSpPr/>
          <p:nvPr/>
        </p:nvSpPr>
        <p:spPr>
          <a:xfrm>
            <a:off x="5500688" y="2546524"/>
            <a:ext cx="3214688" cy="398599"/>
          </a:xfrm>
          <a:prstGeom prst="rect">
            <a:avLst/>
          </a:prstGeom>
          <a:noFill/>
          <a:ln>
            <a:noFill/>
          </a:ln>
        </p:spPr>
        <p:txBody>
          <a:bodyPr anchorCtr="0" anchor="t" bIns="0" lIns="0" spcFirstLastPara="1" rIns="0" wrap="square" tIns="85075">
            <a:spAutoFit/>
          </a:bodyPr>
          <a:lstStyle/>
          <a:p>
            <a:pPr indent="0" lvl="0" marL="0" marR="0" rtl="0" algn="l">
              <a:lnSpc>
                <a:spcPct val="178817"/>
              </a:lnSpc>
              <a:spcBef>
                <a:spcPts val="0"/>
              </a:spcBef>
              <a:spcAft>
                <a:spcPts val="0"/>
              </a:spcAft>
              <a:buClr>
                <a:srgbClr val="5A6069"/>
              </a:buClr>
              <a:buSzPts val="683"/>
              <a:buFont typeface="Calibri"/>
              <a:buNone/>
            </a:pPr>
            <a:r>
              <a:rPr b="1" i="0" lang="en-US" sz="683" u="none" cap="none" strike="noStrike">
                <a:solidFill>
                  <a:srgbClr val="5A6069"/>
                </a:solidFill>
                <a:latin typeface="Calibri"/>
                <a:ea typeface="Calibri"/>
                <a:cs typeface="Calibri"/>
                <a:sym typeface="Calibri"/>
              </a:rPr>
              <a:t>PQ-CAN Paper (2025):</a:t>
            </a:r>
            <a:r>
              <a:rPr b="0" i="0" lang="en-US" sz="727" u="none" cap="none" strike="noStrike">
                <a:solidFill>
                  <a:srgbClr val="5A6069"/>
                </a:solidFill>
                <a:latin typeface="Calibri"/>
                <a:ea typeface="Calibri"/>
                <a:cs typeface="Calibri"/>
                <a:sym typeface="Calibri"/>
              </a:rPr>
              <a:t> arXiv 2504.10730 — Secure communication protocols for CAN bus.</a:t>
            </a:r>
            <a:endParaRPr b="0" i="0" sz="727" u="none" cap="none" strike="noStrike">
              <a:solidFill>
                <a:schemeClr val="dk1"/>
              </a:solidFill>
              <a:latin typeface="Calibri"/>
              <a:ea typeface="Calibri"/>
              <a:cs typeface="Calibri"/>
              <a:sym typeface="Calibri"/>
            </a:endParaRPr>
          </a:p>
        </p:txBody>
      </p:sp>
      <p:sp>
        <p:nvSpPr>
          <p:cNvPr id="659" name="Google Shape;659;p15"/>
          <p:cNvSpPr/>
          <p:nvPr/>
        </p:nvSpPr>
        <p:spPr>
          <a:xfrm>
            <a:off x="5500688" y="2945123"/>
            <a:ext cx="3214688" cy="398599"/>
          </a:xfrm>
          <a:prstGeom prst="rect">
            <a:avLst/>
          </a:prstGeom>
          <a:noFill/>
          <a:ln>
            <a:noFill/>
          </a:ln>
        </p:spPr>
        <p:txBody>
          <a:bodyPr anchorCtr="0" anchor="t" bIns="0" lIns="0" spcFirstLastPara="1" rIns="0" wrap="square" tIns="85075">
            <a:spAutoFit/>
          </a:bodyPr>
          <a:lstStyle/>
          <a:p>
            <a:pPr indent="0" lvl="0" marL="0" marR="0" rtl="0" algn="l">
              <a:lnSpc>
                <a:spcPct val="178817"/>
              </a:lnSpc>
              <a:spcBef>
                <a:spcPts val="0"/>
              </a:spcBef>
              <a:spcAft>
                <a:spcPts val="0"/>
              </a:spcAft>
              <a:buClr>
                <a:srgbClr val="5A6069"/>
              </a:buClr>
              <a:buSzPts val="683"/>
              <a:buFont typeface="Calibri"/>
              <a:buNone/>
            </a:pPr>
            <a:r>
              <a:rPr b="1" i="0" lang="en-US" sz="683" u="none" cap="none" strike="noStrike">
                <a:solidFill>
                  <a:srgbClr val="5A6069"/>
                </a:solidFill>
                <a:latin typeface="Calibri"/>
                <a:ea typeface="Calibri"/>
                <a:cs typeface="Calibri"/>
                <a:sym typeface="Calibri"/>
              </a:rPr>
              <a:t>PQCleanAutomotive:</a:t>
            </a:r>
            <a:r>
              <a:rPr b="0" i="0" lang="en-US" sz="727" u="none" cap="none" strike="noStrike">
                <a:solidFill>
                  <a:srgbClr val="5A6069"/>
                </a:solidFill>
                <a:latin typeface="Calibri"/>
                <a:ea typeface="Calibri"/>
                <a:cs typeface="Calibri"/>
                <a:sym typeface="Calibri"/>
              </a:rPr>
              <a:t> Optimized PQC library for embedded automotive platforms.</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2026-02-17T08:03:45Z</dcterms:created>
  <dc:creator>PptxGenJS</dc:creator>
</cp:coreProperties>
</file>